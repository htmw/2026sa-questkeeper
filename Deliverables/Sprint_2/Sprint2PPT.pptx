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sldIdLst>
    <p:sldId id="256" r:id="rId5"/>
    <p:sldId id="257" r:id="rId6"/>
    <p:sldId id="259" r:id="rId7"/>
    <p:sldId id="303" r:id="rId8"/>
    <p:sldId id="281" r:id="rId9"/>
    <p:sldId id="267" r:id="rId10"/>
    <p:sldId id="263" r:id="rId11"/>
    <p:sldId id="270" r:id="rId12"/>
    <p:sldId id="275" r:id="rId13"/>
    <p:sldId id="274" r:id="rId14"/>
    <p:sldId id="290" r:id="rId15"/>
    <p:sldId id="291" r:id="rId16"/>
    <p:sldId id="260" r:id="rId17"/>
    <p:sldId id="289" r:id="rId18"/>
    <p:sldId id="272" r:id="rId19"/>
    <p:sldId id="273" r:id="rId20"/>
    <p:sldId id="261" r:id="rId21"/>
    <p:sldId id="278" r:id="rId22"/>
    <p:sldId id="282" r:id="rId23"/>
    <p:sldId id="302" r:id="rId24"/>
    <p:sldId id="284" r:id="rId25"/>
    <p:sldId id="292" r:id="rId26"/>
    <p:sldId id="285" r:id="rId27"/>
    <p:sldId id="296" r:id="rId28"/>
    <p:sldId id="293" r:id="rId29"/>
    <p:sldId id="297" r:id="rId30"/>
    <p:sldId id="304" r:id="rId31"/>
    <p:sldId id="294" r:id="rId32"/>
    <p:sldId id="305" r:id="rId33"/>
    <p:sldId id="288" r:id="rId34"/>
    <p:sldId id="307" r:id="rId35"/>
    <p:sldId id="279" r:id="rId36"/>
    <p:sldId id="306" r:id="rId37"/>
    <p:sldId id="283" r:id="rId38"/>
    <p:sldId id="269" r:id="rId39"/>
    <p:sldId id="280" r:id="rId40"/>
    <p:sldId id="268" r:id="rId41"/>
    <p:sldId id="265" r:id="rId42"/>
  </p:sldIdLst>
  <p:sldSz cx="18288000" cy="10287000"/>
  <p:notesSz cx="6858000" cy="9144000"/>
  <p:embeddedFontLst>
    <p:embeddedFont>
      <p:font typeface="Corbel" panose="020B0503020204020204" pitchFamily="34" charset="0"/>
      <p:regular r:id="rId43"/>
      <p:bold r:id="rId44"/>
      <p:italic r:id="rId45"/>
      <p:boldItalic r:id="rId46"/>
    </p:embeddedFont>
    <p:embeddedFont>
      <p:font typeface="Nirand Bold" panose="020B0604020202020204" charset="-34"/>
      <p:regular r:id="rId47"/>
    </p:embeddedFont>
    <p:embeddedFont>
      <p:font typeface="Nunito" pitchFamily="2" charset="0"/>
      <p:regular r:id="rId48"/>
      <p:bold r:id="rId49"/>
      <p:italic r:id="rId50"/>
      <p:boldItalic r:id="rId51"/>
    </p:embeddedFont>
    <p:embeddedFont>
      <p:font typeface="Nunito Bold" pitchFamily="2" charset="0"/>
      <p:regular r:id="rId52"/>
      <p:bold r:id="rId53"/>
    </p:embeddedFont>
    <p:embeddedFont>
      <p:font typeface="Wingdings 2" panose="05020102010507070707" pitchFamily="18" charset="2"/>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E1F5D4-D56F-5F94-9E42-D417B4081D7C}" name="Ivashchenko, Ms. Inna" initials="IM" userId="S::ii67947n@pace.edu::96f51c4f-7cc1-4ef3-a182-dbda989cfd4b" providerId="AD"/>
  <p188:author id="{C2D43FE3-3494-5725-524A-3C0F1F6D4834}" name="Piombino, Mr. Anthony" initials="PM" userId="S::ap08838n@pace.edu::803459aa-8360-4ba0-93ff-62d6580bcaa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9627"/>
    <a:srgbClr val="C0D1DF"/>
    <a:srgbClr val="6274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AB3CE6-ABAB-9DA9-73CC-1EDF51F00894}" v="435" dt="2026-04-12T23:39:18.873"/>
    <p1510:client id="{3564BF25-FB5D-F13C-A3E2-DA3F11554BE8}" v="39" dt="2026-04-12T22:18:02.382"/>
    <p1510:client id="{565B8F04-2F4F-D16C-E6FD-5C8882053DF4}" v="1" dt="2026-04-13T02:33:24.578"/>
    <p1510:client id="{69A84325-E8A8-D80B-D239-43766D93C584}" v="48" dt="2026-04-13T02:23:51.573"/>
    <p1510:client id="{B1AC37BA-54B8-3071-4F29-B6DCB553D5C6}" v="6" dt="2026-04-13T02:24:53.706"/>
    <p1510:client id="{C2AA6296-18F7-801B-8461-0538DEE7D806}" v="511" dt="2026-04-12T05:56:26.771"/>
    <p1510:client id="{E0AC898C-7C94-B11C-5CFB-BDAC4FAB57DD}" v="118" dt="2026-04-13T02:04:02.2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4.fntdata"/><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2.fntdata"/><Relationship Id="rId52" Type="http://schemas.openxmlformats.org/officeDocument/2006/relationships/font" Target="fonts/font10.fntdata"/><Relationship Id="rId60" Type="http://schemas.microsoft.com/office/2018/10/relationships/authors" Targe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1142999"/>
            <a:ext cx="13712429" cy="8001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905395" y="1142999"/>
            <a:ext cx="4387977" cy="800100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04772" y="1947672"/>
            <a:ext cx="10972800" cy="4882896"/>
          </a:xfrm>
        </p:spPr>
        <p:txBody>
          <a:bodyPr anchor="b">
            <a:normAutofit/>
          </a:bodyPr>
          <a:lstStyle>
            <a:lvl1pPr algn="l">
              <a:defRPr sz="10489" spc="-178"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650023" y="7005369"/>
            <a:ext cx="10972800" cy="1371600"/>
          </a:xfrm>
        </p:spPr>
        <p:txBody>
          <a:bodyPr anchor="t">
            <a:normAutofit/>
          </a:bodyPr>
          <a:lstStyle>
            <a:lvl1pPr marL="0" indent="0" algn="l">
              <a:buNone/>
              <a:defRPr sz="3911" cap="none" spc="0" baseline="0">
                <a:solidFill>
                  <a:schemeClr val="accent1">
                    <a:lumMod val="20000"/>
                    <a:lumOff val="80000"/>
                  </a:schemeClr>
                </a:solidFill>
              </a:defRPr>
            </a:lvl1pPr>
            <a:lvl2pPr marL="812810" indent="0" algn="ctr">
              <a:buNone/>
              <a:defRPr sz="3911"/>
            </a:lvl2pPr>
            <a:lvl3pPr marL="1625620" indent="0" algn="ctr">
              <a:buNone/>
              <a:defRPr sz="3911"/>
            </a:lvl3pPr>
            <a:lvl4pPr marL="2438430" indent="0" algn="ctr">
              <a:buNone/>
              <a:defRPr sz="3556"/>
            </a:lvl4pPr>
            <a:lvl5pPr marL="3251241" indent="0" algn="ctr">
              <a:buNone/>
              <a:defRPr sz="3556"/>
            </a:lvl5pPr>
            <a:lvl6pPr marL="4064051" indent="0" algn="ctr">
              <a:buNone/>
              <a:defRPr sz="3556"/>
            </a:lvl6pPr>
            <a:lvl7pPr marL="4876861" indent="0" algn="ctr">
              <a:buNone/>
              <a:defRPr sz="3556"/>
            </a:lvl7pPr>
            <a:lvl8pPr marL="5689671" indent="0" algn="ctr">
              <a:buNone/>
              <a:defRPr sz="3556"/>
            </a:lvl8pPr>
            <a:lvl9pPr marL="6502481" indent="0" algn="ctr">
              <a:buNone/>
              <a:defRPr sz="3556"/>
            </a:lvl9pPr>
          </a:lstStyle>
          <a:p>
            <a:r>
              <a:rPr lang="en-US"/>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901606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588368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801868" y="1947672"/>
            <a:ext cx="10972800" cy="4882896"/>
          </a:xfrm>
        </p:spPr>
        <p:txBody>
          <a:bodyPr anchor="b">
            <a:normAutofit/>
          </a:bodyPr>
          <a:lstStyle>
            <a:lvl1pPr>
              <a:defRPr sz="10489" b="0" spc="-178"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5829300" y="7008876"/>
            <a:ext cx="10972800" cy="1371600"/>
          </a:xfrm>
        </p:spPr>
        <p:txBody>
          <a:bodyPr anchor="t">
            <a:normAutofit/>
          </a:bodyPr>
          <a:lstStyle>
            <a:lvl1pPr marL="0" indent="0">
              <a:buNone/>
              <a:defRPr sz="3911" cap="none" spc="0" baseline="0">
                <a:solidFill>
                  <a:schemeClr val="tx1">
                    <a:lumMod val="65000"/>
                    <a:lumOff val="35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58066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801868" y="1303020"/>
            <a:ext cx="5212080" cy="768096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1727180" y="1303020"/>
            <a:ext cx="5212080" cy="768096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4/12/2026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12398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5801868" y="1535379"/>
            <a:ext cx="5212080" cy="1211580"/>
          </a:xfrm>
        </p:spPr>
        <p:txBody>
          <a:bodyPr anchor="b">
            <a:normAutofit/>
          </a:bodyPr>
          <a:lstStyle>
            <a:lvl1pPr marL="0" indent="0">
              <a:spcBef>
                <a:spcPts val="0"/>
              </a:spcBef>
              <a:buNone/>
              <a:defRPr sz="3556" b="1">
                <a:solidFill>
                  <a:schemeClr val="tx1">
                    <a:lumMod val="65000"/>
                    <a:lumOff val="35000"/>
                  </a:schemeClr>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4" name="Content Placeholder 3"/>
          <p:cNvSpPr>
            <a:spLocks noGrp="1"/>
          </p:cNvSpPr>
          <p:nvPr>
            <p:ph sz="half" idx="2"/>
          </p:nvPr>
        </p:nvSpPr>
        <p:spPr>
          <a:xfrm>
            <a:off x="5801868" y="2896404"/>
            <a:ext cx="5212080" cy="603504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1727695" y="1535380"/>
            <a:ext cx="5212080" cy="1219757"/>
          </a:xfrm>
        </p:spPr>
        <p:txBody>
          <a:bodyPr anchor="b">
            <a:normAutofit/>
          </a:bodyPr>
          <a:lstStyle>
            <a:lvl1pPr marL="0" indent="0">
              <a:spcBef>
                <a:spcPts val="0"/>
              </a:spcBef>
              <a:buNone/>
              <a:defRPr sz="3556" b="1">
                <a:solidFill>
                  <a:schemeClr val="tx1">
                    <a:lumMod val="65000"/>
                    <a:lumOff val="35000"/>
                  </a:schemeClr>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6" name="Content Placeholder 5"/>
          <p:cNvSpPr>
            <a:spLocks noGrp="1"/>
          </p:cNvSpPr>
          <p:nvPr>
            <p:ph sz="quarter" idx="4"/>
          </p:nvPr>
        </p:nvSpPr>
        <p:spPr>
          <a:xfrm>
            <a:off x="11727695" y="2896404"/>
            <a:ext cx="5212080" cy="603504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4/12/2026</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849470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4/12/2026</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60765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595385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4048" y="1714500"/>
            <a:ext cx="4251960" cy="3566160"/>
          </a:xfrm>
        </p:spPr>
        <p:txBody>
          <a:bodyPr anchor="b">
            <a:normAutofit/>
          </a:bodyPr>
          <a:lstStyle>
            <a:lvl1pPr>
              <a:defRPr sz="5689" b="0" baseline="0"/>
            </a:lvl1pPr>
          </a:lstStyle>
          <a:p>
            <a:r>
              <a:rPr lang="en-US"/>
              <a:t>Click to edit Master title style</a:t>
            </a:r>
          </a:p>
        </p:txBody>
      </p:sp>
      <p:sp>
        <p:nvSpPr>
          <p:cNvPr id="3" name="Content Placeholder 2"/>
          <p:cNvSpPr>
            <a:spLocks noGrp="1"/>
          </p:cNvSpPr>
          <p:nvPr>
            <p:ph idx="1"/>
          </p:nvPr>
        </p:nvSpPr>
        <p:spPr>
          <a:xfrm>
            <a:off x="5801868" y="1303020"/>
            <a:ext cx="10972800" cy="768096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4048" y="5241264"/>
            <a:ext cx="4251960" cy="3482985"/>
          </a:xfrm>
        </p:spPr>
        <p:txBody>
          <a:bodyPr anchor="t">
            <a:normAutofit/>
          </a:bodyPr>
          <a:lstStyle>
            <a:lvl1pPr marL="0" indent="0">
              <a:lnSpc>
                <a:spcPct val="100000"/>
              </a:lnSpc>
              <a:buNone/>
              <a:defRPr sz="2489">
                <a:solidFill>
                  <a:srgbClr val="FFFFFF"/>
                </a:solidFill>
              </a:defRPr>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4/12/2026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486603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4048" y="1714500"/>
            <a:ext cx="4251960" cy="3566160"/>
          </a:xfrm>
        </p:spPr>
        <p:txBody>
          <a:bodyPr anchor="b">
            <a:normAutofit/>
          </a:bodyPr>
          <a:lstStyle>
            <a:lvl1pPr>
              <a:defRPr sz="5689" b="0"/>
            </a:lvl1pPr>
          </a:lstStyle>
          <a:p>
            <a:r>
              <a:rPr lang="en-US"/>
              <a:t>Click to edit Master title style</a:t>
            </a:r>
          </a:p>
        </p:txBody>
      </p:sp>
      <p:sp>
        <p:nvSpPr>
          <p:cNvPr id="3" name="Picture Placeholder 2"/>
          <p:cNvSpPr>
            <a:spLocks noGrp="1" noChangeAspect="1"/>
          </p:cNvSpPr>
          <p:nvPr>
            <p:ph type="pic" idx="1"/>
          </p:nvPr>
        </p:nvSpPr>
        <p:spPr>
          <a:xfrm>
            <a:off x="5355966" y="1151129"/>
            <a:ext cx="12172845" cy="7996428"/>
          </a:xfrm>
          <a:solidFill>
            <a:schemeClr val="bg1">
              <a:lumMod val="75000"/>
            </a:schemeClr>
          </a:solidFill>
        </p:spPr>
        <p:txBody>
          <a:bodyPr anchor="t"/>
          <a:lstStyle>
            <a:lvl1pPr marL="0" indent="0">
              <a:buNone/>
              <a:defRPr sz="5689"/>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lang="en-US"/>
          </a:p>
        </p:txBody>
      </p:sp>
      <p:sp>
        <p:nvSpPr>
          <p:cNvPr id="4" name="Text Placeholder 3"/>
          <p:cNvSpPr>
            <a:spLocks noGrp="1"/>
          </p:cNvSpPr>
          <p:nvPr>
            <p:ph type="body" sz="half" idx="2"/>
          </p:nvPr>
        </p:nvSpPr>
        <p:spPr>
          <a:xfrm>
            <a:off x="384048" y="5239512"/>
            <a:ext cx="4251960" cy="3483864"/>
          </a:xfrm>
        </p:spPr>
        <p:txBody>
          <a:bodyPr anchor="t">
            <a:normAutofit/>
          </a:bodyPr>
          <a:lstStyle>
            <a:lvl1pPr marL="0" indent="0">
              <a:lnSpc>
                <a:spcPct val="100000"/>
              </a:lnSpc>
              <a:buNone/>
              <a:defRPr sz="2489">
                <a:solidFill>
                  <a:srgbClr val="FFFFFF"/>
                </a:solidFill>
              </a:defRPr>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4/12/2026</a:t>
            </a:fld>
            <a:endParaRPr lang="en-US"/>
          </a:p>
        </p:txBody>
      </p:sp>
      <p:sp>
        <p:nvSpPr>
          <p:cNvPr id="9" name="Footer Placeholder 8"/>
          <p:cNvSpPr>
            <a:spLocks noGrp="1"/>
          </p:cNvSpPr>
          <p:nvPr>
            <p:ph type="ftr" sz="quarter" idx="11"/>
          </p:nvPr>
        </p:nvSpPr>
        <p:spPr>
          <a:xfrm>
            <a:off x="5248652" y="9534526"/>
            <a:ext cx="8867276" cy="547688"/>
          </a:xfrm>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951346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019995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71500" y="1485900"/>
            <a:ext cx="4229100" cy="74295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801868" y="1303020"/>
            <a:ext cx="10972800" cy="768096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20363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1138428"/>
            <a:ext cx="5165385" cy="7996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379379" y="1685756"/>
            <a:ext cx="4421223" cy="6901775"/>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7723796" y="1138428"/>
            <a:ext cx="576072" cy="799642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5803902" y="1296162"/>
            <a:ext cx="10972800" cy="768096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93698" y="9534526"/>
            <a:ext cx="4114800" cy="547688"/>
          </a:xfrm>
          <a:prstGeom prst="rect">
            <a:avLst/>
          </a:prstGeom>
        </p:spPr>
        <p:txBody>
          <a:bodyPr vert="horz" lIns="91440" tIns="45720" rIns="91440" bIns="45720" rtlCol="0" anchor="ctr"/>
          <a:lstStyle>
            <a:lvl1pPr algn="l">
              <a:defRPr sz="1956">
                <a:solidFill>
                  <a:schemeClr val="tx1">
                    <a:lumMod val="50000"/>
                    <a:lumOff val="50000"/>
                  </a:schemeClr>
                </a:solidFill>
              </a:defRPr>
            </a:lvl1pPr>
          </a:lstStyle>
          <a:p>
            <a:fld id="{5586B75A-687E-405C-8A0B-8D00578BA2C3}" type="datetimeFigureOut">
              <a:rPr lang="en-US" dirty="0"/>
              <a:pPr/>
              <a:t>4/12/2026</a:t>
            </a:fld>
            <a:endParaRPr lang="en-US"/>
          </a:p>
        </p:txBody>
      </p:sp>
      <p:sp>
        <p:nvSpPr>
          <p:cNvPr id="5" name="Footer Placeholder 4"/>
          <p:cNvSpPr>
            <a:spLocks noGrp="1"/>
          </p:cNvSpPr>
          <p:nvPr>
            <p:ph type="ftr" sz="quarter" idx="3"/>
          </p:nvPr>
        </p:nvSpPr>
        <p:spPr>
          <a:xfrm>
            <a:off x="5803903" y="9534526"/>
            <a:ext cx="8867276" cy="547688"/>
          </a:xfrm>
          <a:prstGeom prst="rect">
            <a:avLst/>
          </a:prstGeom>
        </p:spPr>
        <p:txBody>
          <a:bodyPr vert="horz" lIns="91440" tIns="45720" rIns="91440" bIns="45720" rtlCol="0" anchor="ctr"/>
          <a:lstStyle>
            <a:lvl1pPr algn="l">
              <a:defRPr sz="1956">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5951203" y="9534526"/>
            <a:ext cx="2296391" cy="547688"/>
          </a:xfrm>
          <a:prstGeom prst="rect">
            <a:avLst/>
          </a:prstGeom>
        </p:spPr>
        <p:txBody>
          <a:bodyPr vert="horz" lIns="91440" tIns="45720" rIns="91440" bIns="45720" rtlCol="0" anchor="ctr"/>
          <a:lstStyle>
            <a:lvl1pPr algn="r">
              <a:defRPr sz="2133" b="1">
                <a:solidFill>
                  <a:schemeClr val="accent1"/>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55127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jpeg"/></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jhbrayman.itch.io/adaptive-arena" TargetMode="External"/><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hyperlink" Target="https://github.com/htmw/2026SA-%20QuestKeeper/wiki"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 name="Group 2">
            <a:extLst>
              <a:ext uri="{FF2B5EF4-FFF2-40B4-BE49-F238E27FC236}">
                <a16:creationId xmlns:a16="http://schemas.microsoft.com/office/drawing/2014/main" id="{46D749FA-1244-A2EC-3527-CE85392A3310}"/>
              </a:ext>
            </a:extLst>
          </p:cNvPr>
          <p:cNvGrpSpPr/>
          <p:nvPr/>
        </p:nvGrpSpPr>
        <p:grpSpPr>
          <a:xfrm>
            <a:off x="14389452" y="7404041"/>
            <a:ext cx="9561986" cy="8028675"/>
            <a:chOff x="-231428" y="-5786"/>
            <a:chExt cx="968028" cy="812800"/>
          </a:xfrm>
        </p:grpSpPr>
        <p:sp>
          <p:nvSpPr>
            <p:cNvPr id="15" name="Freeform 3">
              <a:extLst>
                <a:ext uri="{FF2B5EF4-FFF2-40B4-BE49-F238E27FC236}">
                  <a16:creationId xmlns:a16="http://schemas.microsoft.com/office/drawing/2014/main" id="{E6F14679-09D0-5A69-DFB8-9119813D40F7}"/>
                </a:ext>
              </a:extLst>
            </p:cNvPr>
            <p:cNvSpPr/>
            <p:nvPr/>
          </p:nvSpPr>
          <p:spPr>
            <a:xfrm>
              <a:off x="-231428" y="-5786"/>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16" name="TextBox 4">
              <a:extLst>
                <a:ext uri="{FF2B5EF4-FFF2-40B4-BE49-F238E27FC236}">
                  <a16:creationId xmlns:a16="http://schemas.microsoft.com/office/drawing/2014/main" id="{89093EA2-9522-1FA0-DA6B-2BB68D7B7E5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157767" y="6034445"/>
            <a:ext cx="8638620" cy="2020425"/>
          </a:xfrm>
          <a:prstGeom prst="rect">
            <a:avLst/>
          </a:prstGeom>
        </p:spPr>
        <p:txBody>
          <a:bodyPr wrap="square" lIns="0" tIns="0" rIns="0" bIns="0" rtlCol="0" anchor="t">
            <a:spAutoFit/>
          </a:bodyPr>
          <a:lstStyle/>
          <a:p>
            <a:pPr algn="ctr">
              <a:lnSpc>
                <a:spcPts val="17500"/>
              </a:lnSpc>
            </a:pPr>
            <a:r>
              <a:rPr lang="en-US" sz="9600" b="1">
                <a:solidFill>
                  <a:srgbClr val="627484"/>
                </a:solidFill>
                <a:latin typeface="Nirand Bold"/>
                <a:ea typeface="Nirand Bold"/>
                <a:cs typeface="Nirand Bold"/>
                <a:sym typeface="Nirand Bold"/>
              </a:rPr>
              <a:t>Sprint 2</a:t>
            </a:r>
            <a:endParaRPr lang="en-US" sz="9600"/>
          </a:p>
        </p:txBody>
      </p:sp>
      <p:grpSp>
        <p:nvGrpSpPr>
          <p:cNvPr id="7" name="Group 7"/>
          <p:cNvGrpSpPr/>
          <p:nvPr/>
        </p:nvGrpSpPr>
        <p:grpSpPr>
          <a:xfrm>
            <a:off x="16588155" y="-423511"/>
            <a:ext cx="3045748" cy="27702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AutoShape 10"/>
          <p:cNvSpPr/>
          <p:nvPr/>
        </p:nvSpPr>
        <p:spPr>
          <a:xfrm>
            <a:off x="-1700579" y="1028700"/>
            <a:ext cx="7733905" cy="0"/>
          </a:xfrm>
          <a:prstGeom prst="line">
            <a:avLst/>
          </a:prstGeom>
          <a:ln w="38100" cap="flat">
            <a:solidFill>
              <a:srgbClr val="2E3A44"/>
            </a:solidFill>
            <a:prstDash val="solid"/>
            <a:headEnd type="none" w="sm" len="sm"/>
            <a:tailEnd type="oval" w="lg" len="lg"/>
          </a:ln>
        </p:spPr>
        <p:txBody>
          <a:bodyPr/>
          <a:lstStyle/>
          <a:p>
            <a:endParaRPr lang="en-US"/>
          </a:p>
        </p:txBody>
      </p:sp>
      <p:sp>
        <p:nvSpPr>
          <p:cNvPr id="11" name="AutoShape 11"/>
          <p:cNvSpPr/>
          <p:nvPr/>
        </p:nvSpPr>
        <p:spPr>
          <a:xfrm>
            <a:off x="11230885" y="9258300"/>
            <a:ext cx="7770392" cy="0"/>
          </a:xfrm>
          <a:prstGeom prst="line">
            <a:avLst/>
          </a:prstGeom>
          <a:ln w="38100" cap="flat">
            <a:solidFill>
              <a:srgbClr val="2E3A44"/>
            </a:solidFill>
            <a:prstDash val="solid"/>
            <a:headEnd type="oval" w="lg" len="lg"/>
            <a:tailEnd type="none" w="sm" len="sm"/>
          </a:ln>
        </p:spPr>
        <p:txBody>
          <a:bodyPr/>
          <a:lstStyle/>
          <a:p>
            <a:endParaRPr lang="en-US"/>
          </a:p>
        </p:txBody>
      </p:sp>
      <p:grpSp>
        <p:nvGrpSpPr>
          <p:cNvPr id="12" name="Group 12"/>
          <p:cNvGrpSpPr/>
          <p:nvPr/>
        </p:nvGrpSpPr>
        <p:grpSpPr>
          <a:xfrm>
            <a:off x="15116811" y="-635977"/>
            <a:ext cx="1586288" cy="158628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4">
            <a:extLst>
              <a:ext uri="{FF2B5EF4-FFF2-40B4-BE49-F238E27FC236}">
                <a16:creationId xmlns:a16="http://schemas.microsoft.com/office/drawing/2014/main" id="{C5F6BCE7-2023-6CF4-38C8-BCD2190A3A7B}"/>
              </a:ext>
            </a:extLst>
          </p:cNvPr>
          <p:cNvSpPr txBox="1"/>
          <p:nvPr/>
        </p:nvSpPr>
        <p:spPr>
          <a:xfrm>
            <a:off x="-412319" y="1654580"/>
            <a:ext cx="9476974" cy="10023723"/>
          </a:xfrm>
          <a:prstGeom prst="rect">
            <a:avLst/>
          </a:prstGeom>
        </p:spPr>
        <p:txBody>
          <a:bodyPr lIns="50800" tIns="50800" rIns="50800" bIns="50800" rtlCol="0" anchor="ctr"/>
          <a:lstStyle/>
          <a:p>
            <a:pPr algn="ctr">
              <a:lnSpc>
                <a:spcPts val="2659"/>
              </a:lnSpc>
              <a:spcBef>
                <a:spcPct val="0"/>
              </a:spcBef>
            </a:pPr>
            <a:endParaRPr/>
          </a:p>
        </p:txBody>
      </p:sp>
      <p:sp>
        <p:nvSpPr>
          <p:cNvPr id="3" name="TextBox 5">
            <a:extLst>
              <a:ext uri="{FF2B5EF4-FFF2-40B4-BE49-F238E27FC236}">
                <a16:creationId xmlns:a16="http://schemas.microsoft.com/office/drawing/2014/main" id="{B853E554-A2AE-8533-4602-BC5D8BBA9F33}"/>
              </a:ext>
            </a:extLst>
          </p:cNvPr>
          <p:cNvSpPr txBox="1"/>
          <p:nvPr/>
        </p:nvSpPr>
        <p:spPr>
          <a:xfrm>
            <a:off x="5157767" y="1659514"/>
            <a:ext cx="8638620" cy="4366516"/>
          </a:xfrm>
          <a:prstGeom prst="rect">
            <a:avLst/>
          </a:prstGeom>
        </p:spPr>
        <p:txBody>
          <a:bodyPr wrap="square" lIns="0" tIns="0" rIns="0" bIns="0" rtlCol="0" anchor="t">
            <a:spAutoFit/>
          </a:bodyPr>
          <a:lstStyle/>
          <a:p>
            <a:pPr algn="ctr">
              <a:lnSpc>
                <a:spcPts val="17500"/>
              </a:lnSpc>
            </a:pPr>
            <a:r>
              <a:rPr lang="en-US" sz="12500" b="1">
                <a:solidFill>
                  <a:srgbClr val="627484"/>
                </a:solidFill>
                <a:latin typeface="Nirand Bold"/>
                <a:cs typeface="Nirand Bold"/>
                <a:sym typeface="Nirand Bold"/>
              </a:rPr>
              <a:t>Adaptive Arena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27946" y="7090348"/>
            <a:ext cx="2569421" cy="219248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5834183" y="8017466"/>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334507" y="-5303"/>
            <a:ext cx="8807832" cy="1276247"/>
          </a:xfrm>
          <a:prstGeom prst="rect">
            <a:avLst/>
          </a:prstGeom>
        </p:spPr>
        <p:txBody>
          <a:bodyPr lIns="0" tIns="0" rIns="0" bIns="0" rtlCol="0" anchor="t">
            <a:spAutoFit/>
          </a:bodyPr>
          <a:lstStyle/>
          <a:p>
            <a:pPr>
              <a:lnSpc>
                <a:spcPts val="10500"/>
              </a:lnSpc>
            </a:pPr>
            <a:r>
              <a:rPr lang="en-US" sz="7500" b="1">
                <a:solidFill>
                  <a:srgbClr val="2E3A44"/>
                </a:solidFill>
                <a:latin typeface="Nirand Bold"/>
                <a:ea typeface="Nirand Bold"/>
                <a:cs typeface="Nirand Bold"/>
                <a:sym typeface="Nirand Bold"/>
              </a:rPr>
              <a:t>Meet The Team</a:t>
            </a:r>
            <a:endParaRPr lang="en-US"/>
          </a:p>
        </p:txBody>
      </p:sp>
      <p:sp>
        <p:nvSpPr>
          <p:cNvPr id="15" name="TextBox 15"/>
          <p:cNvSpPr txBox="1"/>
          <p:nvPr/>
        </p:nvSpPr>
        <p:spPr>
          <a:xfrm>
            <a:off x="7488378" y="4567353"/>
            <a:ext cx="3477832" cy="646331"/>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Shariah Allen</a:t>
            </a:r>
          </a:p>
        </p:txBody>
      </p:sp>
      <p:sp>
        <p:nvSpPr>
          <p:cNvPr id="18" name="TextBox 18"/>
          <p:cNvSpPr txBox="1"/>
          <p:nvPr/>
        </p:nvSpPr>
        <p:spPr>
          <a:xfrm>
            <a:off x="-146543" y="4561215"/>
            <a:ext cx="3937903" cy="661720"/>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Inna Ivashchenko</a:t>
            </a:r>
          </a:p>
        </p:txBody>
      </p:sp>
      <p:sp>
        <p:nvSpPr>
          <p:cNvPr id="21" name="TextBox 21"/>
          <p:cNvSpPr txBox="1"/>
          <p:nvPr/>
        </p:nvSpPr>
        <p:spPr>
          <a:xfrm>
            <a:off x="7154449" y="9050562"/>
            <a:ext cx="3937903" cy="646331"/>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Gabrielle Schwan</a:t>
            </a:r>
          </a:p>
        </p:txBody>
      </p:sp>
      <p:sp>
        <p:nvSpPr>
          <p:cNvPr id="24" name="TextBox 24"/>
          <p:cNvSpPr txBox="1"/>
          <p:nvPr/>
        </p:nvSpPr>
        <p:spPr>
          <a:xfrm>
            <a:off x="3627475" y="4555774"/>
            <a:ext cx="3937903" cy="661720"/>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Johnhenry Brayman</a:t>
            </a:r>
          </a:p>
        </p:txBody>
      </p:sp>
      <p:sp>
        <p:nvSpPr>
          <p:cNvPr id="43" name="TextBox 24">
            <a:extLst>
              <a:ext uri="{FF2B5EF4-FFF2-40B4-BE49-F238E27FC236}">
                <a16:creationId xmlns:a16="http://schemas.microsoft.com/office/drawing/2014/main" id="{43C53F06-94EA-8F13-7E20-020A2610D5AF}"/>
              </a:ext>
            </a:extLst>
          </p:cNvPr>
          <p:cNvSpPr txBox="1"/>
          <p:nvPr/>
        </p:nvSpPr>
        <p:spPr>
          <a:xfrm>
            <a:off x="3793799" y="8956613"/>
            <a:ext cx="2967055" cy="646331"/>
          </a:xfrm>
          <a:prstGeom prst="rect">
            <a:avLst/>
          </a:prstGeom>
        </p:spPr>
        <p:txBody>
          <a:bodyPr wrap="square" lIns="0" tIns="0" rIns="0" bIns="0" rtlCol="0" anchor="t">
            <a:spAutoFit/>
          </a:bodyPr>
          <a:lstStyle/>
          <a:p>
            <a:pPr algn="ctr">
              <a:lnSpc>
                <a:spcPts val="5599"/>
              </a:lnSpc>
            </a:pPr>
            <a:r>
              <a:rPr lang="en-US" sz="2800">
                <a:solidFill>
                  <a:srgbClr val="2E3A44"/>
                </a:solidFill>
                <a:latin typeface="Nunito"/>
                <a:ea typeface="Nunito"/>
                <a:cs typeface="Nunito"/>
                <a:sym typeface="Nunito"/>
              </a:rPr>
              <a:t>Anthony Piombino</a:t>
            </a:r>
          </a:p>
        </p:txBody>
      </p:sp>
      <p:sp>
        <p:nvSpPr>
          <p:cNvPr id="17" name="TextBox 24">
            <a:extLst>
              <a:ext uri="{FF2B5EF4-FFF2-40B4-BE49-F238E27FC236}">
                <a16:creationId xmlns:a16="http://schemas.microsoft.com/office/drawing/2014/main" id="{69228922-54D7-E72F-506B-7D0D1EF9C5AB}"/>
              </a:ext>
            </a:extLst>
          </p:cNvPr>
          <p:cNvSpPr txBox="1"/>
          <p:nvPr/>
        </p:nvSpPr>
        <p:spPr>
          <a:xfrm>
            <a:off x="3466117" y="9601380"/>
            <a:ext cx="3729055" cy="307777"/>
          </a:xfrm>
          <a:prstGeom prst="rect">
            <a:avLst/>
          </a:prstGeom>
        </p:spPr>
        <p:txBody>
          <a:bodyPr wrap="square" lIns="0" tIns="0" rIns="0" bIns="0" rtlCol="0" anchor="t">
            <a:spAutoFit/>
          </a:bodyPr>
          <a:lstStyle/>
          <a:p>
            <a:pPr algn="ctr"/>
            <a:r>
              <a:rPr lang="en-US" sz="2000">
                <a:solidFill>
                  <a:srgbClr val="2E3A44"/>
                </a:solidFill>
                <a:latin typeface="Nunito"/>
                <a:ea typeface="Nunito"/>
                <a:cs typeface="Nunito"/>
              </a:rPr>
              <a:t>Project Manager / QA Engineer</a:t>
            </a:r>
            <a:endParaRPr lang="en-US" sz="2000"/>
          </a:p>
        </p:txBody>
      </p:sp>
      <p:pic>
        <p:nvPicPr>
          <p:cNvPr id="19" name="Picture 18" descr="A person with long hair wearing glasses&#10;&#10;AI-generated content may be incorrect.">
            <a:extLst>
              <a:ext uri="{FF2B5EF4-FFF2-40B4-BE49-F238E27FC236}">
                <a16:creationId xmlns:a16="http://schemas.microsoft.com/office/drawing/2014/main" id="{86213ECD-0983-9541-F537-C10A59A0DCA7}"/>
              </a:ext>
            </a:extLst>
          </p:cNvPr>
          <p:cNvPicPr>
            <a:picLocks noChangeAspect="1"/>
          </p:cNvPicPr>
          <p:nvPr/>
        </p:nvPicPr>
        <p:blipFill>
          <a:blip r:embed="rId2"/>
          <a:stretch>
            <a:fillRect/>
          </a:stretch>
        </p:blipFill>
        <p:spPr>
          <a:xfrm>
            <a:off x="275178" y="1420624"/>
            <a:ext cx="3087653" cy="3128084"/>
          </a:xfrm>
          <a:prstGeom prst="rect">
            <a:avLst/>
          </a:prstGeom>
        </p:spPr>
      </p:pic>
      <p:sp>
        <p:nvSpPr>
          <p:cNvPr id="20" name="TextBox 24">
            <a:extLst>
              <a:ext uri="{FF2B5EF4-FFF2-40B4-BE49-F238E27FC236}">
                <a16:creationId xmlns:a16="http://schemas.microsoft.com/office/drawing/2014/main" id="{011E45C0-3C14-3223-5D38-7A95F91A5AC8}"/>
              </a:ext>
            </a:extLst>
          </p:cNvPr>
          <p:cNvSpPr txBox="1"/>
          <p:nvPr/>
        </p:nvSpPr>
        <p:spPr>
          <a:xfrm>
            <a:off x="74470" y="5149057"/>
            <a:ext cx="3590209" cy="307777"/>
          </a:xfrm>
          <a:prstGeom prst="rect">
            <a:avLst/>
          </a:prstGeom>
        </p:spPr>
        <p:txBody>
          <a:bodyPr wrap="square" lIns="0" tIns="0" rIns="0" bIns="0" rtlCol="0" anchor="t">
            <a:spAutoFit/>
          </a:bodyPr>
          <a:lstStyle/>
          <a:p>
            <a:pPr algn="ctr"/>
            <a:r>
              <a:rPr lang="en-US" sz="2000">
                <a:solidFill>
                  <a:srgbClr val="2E3A44"/>
                </a:solidFill>
                <a:latin typeface="Nunito"/>
                <a:ea typeface="Nunito"/>
                <a:cs typeface="Nunito"/>
              </a:rPr>
              <a:t>Project Manager / Developer</a:t>
            </a:r>
            <a:endParaRPr lang="en-US" sz="2000"/>
          </a:p>
        </p:txBody>
      </p:sp>
      <p:sp>
        <p:nvSpPr>
          <p:cNvPr id="22" name="TextBox 24">
            <a:extLst>
              <a:ext uri="{FF2B5EF4-FFF2-40B4-BE49-F238E27FC236}">
                <a16:creationId xmlns:a16="http://schemas.microsoft.com/office/drawing/2014/main" id="{7CBC2C4B-9795-3CC7-B95E-2A6CF87DD8F0}"/>
              </a:ext>
            </a:extLst>
          </p:cNvPr>
          <p:cNvSpPr txBox="1"/>
          <p:nvPr/>
        </p:nvSpPr>
        <p:spPr>
          <a:xfrm>
            <a:off x="3836540" y="5141675"/>
            <a:ext cx="3318747" cy="307777"/>
          </a:xfrm>
          <a:prstGeom prst="rect">
            <a:avLst/>
          </a:prstGeom>
        </p:spPr>
        <p:txBody>
          <a:bodyPr wrap="square" lIns="0" tIns="0" rIns="0" bIns="0" rtlCol="0" anchor="t">
            <a:spAutoFit/>
          </a:bodyPr>
          <a:lstStyle/>
          <a:p>
            <a:pPr algn="ctr"/>
            <a:r>
              <a:rPr lang="en-US" sz="2000">
                <a:solidFill>
                  <a:srgbClr val="2E3A44"/>
                </a:solidFill>
                <a:latin typeface="Nunito"/>
              </a:rPr>
              <a:t>Lead Game Developer</a:t>
            </a:r>
            <a:endParaRPr lang="en-US" sz="2000">
              <a:latin typeface="Nunito"/>
            </a:endParaRPr>
          </a:p>
        </p:txBody>
      </p:sp>
      <p:sp>
        <p:nvSpPr>
          <p:cNvPr id="23" name="TextBox 24">
            <a:extLst>
              <a:ext uri="{FF2B5EF4-FFF2-40B4-BE49-F238E27FC236}">
                <a16:creationId xmlns:a16="http://schemas.microsoft.com/office/drawing/2014/main" id="{7D23995F-CDB1-3036-47B2-BC1665D609EC}"/>
              </a:ext>
            </a:extLst>
          </p:cNvPr>
          <p:cNvSpPr txBox="1"/>
          <p:nvPr/>
        </p:nvSpPr>
        <p:spPr>
          <a:xfrm>
            <a:off x="7484446" y="5142750"/>
            <a:ext cx="3490197" cy="307777"/>
          </a:xfrm>
          <a:prstGeom prst="rect">
            <a:avLst/>
          </a:prstGeom>
        </p:spPr>
        <p:txBody>
          <a:bodyPr wrap="square" lIns="0" tIns="0" rIns="0" bIns="0" rtlCol="0" anchor="t">
            <a:spAutoFit/>
          </a:bodyPr>
          <a:lstStyle/>
          <a:p>
            <a:pPr algn="ctr"/>
            <a:r>
              <a:rPr lang="en-US" sz="2000">
                <a:solidFill>
                  <a:srgbClr val="2E3A44"/>
                </a:solidFill>
                <a:latin typeface="Nunito"/>
              </a:rPr>
              <a:t>Game Developer / AI Engineer</a:t>
            </a:r>
            <a:endParaRPr lang="en-US" sz="2000">
              <a:latin typeface="Nunito"/>
            </a:endParaRPr>
          </a:p>
        </p:txBody>
      </p:sp>
      <p:pic>
        <p:nvPicPr>
          <p:cNvPr id="14" name="Picture 13" descr="A person taking a selfie&#10;&#10;AI-generated content may be incorrect.">
            <a:extLst>
              <a:ext uri="{FF2B5EF4-FFF2-40B4-BE49-F238E27FC236}">
                <a16:creationId xmlns:a16="http://schemas.microsoft.com/office/drawing/2014/main" id="{DB24AC70-A5D9-6852-04B2-AEB38E4463C8}"/>
              </a:ext>
            </a:extLst>
          </p:cNvPr>
          <p:cNvPicPr>
            <a:picLocks noChangeAspect="1"/>
          </p:cNvPicPr>
          <p:nvPr/>
        </p:nvPicPr>
        <p:blipFill>
          <a:blip r:embed="rId3"/>
          <a:srcRect l="4693" r="12595" b="-500"/>
          <a:stretch>
            <a:fillRect/>
          </a:stretch>
        </p:blipFill>
        <p:spPr>
          <a:xfrm>
            <a:off x="7430910" y="1427507"/>
            <a:ext cx="3090708" cy="3132957"/>
          </a:xfrm>
          <a:prstGeom prst="rect">
            <a:avLst/>
          </a:prstGeom>
        </p:spPr>
      </p:pic>
      <p:pic>
        <p:nvPicPr>
          <p:cNvPr id="16" name="Picture 15" descr="A person in a black jacket and beanie standing in front of a building&#10;&#10;AI-generated content may be incorrect.">
            <a:extLst>
              <a:ext uri="{FF2B5EF4-FFF2-40B4-BE49-F238E27FC236}">
                <a16:creationId xmlns:a16="http://schemas.microsoft.com/office/drawing/2014/main" id="{230016D9-8DAA-C07D-483D-303FDE7F02E4}"/>
              </a:ext>
            </a:extLst>
          </p:cNvPr>
          <p:cNvPicPr>
            <a:picLocks noChangeAspect="1"/>
          </p:cNvPicPr>
          <p:nvPr/>
        </p:nvPicPr>
        <p:blipFill>
          <a:blip r:embed="rId4"/>
          <a:srcRect l="11796" t="26695" r="-268" b="24444"/>
          <a:stretch>
            <a:fillRect/>
          </a:stretch>
        </p:blipFill>
        <p:spPr>
          <a:xfrm>
            <a:off x="3876914" y="1429446"/>
            <a:ext cx="3088518" cy="3123117"/>
          </a:xfrm>
          <a:prstGeom prst="rect">
            <a:avLst/>
          </a:prstGeom>
        </p:spPr>
      </p:pic>
      <p:pic>
        <p:nvPicPr>
          <p:cNvPr id="13" name="Picture 12" descr="A person taking a selfie&#10;&#10;AI-generated content may be incorrect.">
            <a:extLst>
              <a:ext uri="{FF2B5EF4-FFF2-40B4-BE49-F238E27FC236}">
                <a16:creationId xmlns:a16="http://schemas.microsoft.com/office/drawing/2014/main" id="{2FB49CD8-6301-DC80-4AE5-EFAF3D8BC900}"/>
              </a:ext>
            </a:extLst>
          </p:cNvPr>
          <p:cNvPicPr>
            <a:picLocks noChangeAspect="1"/>
          </p:cNvPicPr>
          <p:nvPr/>
        </p:nvPicPr>
        <p:blipFill>
          <a:blip r:embed="rId5"/>
          <a:srcRect t="19444" b="20833"/>
          <a:stretch>
            <a:fillRect/>
          </a:stretch>
        </p:blipFill>
        <p:spPr>
          <a:xfrm>
            <a:off x="3841758" y="5831853"/>
            <a:ext cx="2979996" cy="3126039"/>
          </a:xfrm>
          <a:prstGeom prst="rect">
            <a:avLst/>
          </a:prstGeom>
        </p:spPr>
      </p:pic>
      <p:sp>
        <p:nvSpPr>
          <p:cNvPr id="25" name="TextBox 24">
            <a:extLst>
              <a:ext uri="{FF2B5EF4-FFF2-40B4-BE49-F238E27FC236}">
                <a16:creationId xmlns:a16="http://schemas.microsoft.com/office/drawing/2014/main" id="{CEC134CD-40C2-7511-8770-B3FFF30D2E9E}"/>
              </a:ext>
            </a:extLst>
          </p:cNvPr>
          <p:cNvSpPr txBox="1"/>
          <p:nvPr/>
        </p:nvSpPr>
        <p:spPr>
          <a:xfrm>
            <a:off x="7428085" y="9623159"/>
            <a:ext cx="3318747" cy="307777"/>
          </a:xfrm>
          <a:prstGeom prst="rect">
            <a:avLst/>
          </a:prstGeom>
        </p:spPr>
        <p:txBody>
          <a:bodyPr wrap="square" lIns="0" tIns="0" rIns="0" bIns="0" rtlCol="0" anchor="t">
            <a:spAutoFit/>
          </a:bodyPr>
          <a:lstStyle/>
          <a:p>
            <a:pPr algn="ctr"/>
            <a:r>
              <a:rPr lang="en-US" sz="2000">
                <a:solidFill>
                  <a:srgbClr val="2E3A44"/>
                </a:solidFill>
                <a:latin typeface="Nunito"/>
              </a:rPr>
              <a:t>UI/UX Developer</a:t>
            </a:r>
            <a:endParaRPr lang="en-US" sz="2000"/>
          </a:p>
        </p:txBody>
      </p:sp>
      <p:pic>
        <p:nvPicPr>
          <p:cNvPr id="26" name="Picture 25" descr="A person with red hair wearing a black jacket&#10;&#10;AI-generated content may be incorrect.">
            <a:extLst>
              <a:ext uri="{FF2B5EF4-FFF2-40B4-BE49-F238E27FC236}">
                <a16:creationId xmlns:a16="http://schemas.microsoft.com/office/drawing/2014/main" id="{BEE044C9-766A-96BB-D307-7E182C1210C3}"/>
              </a:ext>
            </a:extLst>
          </p:cNvPr>
          <p:cNvPicPr>
            <a:picLocks noChangeAspect="1"/>
          </p:cNvPicPr>
          <p:nvPr/>
        </p:nvPicPr>
        <p:blipFill>
          <a:blip r:embed="rId6"/>
          <a:stretch>
            <a:fillRect/>
          </a:stretch>
        </p:blipFill>
        <p:spPr>
          <a:xfrm>
            <a:off x="7867373" y="5930125"/>
            <a:ext cx="2487647" cy="3125546"/>
          </a:xfrm>
          <a:prstGeom prst="rect">
            <a:avLst/>
          </a:prstGeom>
        </p:spPr>
      </p:pic>
      <p:pic>
        <p:nvPicPr>
          <p:cNvPr id="28" name="Picture 27" descr="A logo with swords and shield&#10;&#10;AI-generated content may be incorrect.">
            <a:extLst>
              <a:ext uri="{FF2B5EF4-FFF2-40B4-BE49-F238E27FC236}">
                <a16:creationId xmlns:a16="http://schemas.microsoft.com/office/drawing/2014/main" id="{5AC348A4-DEFA-6AE4-FA18-65055C888A17}"/>
              </a:ext>
            </a:extLst>
          </p:cNvPr>
          <p:cNvPicPr>
            <a:picLocks noChangeAspect="1"/>
          </p:cNvPicPr>
          <p:nvPr/>
        </p:nvPicPr>
        <p:blipFill>
          <a:blip r:embed="rId7"/>
          <a:srcRect l="12592" r="12884" b="4505"/>
          <a:stretch>
            <a:fillRect/>
          </a:stretch>
        </p:blipFill>
        <p:spPr>
          <a:xfrm>
            <a:off x="11277764" y="-154700"/>
            <a:ext cx="6138930" cy="5177659"/>
          </a:xfrm>
          <a:prstGeom prst="rect">
            <a:avLst/>
          </a:prstGeom>
        </p:spPr>
      </p:pic>
      <p:pic>
        <p:nvPicPr>
          <p:cNvPr id="2" name="Picture 1" descr="A person in a blue shirt&#10;&#10;AI-generated content may be incorrect.">
            <a:extLst>
              <a:ext uri="{FF2B5EF4-FFF2-40B4-BE49-F238E27FC236}">
                <a16:creationId xmlns:a16="http://schemas.microsoft.com/office/drawing/2014/main" id="{9AA6AE30-B942-B69A-636E-A6B28B3857FD}"/>
              </a:ext>
            </a:extLst>
          </p:cNvPr>
          <p:cNvPicPr>
            <a:picLocks noChangeAspect="1"/>
          </p:cNvPicPr>
          <p:nvPr/>
        </p:nvPicPr>
        <p:blipFill>
          <a:blip r:embed="rId8"/>
          <a:stretch>
            <a:fillRect/>
          </a:stretch>
        </p:blipFill>
        <p:spPr>
          <a:xfrm>
            <a:off x="11565416" y="5926157"/>
            <a:ext cx="3075542" cy="3116855"/>
          </a:xfrm>
          <a:prstGeom prst="rect">
            <a:avLst/>
          </a:prstGeom>
        </p:spPr>
      </p:pic>
      <p:sp>
        <p:nvSpPr>
          <p:cNvPr id="3" name="TextBox 21">
            <a:extLst>
              <a:ext uri="{FF2B5EF4-FFF2-40B4-BE49-F238E27FC236}">
                <a16:creationId xmlns:a16="http://schemas.microsoft.com/office/drawing/2014/main" id="{ECF6E691-AF13-20A1-8E36-87EEDB0C6D06}"/>
              </a:ext>
            </a:extLst>
          </p:cNvPr>
          <p:cNvSpPr txBox="1"/>
          <p:nvPr/>
        </p:nvSpPr>
        <p:spPr>
          <a:xfrm>
            <a:off x="11272002" y="9050561"/>
            <a:ext cx="3937903" cy="646331"/>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Henry Wong</a:t>
            </a:r>
          </a:p>
        </p:txBody>
      </p:sp>
      <p:sp>
        <p:nvSpPr>
          <p:cNvPr id="4" name="TextBox 3">
            <a:extLst>
              <a:ext uri="{FF2B5EF4-FFF2-40B4-BE49-F238E27FC236}">
                <a16:creationId xmlns:a16="http://schemas.microsoft.com/office/drawing/2014/main" id="{EEC60918-5253-784E-5DBA-10F2C2DFF341}"/>
              </a:ext>
            </a:extLst>
          </p:cNvPr>
          <p:cNvSpPr txBox="1"/>
          <p:nvPr/>
        </p:nvSpPr>
        <p:spPr>
          <a:xfrm>
            <a:off x="11435469" y="9623158"/>
            <a:ext cx="3318747" cy="307777"/>
          </a:xfrm>
          <a:prstGeom prst="rect">
            <a:avLst/>
          </a:prstGeom>
        </p:spPr>
        <p:txBody>
          <a:bodyPr wrap="square" lIns="0" tIns="0" rIns="0" bIns="0" rtlCol="0" anchor="t">
            <a:spAutoFit/>
          </a:bodyPr>
          <a:lstStyle/>
          <a:p>
            <a:pPr algn="ctr"/>
            <a:r>
              <a:rPr lang="en-US" sz="2000">
                <a:solidFill>
                  <a:srgbClr val="2E3A44"/>
                </a:solidFill>
                <a:latin typeface="Nunito"/>
              </a:rPr>
              <a:t>AL/ML Advisor / Consultant</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diagram&#10;&#10;AI-generated content may be incorrect.">
            <a:extLst>
              <a:ext uri="{FF2B5EF4-FFF2-40B4-BE49-F238E27FC236}">
                <a16:creationId xmlns:a16="http://schemas.microsoft.com/office/drawing/2014/main" id="{5891740E-FCF7-2FDE-AB72-995D07D28E36}"/>
              </a:ext>
            </a:extLst>
          </p:cNvPr>
          <p:cNvPicPr>
            <a:picLocks noChangeAspect="1"/>
          </p:cNvPicPr>
          <p:nvPr/>
        </p:nvPicPr>
        <p:blipFill>
          <a:blip r:embed="rId2"/>
          <a:srcRect l="3524" t="29" r="370" b="2088"/>
          <a:stretch>
            <a:fillRect/>
          </a:stretch>
        </p:blipFill>
        <p:spPr>
          <a:xfrm>
            <a:off x="604534" y="1004538"/>
            <a:ext cx="2214346" cy="7010670"/>
          </a:xfrm>
          <a:prstGeom prst="rect">
            <a:avLst/>
          </a:prstGeom>
        </p:spPr>
      </p:pic>
      <p:grpSp>
        <p:nvGrpSpPr>
          <p:cNvPr id="2" name="Group 2"/>
          <p:cNvGrpSpPr/>
          <p:nvPr/>
        </p:nvGrpSpPr>
        <p:grpSpPr>
          <a:xfrm>
            <a:off x="12417448" y="7372841"/>
            <a:ext cx="8028675" cy="802867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6" name="Group 6"/>
          <p:cNvGrpSpPr/>
          <p:nvPr/>
        </p:nvGrpSpPr>
        <p:grpSpPr>
          <a:xfrm>
            <a:off x="322039" y="-1115181"/>
            <a:ext cx="2230365" cy="223036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1245422" y="3867254"/>
            <a:ext cx="4572000"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Nirand Bold"/>
                <a:cs typeface="Nirand Bold"/>
                <a:sym typeface="Nirand Bold"/>
              </a:rPr>
              <a:t>Agenda</a:t>
            </a:r>
          </a:p>
        </p:txBody>
      </p:sp>
      <p:sp>
        <p:nvSpPr>
          <p:cNvPr id="14" name="TextBox 14"/>
          <p:cNvSpPr txBox="1"/>
          <p:nvPr/>
        </p:nvSpPr>
        <p:spPr>
          <a:xfrm>
            <a:off x="2971835" y="1468755"/>
            <a:ext cx="11248221" cy="6435736"/>
          </a:xfrm>
          <a:prstGeom prst="rect">
            <a:avLst/>
          </a:prstGeom>
        </p:spPr>
        <p:txBody>
          <a:bodyPr wrap="square" lIns="0" tIns="0" rIns="0" bIns="0" rtlCol="0" anchor="t">
            <a:spAutoFit/>
          </a:bodyPr>
          <a:lstStyle/>
          <a:p>
            <a:pPr>
              <a:lnSpc>
                <a:spcPts val="5599"/>
              </a:lnSpc>
            </a:pPr>
            <a:r>
              <a:rPr lang="en-US" sz="3950" b="1">
                <a:solidFill>
                  <a:srgbClr val="2E3A44"/>
                </a:solidFill>
                <a:latin typeface="Nunito Bold"/>
                <a:sym typeface="Nunito Bold"/>
              </a:rPr>
              <a:t>Recap sprint 1 / discuss improvements made</a:t>
            </a:r>
            <a:endParaRPr lang="en-US"/>
          </a:p>
          <a:p>
            <a:pPr>
              <a:lnSpc>
                <a:spcPts val="5599"/>
              </a:lnSpc>
            </a:pPr>
            <a:r>
              <a:rPr lang="en-US" sz="4000" b="1">
                <a:solidFill>
                  <a:srgbClr val="2E3A44"/>
                </a:solidFill>
                <a:latin typeface="Nunito Bold"/>
              </a:rPr>
              <a:t>Project Description</a:t>
            </a:r>
            <a:endParaRPr lang="en-US"/>
          </a:p>
          <a:p>
            <a:pPr>
              <a:lnSpc>
                <a:spcPts val="5599"/>
              </a:lnSpc>
            </a:pPr>
            <a:r>
              <a:rPr lang="en-US" sz="3950" b="1">
                <a:solidFill>
                  <a:srgbClr val="2E3A44"/>
                </a:solidFill>
                <a:latin typeface="Nunito Bold"/>
                <a:ea typeface="Nunito Bold"/>
                <a:cs typeface="Nunito Bold"/>
              </a:rPr>
              <a:t>Team Working Agreement</a:t>
            </a:r>
          </a:p>
          <a:p>
            <a:pPr>
              <a:lnSpc>
                <a:spcPts val="5599"/>
              </a:lnSpc>
            </a:pPr>
            <a:r>
              <a:rPr lang="en-US" sz="3950" b="1">
                <a:solidFill>
                  <a:srgbClr val="2E3A44"/>
                </a:solidFill>
                <a:latin typeface="Nunito Bold"/>
                <a:ea typeface="Nunito Bold"/>
                <a:cs typeface="Nunito Bold"/>
                <a:sym typeface="Nunito Bold"/>
              </a:rPr>
              <a:t>User Personas</a:t>
            </a:r>
            <a:endParaRPr lang="en-US" sz="3950"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MVP / Tech / Algorithms</a:t>
            </a:r>
            <a:endParaRPr lang="en-US" sz="3950"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Diagrams</a:t>
            </a:r>
            <a:endParaRPr lang="en-US" sz="3950"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Product Backlog / User Stories</a:t>
            </a:r>
            <a:endParaRPr lang="en-US" sz="3999"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Team Velocity / Burndown</a:t>
            </a:r>
            <a:endParaRPr lang="en-US" sz="3999"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rPr>
              <a:t>Demo</a:t>
            </a:r>
            <a:endParaRPr lang="en-US" sz="3999" b="1">
              <a:solidFill>
                <a:srgbClr val="2E3A44"/>
              </a:solidFill>
              <a:latin typeface="Nunito Bold"/>
              <a:ea typeface="Nunito Bold"/>
              <a:cs typeface="Nunito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4F2E7-7E5E-D281-B12D-D6B2258E97B5}"/>
            </a:ext>
          </a:extLst>
        </p:cNvPr>
        <p:cNvGrpSpPr/>
        <p:nvPr/>
      </p:nvGrpSpPr>
      <p:grpSpPr>
        <a:xfrm>
          <a:off x="0" y="0"/>
          <a:ext cx="0" cy="0"/>
          <a:chOff x="0" y="0"/>
          <a:chExt cx="0" cy="0"/>
        </a:xfrm>
      </p:grpSpPr>
      <p:sp>
        <p:nvSpPr>
          <p:cNvPr id="3" name="TextBox 13">
            <a:extLst>
              <a:ext uri="{FF2B5EF4-FFF2-40B4-BE49-F238E27FC236}">
                <a16:creationId xmlns:a16="http://schemas.microsoft.com/office/drawing/2014/main" id="{D014526A-6D85-4C27-EB88-A54ADAE839B7}"/>
              </a:ext>
            </a:extLst>
          </p:cNvPr>
          <p:cNvSpPr txBox="1"/>
          <p:nvPr/>
        </p:nvSpPr>
        <p:spPr>
          <a:xfrm>
            <a:off x="1027043" y="405847"/>
            <a:ext cx="11121774"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200">
                <a:solidFill>
                  <a:srgbClr val="000000"/>
                </a:solidFill>
                <a:latin typeface="Nirand Bold"/>
                <a:ea typeface="+mn-lt"/>
                <a:cs typeface="Nirand Bold"/>
              </a:rPr>
              <a:t>Sprint 1 Recap</a:t>
            </a:r>
            <a:endParaRPr lang="en-US" sz="7200">
              <a:latin typeface="Nirand Bold"/>
              <a:cs typeface="Nirand Bold"/>
            </a:endParaRPr>
          </a:p>
        </p:txBody>
      </p:sp>
      <p:sp>
        <p:nvSpPr>
          <p:cNvPr id="6" name="TextBox 12">
            <a:extLst>
              <a:ext uri="{FF2B5EF4-FFF2-40B4-BE49-F238E27FC236}">
                <a16:creationId xmlns:a16="http://schemas.microsoft.com/office/drawing/2014/main" id="{344123CA-0870-6283-5317-24D78FC4AC47}"/>
              </a:ext>
            </a:extLst>
          </p:cNvPr>
          <p:cNvSpPr txBox="1"/>
          <p:nvPr/>
        </p:nvSpPr>
        <p:spPr>
          <a:xfrm>
            <a:off x="461089" y="1619668"/>
            <a:ext cx="17720742" cy="8240717"/>
          </a:xfrm>
          <a:prstGeom prst="rect">
            <a:avLst/>
          </a:prstGeom>
        </p:spPr>
        <p:txBody>
          <a:bodyPr wrap="square" lIns="0" tIns="0" rIns="0" bIns="0" rtlCol="0" anchor="t">
            <a:spAutoFit/>
          </a:bodyPr>
          <a:lstStyle/>
          <a:p>
            <a:pPr marL="560705" lvl="1" indent="-280035">
              <a:lnSpc>
                <a:spcPct val="200000"/>
              </a:lnSpc>
              <a:buFont typeface="Arial"/>
              <a:buChar char="•"/>
            </a:pPr>
            <a:r>
              <a:rPr lang="en-US" sz="3600">
                <a:solidFill>
                  <a:srgbClr val="2E3A44"/>
                </a:solidFill>
                <a:latin typeface="Nunito"/>
                <a:sym typeface="Nunito"/>
              </a:rPr>
              <a:t>Execute concept developed in sprint 0</a:t>
            </a:r>
            <a:endParaRPr lang="en-US" sz="3600">
              <a:solidFill>
                <a:srgbClr val="2E3A44"/>
              </a:solidFill>
              <a:latin typeface="Nunito"/>
            </a:endParaRPr>
          </a:p>
          <a:p>
            <a:pPr marL="1017905" lvl="2" indent="-280035">
              <a:lnSpc>
                <a:spcPct val="200000"/>
              </a:lnSpc>
              <a:buFont typeface="Wingdings"/>
              <a:buChar char="§"/>
            </a:pPr>
            <a:r>
              <a:rPr lang="en-US" sz="3600">
                <a:solidFill>
                  <a:srgbClr val="2E3A44"/>
                </a:solidFill>
                <a:latin typeface="Nunito"/>
              </a:rPr>
              <a:t>Minimal graphics and no AI</a:t>
            </a:r>
          </a:p>
          <a:p>
            <a:pPr marL="560705" lvl="1" indent="-280035">
              <a:lnSpc>
                <a:spcPct val="200000"/>
              </a:lnSpc>
              <a:buFont typeface="Arial"/>
              <a:buChar char="•"/>
            </a:pPr>
            <a:r>
              <a:rPr lang="en-US" sz="3600">
                <a:solidFill>
                  <a:srgbClr val="2E3A44"/>
                </a:solidFill>
                <a:latin typeface="Nunito"/>
              </a:rPr>
              <a:t>Fully controllable player character</a:t>
            </a:r>
          </a:p>
          <a:p>
            <a:pPr marL="1017905" lvl="2" indent="-280035">
              <a:lnSpc>
                <a:spcPct val="200000"/>
              </a:lnSpc>
              <a:buFont typeface="Wingdings"/>
              <a:buChar char="§"/>
            </a:pPr>
            <a:r>
              <a:rPr lang="en-US" sz="3600">
                <a:solidFill>
                  <a:srgbClr val="2E3A44"/>
                </a:solidFill>
                <a:latin typeface="Nunito"/>
              </a:rPr>
              <a:t>Establish move set of punch, block, double jump</a:t>
            </a:r>
          </a:p>
          <a:p>
            <a:pPr marL="1017905" lvl="2" indent="-280035">
              <a:lnSpc>
                <a:spcPct val="200000"/>
              </a:lnSpc>
              <a:buFont typeface="Wingdings"/>
              <a:buChar char="§"/>
            </a:pPr>
            <a:r>
              <a:rPr lang="en-US" sz="3600">
                <a:solidFill>
                  <a:srgbClr val="2E3A44"/>
                </a:solidFill>
                <a:latin typeface="Nunito"/>
              </a:rPr>
              <a:t>Bug testing and resolution</a:t>
            </a:r>
          </a:p>
          <a:p>
            <a:pPr marL="560705" lvl="1" indent="-280035">
              <a:lnSpc>
                <a:spcPct val="200000"/>
              </a:lnSpc>
              <a:buFont typeface="Arial"/>
              <a:buChar char="•"/>
            </a:pPr>
            <a:r>
              <a:rPr lang="en-US" sz="3600">
                <a:solidFill>
                  <a:srgbClr val="2E3A44"/>
                </a:solidFill>
                <a:latin typeface="Nunito"/>
              </a:rPr>
              <a:t>Damage tracking</a:t>
            </a:r>
          </a:p>
          <a:p>
            <a:pPr marL="560705" lvl="1" indent="-280035">
              <a:lnSpc>
                <a:spcPct val="200000"/>
              </a:lnSpc>
              <a:buFont typeface="Arial"/>
              <a:buChar char="•"/>
            </a:pPr>
            <a:r>
              <a:rPr lang="en-US" sz="3600">
                <a:solidFill>
                  <a:srgbClr val="2E3A44"/>
                </a:solidFill>
                <a:latin typeface="Nunito"/>
              </a:rPr>
              <a:t>Camera tracking</a:t>
            </a:r>
          </a:p>
          <a:p>
            <a:pPr marL="560705" lvl="1" indent="-280035">
              <a:lnSpc>
                <a:spcPts val="3640"/>
              </a:lnSpc>
              <a:buFont typeface="Arial"/>
              <a:buChar char="•"/>
            </a:pPr>
            <a:endParaRPr lang="en-US" sz="3600">
              <a:solidFill>
                <a:srgbClr val="2E3A44"/>
              </a:solidFill>
              <a:latin typeface="Nunito"/>
            </a:endParaRPr>
          </a:p>
        </p:txBody>
      </p:sp>
    </p:spTree>
    <p:extLst>
      <p:ext uri="{BB962C8B-B14F-4D97-AF65-F5344CB8AC3E}">
        <p14:creationId xmlns:p14="http://schemas.microsoft.com/office/powerpoint/2010/main" val="3752915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9678B-035F-1103-7FED-226728FAFC6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B8E7B4-23BD-20E9-B346-E97574472745}"/>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4DAD20D7-13EB-33A4-20EC-6D063FB0A0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9BEEB78C-8DB4-75FF-FD88-871A6C20841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44B11B06-94F2-8B9B-4316-9058762C4639}"/>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1A967349-562A-BCC0-1CF5-9ED868B431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AA8DEB34-1DFB-75DB-38D8-4BA1781FE4F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9D4E705-A2EB-10F1-DD03-37E07EB6B0A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4F13867B-8087-31DA-F9C9-38D1FB1B459D}"/>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0CBBC352-0496-1687-E26D-0E14C9DDB5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82190DA8-7481-5577-B67F-50D7CCEFA1E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978D411A-CC3D-BD9F-078A-FC457AAAB0EE}"/>
              </a:ext>
            </a:extLst>
          </p:cNvPr>
          <p:cNvSpPr txBox="1"/>
          <p:nvPr/>
        </p:nvSpPr>
        <p:spPr>
          <a:xfrm>
            <a:off x="2118946" y="4292489"/>
            <a:ext cx="5647349" cy="929806"/>
          </a:xfrm>
          <a:prstGeom prst="rect">
            <a:avLst/>
          </a:prstGeom>
        </p:spPr>
        <p:txBody>
          <a:bodyPr wrap="square" lIns="0" tIns="0" rIns="0" bIns="0" rtlCol="0" anchor="t">
            <a:spAutoFit/>
          </a:bodyPr>
          <a:lstStyle/>
          <a:p>
            <a:pPr marL="851535" lvl="1" indent="-571500">
              <a:lnSpc>
                <a:spcPts val="3640"/>
              </a:lnSpc>
              <a:buFont typeface="Arial"/>
              <a:buChar char="•"/>
            </a:pPr>
            <a:r>
              <a:rPr lang="en-US" sz="3600">
                <a:solidFill>
                  <a:srgbClr val="2E3A44"/>
                </a:solidFill>
                <a:latin typeface="Corbel"/>
                <a:ea typeface="Calibri"/>
                <a:cs typeface="Calibri"/>
              </a:rPr>
              <a:t>Enhancement to presentation slides</a:t>
            </a:r>
            <a:endParaRPr lang="en-US" sz="3600">
              <a:solidFill>
                <a:srgbClr val="2E3A44"/>
              </a:solidFill>
              <a:ea typeface="Calibri"/>
              <a:cs typeface="Calibri"/>
            </a:endParaRPr>
          </a:p>
        </p:txBody>
      </p:sp>
      <p:sp>
        <p:nvSpPr>
          <p:cNvPr id="13" name="TextBox 13">
            <a:extLst>
              <a:ext uri="{FF2B5EF4-FFF2-40B4-BE49-F238E27FC236}">
                <a16:creationId xmlns:a16="http://schemas.microsoft.com/office/drawing/2014/main" id="{22829F36-3BAF-F536-EF1E-81AFFAE1D49D}"/>
              </a:ext>
            </a:extLst>
          </p:cNvPr>
          <p:cNvSpPr txBox="1"/>
          <p:nvPr/>
        </p:nvSpPr>
        <p:spPr>
          <a:xfrm>
            <a:off x="1152526" y="394770"/>
            <a:ext cx="15406808" cy="2619948"/>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Calibri"/>
                <a:cs typeface="Nirand Bold"/>
              </a:rPr>
              <a:t>Improvements made from Advisor Feedback</a:t>
            </a:r>
            <a:endParaRPr lang="en-US"/>
          </a:p>
        </p:txBody>
      </p:sp>
      <p:pic>
        <p:nvPicPr>
          <p:cNvPr id="14" name="Picture 13" descr="A bar graph on a chalkboard showing continuous improvement">
            <a:extLst>
              <a:ext uri="{FF2B5EF4-FFF2-40B4-BE49-F238E27FC236}">
                <a16:creationId xmlns:a16="http://schemas.microsoft.com/office/drawing/2014/main" id="{E23668FB-E19F-520A-F66E-09F17CF9C035}"/>
              </a:ext>
            </a:extLst>
          </p:cNvPr>
          <p:cNvPicPr>
            <a:picLocks noChangeAspect="1"/>
          </p:cNvPicPr>
          <p:nvPr/>
        </p:nvPicPr>
        <p:blipFill>
          <a:blip r:embed="rId2"/>
          <a:stretch>
            <a:fillRect/>
          </a:stretch>
        </p:blipFill>
        <p:spPr>
          <a:xfrm>
            <a:off x="8579827" y="3830880"/>
            <a:ext cx="7971694" cy="4090622"/>
          </a:xfrm>
          <a:prstGeom prst="rect">
            <a:avLst/>
          </a:prstGeom>
        </p:spPr>
      </p:pic>
      <p:sp>
        <p:nvSpPr>
          <p:cNvPr id="15" name="TextBox 12">
            <a:extLst>
              <a:ext uri="{FF2B5EF4-FFF2-40B4-BE49-F238E27FC236}">
                <a16:creationId xmlns:a16="http://schemas.microsoft.com/office/drawing/2014/main" id="{ACD9B6B1-AD26-3225-A0DD-C6227E2CFBDF}"/>
              </a:ext>
            </a:extLst>
          </p:cNvPr>
          <p:cNvSpPr txBox="1"/>
          <p:nvPr/>
        </p:nvSpPr>
        <p:spPr>
          <a:xfrm>
            <a:off x="2116651" y="6534527"/>
            <a:ext cx="5647349" cy="929806"/>
          </a:xfrm>
          <a:prstGeom prst="rect">
            <a:avLst/>
          </a:prstGeom>
        </p:spPr>
        <p:txBody>
          <a:bodyPr wrap="square" lIns="0" tIns="0" rIns="0" bIns="0" rtlCol="0" anchor="t">
            <a:spAutoFit/>
          </a:bodyPr>
          <a:lstStyle/>
          <a:p>
            <a:pPr marL="851535" lvl="1" indent="-571500">
              <a:lnSpc>
                <a:spcPts val="3640"/>
              </a:lnSpc>
              <a:buFont typeface="Arial"/>
              <a:buChar char="•"/>
            </a:pPr>
            <a:r>
              <a:rPr lang="en-US" sz="3600">
                <a:solidFill>
                  <a:srgbClr val="2E3A44"/>
                </a:solidFill>
                <a:ea typeface="Calibri"/>
                <a:cs typeface="Calibri"/>
              </a:rPr>
              <a:t>Adding advisor to team slide</a:t>
            </a:r>
          </a:p>
        </p:txBody>
      </p:sp>
    </p:spTree>
    <p:extLst>
      <p:ext uri="{BB962C8B-B14F-4D97-AF65-F5344CB8AC3E}">
        <p14:creationId xmlns:p14="http://schemas.microsoft.com/office/powerpoint/2010/main" val="4019380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68F69-7691-6EB5-C386-EBE1017181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2EDCC38-9E8F-430E-3D29-A5A97D2AEB1E}"/>
              </a:ext>
            </a:extLst>
          </p:cNvPr>
          <p:cNvGrpSpPr/>
          <p:nvPr/>
        </p:nvGrpSpPr>
        <p:grpSpPr>
          <a:xfrm>
            <a:off x="11833089" y="2578678"/>
            <a:ext cx="9965284" cy="8866245"/>
            <a:chOff x="0" y="0"/>
            <a:chExt cx="812800" cy="812800"/>
          </a:xfrm>
        </p:grpSpPr>
        <p:sp>
          <p:nvSpPr>
            <p:cNvPr id="3" name="Freeform 3">
              <a:extLst>
                <a:ext uri="{FF2B5EF4-FFF2-40B4-BE49-F238E27FC236}">
                  <a16:creationId xmlns:a16="http://schemas.microsoft.com/office/drawing/2014/main" id="{DDF9FF84-D64C-E3FA-0522-CBEBAC5726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284FBEB3-B235-6A81-F6D1-CAA561BA120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1C4DDB9-A819-CFE1-CD77-E259500B836C}"/>
              </a:ext>
            </a:extLst>
          </p:cNvPr>
          <p:cNvGrpSpPr/>
          <p:nvPr/>
        </p:nvGrpSpPr>
        <p:grpSpPr>
          <a:xfrm>
            <a:off x="-1971674" y="8256875"/>
            <a:ext cx="3517329" cy="3517329"/>
            <a:chOff x="0" y="0"/>
            <a:chExt cx="812800" cy="812800"/>
          </a:xfrm>
        </p:grpSpPr>
        <p:sp>
          <p:nvSpPr>
            <p:cNvPr id="6" name="Freeform 6">
              <a:extLst>
                <a:ext uri="{FF2B5EF4-FFF2-40B4-BE49-F238E27FC236}">
                  <a16:creationId xmlns:a16="http://schemas.microsoft.com/office/drawing/2014/main" id="{49372DE4-0B56-E8DF-5C7D-9E1568AEEF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180D613A-3254-377C-E6D0-BD93BCC0438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3CA324F-0936-2887-A79E-5ECB1995415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078BBE9-BE13-7599-923F-85B551D7A994}"/>
              </a:ext>
            </a:extLst>
          </p:cNvPr>
          <p:cNvGrpSpPr/>
          <p:nvPr/>
        </p:nvGrpSpPr>
        <p:grpSpPr>
          <a:xfrm>
            <a:off x="1567884" y="9711877"/>
            <a:ext cx="1586288" cy="1586288"/>
            <a:chOff x="0" y="0"/>
            <a:chExt cx="812800" cy="812800"/>
          </a:xfrm>
        </p:grpSpPr>
        <p:sp>
          <p:nvSpPr>
            <p:cNvPr id="10" name="Freeform 10">
              <a:extLst>
                <a:ext uri="{FF2B5EF4-FFF2-40B4-BE49-F238E27FC236}">
                  <a16:creationId xmlns:a16="http://schemas.microsoft.com/office/drawing/2014/main" id="{D054B138-B917-3122-9897-F4063429C7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52755AC-6704-EDD1-C3DA-0855AB15820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BC417CF5-D98C-A2F2-3AD7-972948ECB643}"/>
              </a:ext>
            </a:extLst>
          </p:cNvPr>
          <p:cNvSpPr txBox="1"/>
          <p:nvPr/>
        </p:nvSpPr>
        <p:spPr>
          <a:xfrm>
            <a:off x="-3573" y="33338"/>
            <a:ext cx="9509523"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Nirand Bold"/>
                <a:cs typeface="Nirand Bold"/>
                <a:sym typeface="Nirand Bold"/>
              </a:rPr>
              <a:t>Project Description</a:t>
            </a:r>
          </a:p>
        </p:txBody>
      </p:sp>
      <p:sp>
        <p:nvSpPr>
          <p:cNvPr id="13" name="TextBox 13">
            <a:extLst>
              <a:ext uri="{FF2B5EF4-FFF2-40B4-BE49-F238E27FC236}">
                <a16:creationId xmlns:a16="http://schemas.microsoft.com/office/drawing/2014/main" id="{765050A1-B8C4-E7AE-040F-3EB09B9A0921}"/>
              </a:ext>
            </a:extLst>
          </p:cNvPr>
          <p:cNvSpPr txBox="1"/>
          <p:nvPr/>
        </p:nvSpPr>
        <p:spPr>
          <a:xfrm>
            <a:off x="752861" y="1663414"/>
            <a:ext cx="10766830" cy="5847755"/>
          </a:xfrm>
          <a:prstGeom prst="rect">
            <a:avLst/>
          </a:prstGeom>
        </p:spPr>
        <p:txBody>
          <a:bodyPr wrap="square" lIns="0" tIns="0" rIns="0" bIns="0" rtlCol="0" anchor="t">
            <a:spAutoFit/>
          </a:bodyPr>
          <a:lstStyle/>
          <a:p>
            <a:pPr marL="457200" indent="-457200">
              <a:lnSpc>
                <a:spcPct val="150000"/>
              </a:lnSpc>
              <a:buFont typeface="Arial"/>
              <a:buChar char="•"/>
            </a:pPr>
            <a:r>
              <a:rPr lang="en-US" sz="3200">
                <a:solidFill>
                  <a:schemeClr val="tx1">
                    <a:lumMod val="76000"/>
                    <a:lumOff val="24000"/>
                  </a:schemeClr>
                </a:solidFill>
                <a:latin typeface="Nunito"/>
                <a:ea typeface="Calibri"/>
                <a:cs typeface="Calibri"/>
              </a:rPr>
              <a:t>2D-fighting game focusing primarily on AI opponents and improving your general fighting game skills. </a:t>
            </a:r>
            <a:endParaRPr lang="en-US" sz="3200">
              <a:solidFill>
                <a:schemeClr val="tx1">
                  <a:lumMod val="76000"/>
                  <a:lumOff val="24000"/>
                </a:schemeClr>
              </a:solidFill>
              <a:latin typeface="Nunito"/>
            </a:endParaRPr>
          </a:p>
          <a:p>
            <a:pPr marL="457200" indent="-457200">
              <a:lnSpc>
                <a:spcPct val="150000"/>
              </a:lnSpc>
              <a:buFont typeface="Arial"/>
              <a:buChar char="•"/>
            </a:pPr>
            <a:r>
              <a:rPr lang="en-US" sz="3200">
                <a:solidFill>
                  <a:schemeClr val="tx1">
                    <a:lumMod val="76000"/>
                    <a:lumOff val="24000"/>
                  </a:schemeClr>
                </a:solidFill>
                <a:latin typeface="Nunito"/>
                <a:ea typeface="Calibri"/>
                <a:cs typeface="Calibri"/>
              </a:rPr>
              <a:t>AI will scale appropriately based on selected skill level</a:t>
            </a:r>
          </a:p>
          <a:p>
            <a:pPr marL="914400" lvl="1" indent="-457200">
              <a:lnSpc>
                <a:spcPct val="150000"/>
              </a:lnSpc>
              <a:buFont typeface="Courier New"/>
              <a:buChar char="o"/>
            </a:pPr>
            <a:r>
              <a:rPr lang="en-US" sz="3200">
                <a:solidFill>
                  <a:schemeClr val="tx1">
                    <a:lumMod val="76000"/>
                    <a:lumOff val="24000"/>
                  </a:schemeClr>
                </a:solidFill>
                <a:latin typeface="Nunito"/>
                <a:ea typeface="Calibri"/>
                <a:cs typeface="Calibri"/>
              </a:rPr>
              <a:t>Easy : Mostly random or suboptimal moves</a:t>
            </a:r>
          </a:p>
          <a:p>
            <a:pPr marL="914400" lvl="1" indent="-457200">
              <a:lnSpc>
                <a:spcPct val="150000"/>
              </a:lnSpc>
              <a:buFont typeface="Courier New"/>
              <a:buChar char="o"/>
            </a:pPr>
            <a:r>
              <a:rPr lang="en-US" sz="3200">
                <a:solidFill>
                  <a:schemeClr val="tx1">
                    <a:lumMod val="76000"/>
                    <a:lumOff val="24000"/>
                  </a:schemeClr>
                </a:solidFill>
                <a:latin typeface="Nunito"/>
                <a:ea typeface="Calibri"/>
                <a:cs typeface="Calibri"/>
              </a:rPr>
              <a:t>Medium : Basic strategy with a little randomness</a:t>
            </a:r>
          </a:p>
          <a:p>
            <a:pPr marL="914400" lvl="1" indent="-457200">
              <a:lnSpc>
                <a:spcPct val="150000"/>
              </a:lnSpc>
              <a:buFont typeface="Courier New"/>
              <a:buChar char="o"/>
            </a:pPr>
            <a:r>
              <a:rPr lang="en-US" sz="3200">
                <a:solidFill>
                  <a:schemeClr val="tx1">
                    <a:lumMod val="76000"/>
                    <a:lumOff val="24000"/>
                  </a:schemeClr>
                </a:solidFill>
                <a:latin typeface="Nunito"/>
                <a:ea typeface="Calibri"/>
                <a:cs typeface="Calibri"/>
              </a:rPr>
              <a:t>Hard : Uses machine learning to adapt and respond</a:t>
            </a:r>
          </a:p>
          <a:p>
            <a:pPr marL="457200" indent="-457200">
              <a:lnSpc>
                <a:spcPct val="150000"/>
              </a:lnSpc>
              <a:buFont typeface="Arial"/>
              <a:buChar char="•"/>
            </a:pPr>
            <a:r>
              <a:rPr lang="en-US" sz="3200">
                <a:solidFill>
                  <a:schemeClr val="tx1">
                    <a:lumMod val="76000"/>
                    <a:lumOff val="24000"/>
                  </a:schemeClr>
                </a:solidFill>
                <a:latin typeface="Nunito"/>
                <a:ea typeface="Calibri"/>
                <a:cs typeface="Calibri"/>
              </a:rPr>
              <a:t>Provide user-friendly interface for user entry</a:t>
            </a:r>
          </a:p>
          <a:p>
            <a:pPr marL="457200" indent="-457200">
              <a:lnSpc>
                <a:spcPct val="150000"/>
              </a:lnSpc>
              <a:buFont typeface="Arial"/>
              <a:buChar char="•"/>
            </a:pPr>
            <a:r>
              <a:rPr lang="en-US" sz="3200">
                <a:solidFill>
                  <a:schemeClr val="tx1">
                    <a:lumMod val="76000"/>
                    <a:lumOff val="24000"/>
                  </a:schemeClr>
                </a:solidFill>
                <a:latin typeface="Nunito"/>
                <a:ea typeface="Calibri"/>
                <a:cs typeface="Calibri"/>
              </a:rPr>
              <a:t>Tally up and output results of game</a:t>
            </a:r>
          </a:p>
        </p:txBody>
      </p:sp>
      <p:pic>
        <p:nvPicPr>
          <p:cNvPr id="16" name="Picture 15" descr="A video game screen with a person fighting on a dock&#10;&#10;AI-generated content may be incorrect.">
            <a:extLst>
              <a:ext uri="{FF2B5EF4-FFF2-40B4-BE49-F238E27FC236}">
                <a16:creationId xmlns:a16="http://schemas.microsoft.com/office/drawing/2014/main" id="{4DFDFAA6-D859-D9F7-1A33-DDE88CDA2DB3}"/>
              </a:ext>
            </a:extLst>
          </p:cNvPr>
          <p:cNvPicPr>
            <a:picLocks noChangeAspect="1"/>
          </p:cNvPicPr>
          <p:nvPr/>
        </p:nvPicPr>
        <p:blipFill>
          <a:blip r:embed="rId2"/>
          <a:srcRect t="8940" r="248" b="7616"/>
          <a:stretch>
            <a:fillRect/>
          </a:stretch>
        </p:blipFill>
        <p:spPr>
          <a:xfrm>
            <a:off x="11510963" y="671512"/>
            <a:ext cx="4795853" cy="4471997"/>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17" name="Picture 16" descr="A video game screen with cartoon characters&#10;&#10;AI-generated content may be incorrect.">
            <a:extLst>
              <a:ext uri="{FF2B5EF4-FFF2-40B4-BE49-F238E27FC236}">
                <a16:creationId xmlns:a16="http://schemas.microsoft.com/office/drawing/2014/main" id="{EBB96E04-1218-6130-3B44-AF92330DFF4E}"/>
              </a:ext>
            </a:extLst>
          </p:cNvPr>
          <p:cNvPicPr>
            <a:picLocks noChangeAspect="1"/>
          </p:cNvPicPr>
          <p:nvPr/>
        </p:nvPicPr>
        <p:blipFill>
          <a:blip r:embed="rId3"/>
          <a:stretch>
            <a:fillRect/>
          </a:stretch>
        </p:blipFill>
        <p:spPr>
          <a:xfrm>
            <a:off x="12715875" y="4214813"/>
            <a:ext cx="5057776" cy="4843463"/>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2469547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5196" y="-1345627"/>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430074" y="4157765"/>
            <a:ext cx="8030478" cy="7282501"/>
            <a:chOff x="-226086" y="38100"/>
            <a:chExt cx="962686" cy="908357"/>
          </a:xfrm>
        </p:grpSpPr>
        <p:sp>
          <p:nvSpPr>
            <p:cNvPr id="6" name="Freeform 6"/>
            <p:cNvSpPr/>
            <p:nvPr/>
          </p:nvSpPr>
          <p:spPr>
            <a:xfrm>
              <a:off x="-226086" y="133657"/>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p:cNvGrpSpPr/>
          <p:nvPr/>
        </p:nvGrpSpPr>
        <p:grpSpPr>
          <a:xfrm>
            <a:off x="17259300" y="3262131"/>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04952" y="176118"/>
            <a:ext cx="14311290"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ea typeface="Nirand Bold"/>
                <a:cs typeface="Nirand Bold"/>
                <a:sym typeface="Nirand Bold"/>
              </a:rPr>
              <a:t>Team Working Agreement</a:t>
            </a:r>
            <a:endParaRPr lang="en-US"/>
          </a:p>
        </p:txBody>
      </p:sp>
      <p:sp>
        <p:nvSpPr>
          <p:cNvPr id="19" name="Content Placeholder 18">
            <a:extLst>
              <a:ext uri="{FF2B5EF4-FFF2-40B4-BE49-F238E27FC236}">
                <a16:creationId xmlns:a16="http://schemas.microsoft.com/office/drawing/2014/main" id="{1C66B37F-0AEF-2827-531D-64EE2E39C096}"/>
              </a:ext>
            </a:extLst>
          </p:cNvPr>
          <p:cNvSpPr>
            <a:spLocks noGrp="1"/>
          </p:cNvSpPr>
          <p:nvPr>
            <p:ph idx="4294967295"/>
          </p:nvPr>
        </p:nvSpPr>
        <p:spPr>
          <a:xfrm>
            <a:off x="1253183" y="1639888"/>
            <a:ext cx="8654620" cy="7138666"/>
          </a:xfrm>
        </p:spPr>
        <p:txBody>
          <a:bodyPr vert="horz" lIns="91440" tIns="45720" rIns="91440" bIns="45720" rtlCol="0" anchor="t">
            <a:noAutofit/>
          </a:bodyPr>
          <a:lstStyle/>
          <a:p>
            <a:pPr marL="0" indent="0">
              <a:buNone/>
            </a:pPr>
            <a:r>
              <a:rPr lang="en-US" sz="3200" b="1" u="sng">
                <a:latin typeface="Nunito Bold"/>
                <a:cs typeface="Times New Roman"/>
              </a:rPr>
              <a:t>Communication And Responsibilities:</a:t>
            </a:r>
            <a:endParaRPr lang="en-US" sz="3200" b="1" u="sng">
              <a:latin typeface="Nunito Bold"/>
              <a:ea typeface="Calibri"/>
              <a:cs typeface="Calibri"/>
            </a:endParaRPr>
          </a:p>
          <a:p>
            <a:r>
              <a:rPr lang="en-US" sz="2800">
                <a:latin typeface="Nunito"/>
                <a:cs typeface="Times New Roman"/>
              </a:rPr>
              <a:t> Communication through WhatsApp, Slack, Zoom.</a:t>
            </a:r>
          </a:p>
          <a:p>
            <a:pPr marL="342265" indent="-342265"/>
            <a:r>
              <a:rPr lang="en-US" sz="2800">
                <a:latin typeface="Nunito"/>
                <a:cs typeface="Times New Roman"/>
              </a:rPr>
              <a:t>All team members must respect each other and have the right to contribute their ideas to the project.</a:t>
            </a:r>
          </a:p>
          <a:p>
            <a:pPr marL="342265" indent="-342265"/>
            <a:r>
              <a:rPr lang="en-US" sz="2800">
                <a:latin typeface="Nunito"/>
                <a:cs typeface="Times New Roman"/>
              </a:rPr>
              <a:t>All ideas, vision and changes discussed together, and final decisions are up to most of the team, except urgent situations.</a:t>
            </a:r>
          </a:p>
          <a:p>
            <a:pPr marL="342265" indent="-342265"/>
            <a:r>
              <a:rPr lang="en-US" sz="2800">
                <a:latin typeface="Nunito"/>
                <a:cs typeface="Times New Roman"/>
              </a:rPr>
              <a:t>Each person works within the boundaries established before the start of work. </a:t>
            </a:r>
          </a:p>
          <a:p>
            <a:pPr marL="342265" indent="-342265"/>
            <a:r>
              <a:rPr lang="en-US" sz="2800">
                <a:latin typeface="Nunito"/>
                <a:cs typeface="Times New Roman"/>
              </a:rPr>
              <a:t>Everyone is responsible for their own part.</a:t>
            </a:r>
            <a:endParaRPr lang="en-US" sz="2800">
              <a:latin typeface="Nunito"/>
              <a:ea typeface="Calibri"/>
              <a:cs typeface="Calibri"/>
            </a:endParaRPr>
          </a:p>
          <a:p>
            <a:pPr marL="342265" indent="-342265"/>
            <a:r>
              <a:rPr lang="en-US" sz="2800">
                <a:latin typeface="Nunito"/>
                <a:cs typeface="Times New Roman"/>
              </a:rPr>
              <a:t>All conflicts should first be resolved between the people involved. If that is not possible the issue should be brought to the Team Lead.</a:t>
            </a:r>
            <a:endParaRPr lang="en-US" sz="2800">
              <a:latin typeface="Nunito"/>
              <a:ea typeface="Calibri"/>
              <a:cs typeface="Calibri"/>
            </a:endParaRPr>
          </a:p>
          <a:p>
            <a:pPr marL="342265" indent="-342265"/>
            <a:r>
              <a:rPr lang="en-US" sz="2800">
                <a:latin typeface="Nunito"/>
                <a:cs typeface="Times New Roman"/>
              </a:rPr>
              <a:t>Each member must inform the team about any changes or improvements they make.</a:t>
            </a:r>
          </a:p>
          <a:p>
            <a:pPr marL="342265" indent="-342265"/>
            <a:endParaRPr lang="en-US">
              <a:solidFill>
                <a:schemeClr val="tx1"/>
              </a:solidFill>
              <a:latin typeface="Nirand Bold"/>
              <a:ea typeface="Calibri"/>
              <a:cs typeface="Calibri"/>
            </a:endParaRPr>
          </a:p>
        </p:txBody>
      </p:sp>
      <p:sp>
        <p:nvSpPr>
          <p:cNvPr id="20" name="Content Placeholder 18">
            <a:extLst>
              <a:ext uri="{FF2B5EF4-FFF2-40B4-BE49-F238E27FC236}">
                <a16:creationId xmlns:a16="http://schemas.microsoft.com/office/drawing/2014/main" id="{424B3E56-8744-D5FB-851D-08D18CE48D51}"/>
              </a:ext>
            </a:extLst>
          </p:cNvPr>
          <p:cNvSpPr txBox="1">
            <a:spLocks/>
          </p:cNvSpPr>
          <p:nvPr/>
        </p:nvSpPr>
        <p:spPr>
          <a:xfrm>
            <a:off x="10426159" y="1643484"/>
            <a:ext cx="6013231" cy="7124737"/>
          </a:xfrm>
          <a:prstGeom prst="rect">
            <a:avLst/>
          </a:prstGeom>
        </p:spPr>
        <p:txBody>
          <a:bodyPr vert="horz" lIns="91440" tIns="45720" rIns="91440" bIns="45720" rtlCol="0" anchor="t">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buNone/>
            </a:pPr>
            <a:r>
              <a:rPr lang="en-US" sz="3200" b="1" u="sng">
                <a:latin typeface="Nunito Bold"/>
                <a:cs typeface="Times New Roman"/>
              </a:rPr>
              <a:t>Meetings:</a:t>
            </a:r>
            <a:endParaRPr lang="en-US" sz="3200" b="1" u="sng">
              <a:latin typeface="Nunito Bold"/>
              <a:cs typeface="Nirand Bold"/>
            </a:endParaRPr>
          </a:p>
          <a:p>
            <a:pPr>
              <a:buFont typeface="Wingdings 2"/>
            </a:pPr>
            <a:r>
              <a:rPr lang="en-US" sz="2800">
                <a:latin typeface="Nunito"/>
                <a:cs typeface="Times New Roman"/>
              </a:rPr>
              <a:t>Meeting happens through Zoom, Slack </a:t>
            </a:r>
          </a:p>
          <a:p>
            <a:pPr>
              <a:buFont typeface="Wingdings 2"/>
            </a:pPr>
            <a:r>
              <a:rPr lang="en-US" sz="2800">
                <a:latin typeface="Nunito"/>
                <a:cs typeface="Times New Roman"/>
              </a:rPr>
              <a:t>The team must have Scrum meetings two times in a week and check WhatsApp, Slack daily to avoid missing any project information. </a:t>
            </a:r>
            <a:endParaRPr lang="en-US" sz="2800">
              <a:latin typeface="Nunito"/>
              <a:cs typeface="Nirand Bold"/>
            </a:endParaRPr>
          </a:p>
          <a:p>
            <a:pPr>
              <a:buFont typeface="Wingdings 2"/>
            </a:pPr>
            <a:r>
              <a:rPr lang="en-US" sz="2800">
                <a:latin typeface="Nunito"/>
                <a:cs typeface="Times New Roman"/>
              </a:rPr>
              <a:t>Schedule of a Scrum meeting : Tuesday at 8pm  and Friday at 9.15pm</a:t>
            </a:r>
          </a:p>
          <a:p>
            <a:pPr>
              <a:buFont typeface="Wingdings 2"/>
            </a:pPr>
            <a:r>
              <a:rPr lang="en-US" sz="2800">
                <a:latin typeface="Nunito"/>
                <a:cs typeface="Times New Roman"/>
              </a:rPr>
              <a:t>Each team member should participate in at least one meeting per week unless they have an important reason.  </a:t>
            </a:r>
            <a:endParaRPr lang="en-US" sz="2800">
              <a:latin typeface="Nunito"/>
              <a:cs typeface="Nirand Bold"/>
            </a:endParaRPr>
          </a:p>
          <a:p>
            <a:pPr marL="0" indent="0">
              <a:buNone/>
            </a:pPr>
            <a:endParaRPr lang="en-US" sz="2800" b="1">
              <a:solidFill>
                <a:schemeClr val="tx1"/>
              </a:solidFill>
              <a:latin typeface="Nirand Bold"/>
              <a:ea typeface="Calibri"/>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05D1A-5A50-F40A-8753-057742D8A5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94CB49D-323D-22F7-92E6-0E107BBC50B7}"/>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1ECE1D8E-3AF0-EED6-0552-1CD29218CE1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3A5D7FB7-4F9C-7476-A32A-026DDF64FA2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D0143A1A-E3EA-5EA7-61BD-198B35616C94}"/>
              </a:ext>
            </a:extLst>
          </p:cNvPr>
          <p:cNvGrpSpPr/>
          <p:nvPr/>
        </p:nvGrpSpPr>
        <p:grpSpPr>
          <a:xfrm>
            <a:off x="-4437604" y="3967038"/>
            <a:ext cx="8028675" cy="8028675"/>
            <a:chOff x="0" y="0"/>
            <a:chExt cx="812800" cy="812800"/>
          </a:xfrm>
        </p:grpSpPr>
        <p:sp>
          <p:nvSpPr>
            <p:cNvPr id="6" name="Freeform 6">
              <a:extLst>
                <a:ext uri="{FF2B5EF4-FFF2-40B4-BE49-F238E27FC236}">
                  <a16:creationId xmlns:a16="http://schemas.microsoft.com/office/drawing/2014/main" id="{858766FC-4AB4-FB61-03D2-E58B875279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E061E547-5031-F3E6-3E68-50B1E24AC86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DAC6002-8334-5F93-55CC-D785BDEAF55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4776F0D1-36A5-7292-4A73-DEEA7D4A3F65}"/>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3EB8C899-FD04-E861-1CFC-EFFB55578C5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752EB665-6796-EB1F-4EDA-E75DD622C3B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8">
            <a:extLst>
              <a:ext uri="{FF2B5EF4-FFF2-40B4-BE49-F238E27FC236}">
                <a16:creationId xmlns:a16="http://schemas.microsoft.com/office/drawing/2014/main" id="{DA53B6FE-D798-A61E-F74A-519CAB9BF1FF}"/>
              </a:ext>
            </a:extLst>
          </p:cNvPr>
          <p:cNvSpPr txBox="1"/>
          <p:nvPr/>
        </p:nvSpPr>
        <p:spPr>
          <a:xfrm>
            <a:off x="266430" y="184436"/>
            <a:ext cx="14821170" cy="1220719"/>
          </a:xfrm>
          <a:prstGeom prst="rect">
            <a:avLst/>
          </a:prstGeom>
        </p:spPr>
        <p:txBody>
          <a:bodyPr wrap="square" lIns="0" tIns="0" rIns="0" bIns="0" rtlCol="0" anchor="t">
            <a:spAutoFit/>
          </a:bodyPr>
          <a:lstStyle/>
          <a:p>
            <a:pPr>
              <a:lnSpc>
                <a:spcPts val="10500"/>
              </a:lnSpc>
            </a:pPr>
            <a:r>
              <a:rPr lang="en-US" sz="6000" b="1">
                <a:solidFill>
                  <a:srgbClr val="2E3A44"/>
                </a:solidFill>
                <a:latin typeface="Nirand Bold"/>
                <a:cs typeface="Nirand Bold"/>
                <a:sym typeface="Nirand Bold"/>
              </a:rPr>
              <a:t>User Personas: The Competitive Gamer</a:t>
            </a:r>
            <a:endParaRPr lang="en-US" sz="1200"/>
          </a:p>
        </p:txBody>
      </p:sp>
      <p:pic>
        <p:nvPicPr>
          <p:cNvPr id="1026" name="Picture 2" descr="young  playing game online at home. Gamer  controlling joystick for video game. Teenage girls leisure game in neon light room at home.">
            <a:extLst>
              <a:ext uri="{FF2B5EF4-FFF2-40B4-BE49-F238E27FC236}">
                <a16:creationId xmlns:a16="http://schemas.microsoft.com/office/drawing/2014/main" id="{4E72B9B5-A7A5-ABD1-16CB-CFA9D58D41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0" y="2263480"/>
            <a:ext cx="7132320" cy="4757256"/>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04553BC-665A-B119-579B-9FDC056B0789}"/>
              </a:ext>
            </a:extLst>
          </p:cNvPr>
          <p:cNvSpPr txBox="1"/>
          <p:nvPr/>
        </p:nvSpPr>
        <p:spPr>
          <a:xfrm>
            <a:off x="374890" y="1841953"/>
            <a:ext cx="9763396" cy="6494085"/>
          </a:xfrm>
          <a:prstGeom prst="rect">
            <a:avLst/>
          </a:prstGeom>
          <a:noFill/>
        </p:spPr>
        <p:txBody>
          <a:bodyPr wrap="square" rtlCol="0">
            <a:spAutoFit/>
          </a:bodyPr>
          <a:lstStyle/>
          <a:p>
            <a:r>
              <a:rPr lang="en-US" sz="2000" b="1"/>
              <a:t>Name: </a:t>
            </a:r>
            <a:r>
              <a:rPr lang="en-US" sz="2000"/>
              <a:t>Anna Grace</a:t>
            </a:r>
          </a:p>
          <a:p>
            <a:r>
              <a:rPr lang="en-US" sz="2000" b="1"/>
              <a:t>Age: </a:t>
            </a:r>
            <a:r>
              <a:rPr lang="en-US" sz="2000"/>
              <a:t>28 </a:t>
            </a:r>
          </a:p>
          <a:p>
            <a:r>
              <a:rPr lang="en-US" sz="2000" b="1"/>
              <a:t>Gender: </a:t>
            </a:r>
            <a:r>
              <a:rPr lang="en-US" sz="2000"/>
              <a:t>Female</a:t>
            </a:r>
          </a:p>
          <a:p>
            <a:r>
              <a:rPr lang="en-US" sz="2000" b="1"/>
              <a:t>Occupation: </a:t>
            </a:r>
            <a:r>
              <a:rPr lang="en-US" sz="2000"/>
              <a:t>Game Developer &amp; Twitch Streamer</a:t>
            </a:r>
          </a:p>
          <a:p>
            <a:r>
              <a:rPr lang="en-US" sz="2000"/>
              <a:t>Anna is a season game developer with a solid fan base, that enjoys playing games in her free time, specifically fighting, first-person shooters (FPS), and racing games. She’s often searching for new and exciting games that have varying difficult levels and unique features that keeps players engaged. </a:t>
            </a:r>
          </a:p>
          <a:p>
            <a:endParaRPr lang="en-US" sz="2000"/>
          </a:p>
          <a:p>
            <a:r>
              <a:rPr lang="en-US" sz="2000" b="1"/>
              <a:t>Challenges:</a:t>
            </a:r>
          </a:p>
          <a:p>
            <a:pPr marL="285750" indent="-285750">
              <a:buFont typeface="Arial" panose="020B0604020202020204" pitchFamily="34" charset="0"/>
              <a:buChar char="•"/>
            </a:pPr>
            <a:r>
              <a:rPr lang="en-US" sz="2000"/>
              <a:t>Tired of playing the same popular titles, with reoccurring characters and stories </a:t>
            </a:r>
          </a:p>
          <a:p>
            <a:pPr marL="285750" indent="-285750">
              <a:buFont typeface="Arial" panose="020B0604020202020204" pitchFamily="34" charset="0"/>
              <a:buChar char="•"/>
            </a:pPr>
            <a:r>
              <a:rPr lang="en-US" sz="2000"/>
              <a:t>Wants to find new games developed by small teams to stream for her community</a:t>
            </a:r>
          </a:p>
          <a:p>
            <a:endParaRPr lang="en-US" sz="2000"/>
          </a:p>
          <a:p>
            <a:r>
              <a:rPr lang="en-US" sz="2000" b="1"/>
              <a:t>Goals:</a:t>
            </a:r>
          </a:p>
          <a:p>
            <a:pPr marL="285750" indent="-285750">
              <a:buFont typeface="Arial" panose="020B0604020202020204" pitchFamily="34" charset="0"/>
              <a:buChar char="•"/>
            </a:pPr>
            <a:r>
              <a:rPr lang="en-US" sz="2000"/>
              <a:t>She enjoys playing games and learning different mechanics</a:t>
            </a:r>
          </a:p>
          <a:p>
            <a:pPr marL="285750" indent="-285750">
              <a:buFont typeface="Arial" panose="020B0604020202020204" pitchFamily="34" charset="0"/>
              <a:buChar char="•"/>
            </a:pPr>
            <a:r>
              <a:rPr lang="en-US" sz="2000"/>
              <a:t>Wants to explore new games with AI elements</a:t>
            </a:r>
          </a:p>
          <a:p>
            <a:pPr marL="285750" indent="-285750">
              <a:buFont typeface="Arial" panose="020B0604020202020204" pitchFamily="34" charset="0"/>
              <a:buChar char="•"/>
            </a:pPr>
            <a:r>
              <a:rPr lang="en-US" sz="2000"/>
              <a:t>Seeks a game that can be replayed several times</a:t>
            </a:r>
          </a:p>
          <a:p>
            <a:endParaRPr lang="en-US"/>
          </a:p>
          <a:p>
            <a:r>
              <a:rPr lang="en-US" sz="2000" b="1"/>
              <a:t>Quote:</a:t>
            </a:r>
          </a:p>
          <a:p>
            <a:pPr algn="ctr"/>
            <a:r>
              <a:rPr lang="en-US" b="1"/>
              <a:t>“ I just want to entertain my community and learn new skills; I love a good challenge!”</a:t>
            </a:r>
          </a:p>
          <a:p>
            <a:endParaRPr lang="en-US"/>
          </a:p>
        </p:txBody>
      </p:sp>
    </p:spTree>
    <p:extLst>
      <p:ext uri="{BB962C8B-B14F-4D97-AF65-F5344CB8AC3E}">
        <p14:creationId xmlns:p14="http://schemas.microsoft.com/office/powerpoint/2010/main" val="2274133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F11B0-51B1-3385-7B9A-DB55B8B920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BE0109-F030-C433-41A0-E1DBF3C9C3BB}"/>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F43E80DB-F600-03D0-3B7F-8E770E61584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130B6767-AE7E-EAA0-054D-703AA0E556D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C978C32-A305-82EA-5A5F-DA14976463EB}"/>
              </a:ext>
            </a:extLst>
          </p:cNvPr>
          <p:cNvGrpSpPr/>
          <p:nvPr/>
        </p:nvGrpSpPr>
        <p:grpSpPr>
          <a:xfrm>
            <a:off x="-4437604" y="3967038"/>
            <a:ext cx="8028675" cy="8028675"/>
            <a:chOff x="0" y="0"/>
            <a:chExt cx="812800" cy="812800"/>
          </a:xfrm>
        </p:grpSpPr>
        <p:sp>
          <p:nvSpPr>
            <p:cNvPr id="6" name="Freeform 6">
              <a:extLst>
                <a:ext uri="{FF2B5EF4-FFF2-40B4-BE49-F238E27FC236}">
                  <a16:creationId xmlns:a16="http://schemas.microsoft.com/office/drawing/2014/main" id="{39821939-6B92-6B2D-F1ED-FB17D26A2D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6C4EC1EE-1155-A5F0-A2F0-044E5ED861A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D1E0DB7B-52FD-0324-C076-23A2258523D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7A64622-120D-9095-74D1-BD81BCF6BA2D}"/>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B5B22FFA-4EA1-32FF-F33D-514031915A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B13DA58-D448-6AC8-C4F5-B4949AC32CE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8">
            <a:extLst>
              <a:ext uri="{FF2B5EF4-FFF2-40B4-BE49-F238E27FC236}">
                <a16:creationId xmlns:a16="http://schemas.microsoft.com/office/drawing/2014/main" id="{507DE265-3B2C-57D2-4FB9-DC2978F33EAA}"/>
              </a:ext>
            </a:extLst>
          </p:cNvPr>
          <p:cNvSpPr txBox="1"/>
          <p:nvPr/>
        </p:nvSpPr>
        <p:spPr>
          <a:xfrm>
            <a:off x="266430" y="184436"/>
            <a:ext cx="15964170" cy="1241750"/>
          </a:xfrm>
          <a:prstGeom prst="rect">
            <a:avLst/>
          </a:prstGeom>
        </p:spPr>
        <p:txBody>
          <a:bodyPr wrap="square" lIns="0" tIns="0" rIns="0" bIns="0" rtlCol="0" anchor="t">
            <a:spAutoFit/>
          </a:bodyPr>
          <a:lstStyle/>
          <a:p>
            <a:pPr>
              <a:lnSpc>
                <a:spcPts val="10500"/>
              </a:lnSpc>
            </a:pPr>
            <a:r>
              <a:rPr lang="en-US" sz="6600" b="1">
                <a:solidFill>
                  <a:srgbClr val="2E3A44"/>
                </a:solidFill>
                <a:latin typeface="Nirand Bold"/>
                <a:cs typeface="Nirand Bold"/>
                <a:sym typeface="Nirand Bold"/>
              </a:rPr>
              <a:t>User Personas: The Button Smasher</a:t>
            </a:r>
            <a:endParaRPr lang="en-US" sz="1400"/>
          </a:p>
        </p:txBody>
      </p:sp>
      <p:sp>
        <p:nvSpPr>
          <p:cNvPr id="15" name="TextBox 14">
            <a:extLst>
              <a:ext uri="{FF2B5EF4-FFF2-40B4-BE49-F238E27FC236}">
                <a16:creationId xmlns:a16="http://schemas.microsoft.com/office/drawing/2014/main" id="{3A337FDC-4F45-586A-7EF5-7C5429A76B52}"/>
              </a:ext>
            </a:extLst>
          </p:cNvPr>
          <p:cNvSpPr txBox="1"/>
          <p:nvPr/>
        </p:nvSpPr>
        <p:spPr>
          <a:xfrm>
            <a:off x="295004" y="2354173"/>
            <a:ext cx="9763396" cy="6832640"/>
          </a:xfrm>
          <a:prstGeom prst="rect">
            <a:avLst/>
          </a:prstGeom>
          <a:noFill/>
        </p:spPr>
        <p:txBody>
          <a:bodyPr wrap="square" rtlCol="0">
            <a:spAutoFit/>
          </a:bodyPr>
          <a:lstStyle/>
          <a:p>
            <a:r>
              <a:rPr lang="en-US" sz="2000" b="1"/>
              <a:t>Name: </a:t>
            </a:r>
            <a:r>
              <a:rPr lang="en-US" sz="2000"/>
              <a:t>Jordan Carter</a:t>
            </a:r>
          </a:p>
          <a:p>
            <a:r>
              <a:rPr lang="en-US" sz="2000" b="1"/>
              <a:t>Age: </a:t>
            </a:r>
            <a:r>
              <a:rPr lang="en-US" sz="2000"/>
              <a:t>19</a:t>
            </a:r>
          </a:p>
          <a:p>
            <a:r>
              <a:rPr lang="en-US" sz="2000" b="1"/>
              <a:t>Gender: </a:t>
            </a:r>
            <a:r>
              <a:rPr lang="en-US" sz="2000"/>
              <a:t>Male</a:t>
            </a:r>
          </a:p>
          <a:p>
            <a:r>
              <a:rPr lang="en-US" sz="2000" b="1"/>
              <a:t>Occupation: </a:t>
            </a:r>
            <a:r>
              <a:rPr lang="en-US" sz="2000"/>
              <a:t>Undergraduate Student and Student Athlete</a:t>
            </a:r>
            <a:endParaRPr lang="en-US" sz="2000" b="1"/>
          </a:p>
          <a:p>
            <a:endParaRPr lang="en-US" sz="2000" b="1"/>
          </a:p>
          <a:p>
            <a:r>
              <a:rPr lang="en-US" sz="2000"/>
              <a:t>Jordan is a busy student athlete studying animation, that loves to play games on his free time on the weekends or while hanging out with friends. He loves playing games with lots of action, unique characters, and prefers to not memorize combos but just plays for fun, not to win. </a:t>
            </a:r>
          </a:p>
          <a:p>
            <a:endParaRPr lang="en-US" sz="2000"/>
          </a:p>
          <a:p>
            <a:r>
              <a:rPr lang="en-US" sz="2000" b="1"/>
              <a:t>Challenges:</a:t>
            </a:r>
          </a:p>
          <a:p>
            <a:pPr marL="285750" indent="-285750">
              <a:buFont typeface="Arial" panose="020B0604020202020204" pitchFamily="34" charset="0"/>
              <a:buChar char="•"/>
            </a:pPr>
            <a:r>
              <a:rPr lang="en-US" sz="2000"/>
              <a:t>Complex inputs and combinations makes gameplay frustrating</a:t>
            </a:r>
          </a:p>
          <a:p>
            <a:pPr marL="285750" indent="-285750">
              <a:buFont typeface="Arial" panose="020B0604020202020204" pitchFamily="34" charset="0"/>
              <a:buChar char="•"/>
            </a:pPr>
            <a:r>
              <a:rPr lang="en-US" sz="2000"/>
              <a:t>Long or vague tutorials</a:t>
            </a:r>
          </a:p>
          <a:p>
            <a:endParaRPr lang="en-US" sz="2000" b="1"/>
          </a:p>
          <a:p>
            <a:r>
              <a:rPr lang="en-US" sz="2000" b="1"/>
              <a:t>Goals:</a:t>
            </a:r>
          </a:p>
          <a:p>
            <a:pPr marL="285750" indent="-285750">
              <a:buFont typeface="Arial" panose="020B0604020202020204" pitchFamily="34" charset="0"/>
              <a:buChar char="•"/>
            </a:pPr>
            <a:r>
              <a:rPr lang="en-US" sz="2000"/>
              <a:t>Have fun solo or with friends</a:t>
            </a:r>
          </a:p>
          <a:p>
            <a:pPr marL="285750" indent="-285750">
              <a:buFont typeface="Arial" panose="020B0604020202020204" pitchFamily="34" charset="0"/>
              <a:buChar char="•"/>
            </a:pPr>
            <a:r>
              <a:rPr lang="en-US" sz="2000"/>
              <a:t>Win occasionally, or access to varying difficulties</a:t>
            </a:r>
          </a:p>
          <a:p>
            <a:pPr marL="285750" indent="-285750">
              <a:buFont typeface="Arial" panose="020B0604020202020204" pitchFamily="34" charset="0"/>
              <a:buChar char="•"/>
            </a:pPr>
            <a:endParaRPr lang="en-US" sz="2000"/>
          </a:p>
          <a:p>
            <a:r>
              <a:rPr lang="en-US" sz="2000" b="1"/>
              <a:t>Quote:</a:t>
            </a:r>
          </a:p>
          <a:p>
            <a:pPr algn="ctr"/>
            <a:r>
              <a:rPr lang="en-US" sz="2000" b="1"/>
              <a:t>“ I skip tutorials, I just want to have mindless fun!”</a:t>
            </a:r>
          </a:p>
          <a:p>
            <a:endParaRPr lang="en-US" sz="2000"/>
          </a:p>
          <a:p>
            <a:endParaRPr lang="en-US"/>
          </a:p>
        </p:txBody>
      </p:sp>
      <p:pic>
        <p:nvPicPr>
          <p:cNvPr id="2050" name="Picture 2" descr="Young adult winning online video games tournament on pc, streaming action gameplay with multiple players on internet. Male gamer playing shooting competition and feeling happy about win.">
            <a:extLst>
              <a:ext uri="{FF2B5EF4-FFF2-40B4-BE49-F238E27FC236}">
                <a16:creationId xmlns:a16="http://schemas.microsoft.com/office/drawing/2014/main" id="{3C0531D9-E40C-107C-7B06-D2638D2F6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5313" y="2823050"/>
            <a:ext cx="6862702" cy="4577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0777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09BFF-AB49-12DE-5405-326ACA15C91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4FD8CBF-4428-5C9E-5263-1FAFA9FF5374}"/>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0C27F73D-C36B-6EE8-957C-52118B4886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48AE9BB3-C6B4-9FDE-8457-84EC7DD9A29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4FDC122-6107-01F4-0512-142A4D4A7434}"/>
              </a:ext>
            </a:extLst>
          </p:cNvPr>
          <p:cNvGrpSpPr/>
          <p:nvPr/>
        </p:nvGrpSpPr>
        <p:grpSpPr>
          <a:xfrm>
            <a:off x="-4437604" y="3967038"/>
            <a:ext cx="8028675" cy="8028675"/>
            <a:chOff x="0" y="0"/>
            <a:chExt cx="812800" cy="812800"/>
          </a:xfrm>
        </p:grpSpPr>
        <p:sp>
          <p:nvSpPr>
            <p:cNvPr id="6" name="Freeform 6">
              <a:extLst>
                <a:ext uri="{FF2B5EF4-FFF2-40B4-BE49-F238E27FC236}">
                  <a16:creationId xmlns:a16="http://schemas.microsoft.com/office/drawing/2014/main" id="{8D75D60D-3BC6-118F-E0AC-303A14510CC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9A8A23E5-73A4-B89D-910E-F2D3FCEBFCE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C2DA5728-64AE-7781-FE9E-7D7E8FD4269E}"/>
              </a:ext>
            </a:extLst>
          </p:cNvPr>
          <p:cNvSpPr/>
          <p:nvPr/>
        </p:nvSpPr>
        <p:spPr>
          <a:xfrm>
            <a:off x="1028700" y="91821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0F1CA2E3-8E70-6D0C-D31A-0D4ABD927527}"/>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47C1A4C8-9599-9C48-4496-9BC5C21A8D6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7A3C499-FE66-F2BF-FFC6-B22002036D1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8">
            <a:extLst>
              <a:ext uri="{FF2B5EF4-FFF2-40B4-BE49-F238E27FC236}">
                <a16:creationId xmlns:a16="http://schemas.microsoft.com/office/drawing/2014/main" id="{62A67D40-D6C1-D9CA-359A-E91163EB3DDA}"/>
              </a:ext>
            </a:extLst>
          </p:cNvPr>
          <p:cNvSpPr txBox="1"/>
          <p:nvPr/>
        </p:nvSpPr>
        <p:spPr>
          <a:xfrm>
            <a:off x="266430" y="184436"/>
            <a:ext cx="14821170" cy="1220719"/>
          </a:xfrm>
          <a:prstGeom prst="rect">
            <a:avLst/>
          </a:prstGeom>
        </p:spPr>
        <p:txBody>
          <a:bodyPr wrap="square" lIns="0" tIns="0" rIns="0" bIns="0" rtlCol="0" anchor="t">
            <a:spAutoFit/>
          </a:bodyPr>
          <a:lstStyle/>
          <a:p>
            <a:pPr>
              <a:lnSpc>
                <a:spcPts val="10500"/>
              </a:lnSpc>
            </a:pPr>
            <a:r>
              <a:rPr lang="en-US" sz="6000" b="1">
                <a:solidFill>
                  <a:srgbClr val="2E3A44"/>
                </a:solidFill>
                <a:latin typeface="Nirand Bold"/>
                <a:cs typeface="Nirand Bold"/>
                <a:sym typeface="Nirand Bold"/>
              </a:rPr>
              <a:t>User Personas: The Lore Explorer</a:t>
            </a:r>
            <a:endParaRPr lang="en-US" sz="1200"/>
          </a:p>
        </p:txBody>
      </p:sp>
      <p:sp>
        <p:nvSpPr>
          <p:cNvPr id="15" name="TextBox 14">
            <a:extLst>
              <a:ext uri="{FF2B5EF4-FFF2-40B4-BE49-F238E27FC236}">
                <a16:creationId xmlns:a16="http://schemas.microsoft.com/office/drawing/2014/main" id="{1BD504FD-24AE-86FA-6E36-09A287B2D0CD}"/>
              </a:ext>
            </a:extLst>
          </p:cNvPr>
          <p:cNvSpPr txBox="1"/>
          <p:nvPr/>
        </p:nvSpPr>
        <p:spPr>
          <a:xfrm>
            <a:off x="419155" y="2019568"/>
            <a:ext cx="9763396" cy="6247864"/>
          </a:xfrm>
          <a:prstGeom prst="rect">
            <a:avLst/>
          </a:prstGeom>
          <a:noFill/>
        </p:spPr>
        <p:txBody>
          <a:bodyPr wrap="square" rtlCol="0">
            <a:spAutoFit/>
          </a:bodyPr>
          <a:lstStyle/>
          <a:p>
            <a:r>
              <a:rPr lang="en-US" sz="2000" b="1"/>
              <a:t>Name: </a:t>
            </a:r>
            <a:r>
              <a:rPr lang="en-US" sz="2000"/>
              <a:t>Dylan Taylor</a:t>
            </a:r>
          </a:p>
          <a:p>
            <a:r>
              <a:rPr lang="en-US" sz="2000" b="1"/>
              <a:t>Age: </a:t>
            </a:r>
            <a:r>
              <a:rPr lang="en-US" sz="2000"/>
              <a:t>12</a:t>
            </a:r>
          </a:p>
          <a:p>
            <a:r>
              <a:rPr lang="en-US" sz="2000" b="1"/>
              <a:t>Gender: </a:t>
            </a:r>
            <a:r>
              <a:rPr lang="en-US" sz="2000"/>
              <a:t>Male</a:t>
            </a:r>
          </a:p>
          <a:p>
            <a:r>
              <a:rPr lang="en-US" sz="2000" b="1"/>
              <a:t>Occupation: </a:t>
            </a:r>
            <a:r>
              <a:rPr lang="en-US" sz="2000"/>
              <a:t>Middle School Student</a:t>
            </a:r>
          </a:p>
          <a:p>
            <a:endParaRPr lang="en-US" sz="2000"/>
          </a:p>
          <a:p>
            <a:r>
              <a:rPr lang="en-US" sz="2000"/>
              <a:t>Dylan enjoys playing games after school with friends, family, or by himself, and specifically enjoys games that are action-packed. He seeks out games that provide a good challenge, has lots of enemies, and visual stimulation. He aspires to be a game developer and enjoys learning how to make 2D games during his video game club meetings.</a:t>
            </a:r>
          </a:p>
          <a:p>
            <a:endParaRPr lang="en-US" sz="2000"/>
          </a:p>
          <a:p>
            <a:r>
              <a:rPr lang="en-US" sz="2000" b="1"/>
              <a:t>Challenges:</a:t>
            </a:r>
          </a:p>
          <a:p>
            <a:pPr marL="342900" indent="-342900">
              <a:buFont typeface="Arial" panose="020B0604020202020204" pitchFamily="34" charset="0"/>
              <a:buChar char="•"/>
            </a:pPr>
            <a:r>
              <a:rPr lang="en-US" sz="2000"/>
              <a:t>Hard to find action games that are age appropriate</a:t>
            </a:r>
          </a:p>
          <a:p>
            <a:pPr marL="342900" indent="-342900">
              <a:buFont typeface="Arial" panose="020B0604020202020204" pitchFamily="34" charset="0"/>
              <a:buChar char="•"/>
            </a:pPr>
            <a:r>
              <a:rPr lang="en-US" sz="2000"/>
              <a:t>Wants games with unique enemies</a:t>
            </a:r>
          </a:p>
          <a:p>
            <a:pPr marL="342900" indent="-342900">
              <a:buFont typeface="Arial" panose="020B0604020202020204" pitchFamily="34" charset="0"/>
              <a:buChar char="•"/>
            </a:pPr>
            <a:r>
              <a:rPr lang="en-US" sz="2000"/>
              <a:t>Prefers 2D games</a:t>
            </a:r>
          </a:p>
          <a:p>
            <a:r>
              <a:rPr lang="en-US" sz="2000" b="1"/>
              <a:t>Goals:</a:t>
            </a:r>
          </a:p>
          <a:p>
            <a:pPr marL="285750" indent="-285750">
              <a:buFont typeface="Arial" panose="020B0604020202020204" pitchFamily="34" charset="0"/>
              <a:buChar char="•"/>
            </a:pPr>
            <a:r>
              <a:rPr lang="en-US" sz="2000"/>
              <a:t>Wants to explore new action games</a:t>
            </a:r>
          </a:p>
          <a:p>
            <a:pPr marL="285750" indent="-285750">
              <a:buFont typeface="Arial" panose="020B0604020202020204" pitchFamily="34" charset="0"/>
              <a:buChar char="•"/>
            </a:pPr>
            <a:r>
              <a:rPr lang="en-US" sz="2000"/>
              <a:t>Age-appropriate game with visual stimulation</a:t>
            </a:r>
          </a:p>
          <a:p>
            <a:pPr marL="285750" indent="-285750">
              <a:buFont typeface="Arial" panose="020B0604020202020204" pitchFamily="34" charset="0"/>
              <a:buChar char="•"/>
            </a:pPr>
            <a:endParaRPr lang="en-US" sz="2000"/>
          </a:p>
          <a:p>
            <a:r>
              <a:rPr lang="en-US" sz="2000" b="1"/>
              <a:t>Quote:</a:t>
            </a:r>
          </a:p>
          <a:p>
            <a:pPr algn="ctr"/>
            <a:r>
              <a:rPr lang="en-US" sz="2000" b="1"/>
              <a:t>“ Games are fun when they have a lot of action!”</a:t>
            </a:r>
          </a:p>
        </p:txBody>
      </p:sp>
      <p:pic>
        <p:nvPicPr>
          <p:cNvPr id="3074" name="Picture 2" descr="Professional gamer with headset playing or streaming online video games on computer. Children addicted to entertainment industry.">
            <a:extLst>
              <a:ext uri="{FF2B5EF4-FFF2-40B4-BE49-F238E27FC236}">
                <a16:creationId xmlns:a16="http://schemas.microsoft.com/office/drawing/2014/main" id="{A09595E6-52B8-6FB9-CAE7-D1DC6521F0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7825" y="2596586"/>
            <a:ext cx="6306201" cy="4206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49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E536-5B31-CBB1-20DB-7E0E253898A5}"/>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22E164C6-EEE4-0E74-28E6-02F7F9A9E93B}"/>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a:extLst>
              <a:ext uri="{FF2B5EF4-FFF2-40B4-BE49-F238E27FC236}">
                <a16:creationId xmlns:a16="http://schemas.microsoft.com/office/drawing/2014/main" id="{7AB6A474-A361-4ABA-3756-3527DC77AB7E}"/>
              </a:ext>
            </a:extLst>
          </p:cNvPr>
          <p:cNvSpPr txBox="1"/>
          <p:nvPr/>
        </p:nvSpPr>
        <p:spPr>
          <a:xfrm>
            <a:off x="1035639" y="2271789"/>
            <a:ext cx="6583773"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Move Forward: Player advances toward the opponent in the right direction using the "D" or "Right" arrow keys</a:t>
            </a:r>
            <a:endParaRPr lang="en-US"/>
          </a:p>
          <a:p>
            <a:pPr marL="280670" lvl="1">
              <a:lnSpc>
                <a:spcPts val="3640"/>
              </a:lnSpc>
            </a:pPr>
            <a:endParaRPr lang="en-US" sz="2600">
              <a:solidFill>
                <a:srgbClr val="2E3A44"/>
              </a:solidFill>
              <a:latin typeface="Nunito"/>
            </a:endParaRPr>
          </a:p>
          <a:p>
            <a:pPr marL="560705" lvl="1" indent="-280035">
              <a:lnSpc>
                <a:spcPts val="3640"/>
              </a:lnSpc>
              <a:buFont typeface="Arial"/>
              <a:buChar char="•"/>
            </a:pPr>
            <a:r>
              <a:rPr lang="en-US" sz="2600">
                <a:solidFill>
                  <a:srgbClr val="2E3A44"/>
                </a:solidFill>
                <a:latin typeface="Nunito"/>
              </a:rPr>
              <a:t>More Backward: Player retreats from opponent towards the left direction using the "A" or "Left" arrow keys</a:t>
            </a:r>
          </a:p>
        </p:txBody>
      </p:sp>
      <p:sp>
        <p:nvSpPr>
          <p:cNvPr id="14" name="TextBox 14">
            <a:extLst>
              <a:ext uri="{FF2B5EF4-FFF2-40B4-BE49-F238E27FC236}">
                <a16:creationId xmlns:a16="http://schemas.microsoft.com/office/drawing/2014/main" id="{904B2C38-1953-CDCC-FA6D-0EAD55339F07}"/>
              </a:ext>
            </a:extLst>
          </p:cNvPr>
          <p:cNvSpPr txBox="1"/>
          <p:nvPr/>
        </p:nvSpPr>
        <p:spPr>
          <a:xfrm>
            <a:off x="1035639" y="6886638"/>
            <a:ext cx="6583773" cy="1831271"/>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rPr>
              <a:t>Defensive action intended to reduce or prevent incoming damage from attacks</a:t>
            </a:r>
          </a:p>
          <a:p>
            <a:pPr marL="560705" lvl="1" indent="-280035">
              <a:lnSpc>
                <a:spcPts val="3640"/>
              </a:lnSpc>
              <a:buFont typeface="Arial"/>
              <a:buChar char="•"/>
            </a:pPr>
            <a:r>
              <a:rPr lang="en-US" sz="2600">
                <a:solidFill>
                  <a:srgbClr val="2E3A44"/>
                </a:solidFill>
                <a:latin typeface="Nunito"/>
              </a:rPr>
              <a:t>Use the Right Mouse Button (RMB) to block attacks</a:t>
            </a:r>
          </a:p>
        </p:txBody>
      </p:sp>
      <p:sp>
        <p:nvSpPr>
          <p:cNvPr id="15" name="TextBox 15">
            <a:extLst>
              <a:ext uri="{FF2B5EF4-FFF2-40B4-BE49-F238E27FC236}">
                <a16:creationId xmlns:a16="http://schemas.microsoft.com/office/drawing/2014/main" id="{C1F1DFBF-61CB-8570-3EA0-4AD8F7F400FB}"/>
              </a:ext>
            </a:extLst>
          </p:cNvPr>
          <p:cNvSpPr txBox="1"/>
          <p:nvPr/>
        </p:nvSpPr>
        <p:spPr>
          <a:xfrm>
            <a:off x="9525590" y="2571826"/>
            <a:ext cx="7555323" cy="2754600"/>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rPr>
              <a:t>Player can do a single or double jump mid-air to evade their opponent's attacks</a:t>
            </a:r>
          </a:p>
          <a:p>
            <a:pPr marL="560705" lvl="1" indent="-280035">
              <a:lnSpc>
                <a:spcPts val="3640"/>
              </a:lnSpc>
              <a:buFont typeface="Arial"/>
              <a:buChar char="•"/>
            </a:pPr>
            <a:r>
              <a:rPr lang="en-US" sz="2600">
                <a:solidFill>
                  <a:srgbClr val="2E3A44"/>
                </a:solidFill>
                <a:latin typeface="Nunito"/>
              </a:rPr>
              <a:t>Uses the spacebar to do single or double jumps</a:t>
            </a:r>
          </a:p>
          <a:p>
            <a:pPr marL="1017905" lvl="2" indent="-280035">
              <a:lnSpc>
                <a:spcPts val="3640"/>
              </a:lnSpc>
              <a:buFont typeface="Wingdings"/>
              <a:buChar char="§"/>
            </a:pPr>
            <a:r>
              <a:rPr lang="en-US" sz="2600">
                <a:solidFill>
                  <a:srgbClr val="2E3A44"/>
                </a:solidFill>
                <a:latin typeface="Nunito"/>
              </a:rPr>
              <a:t>Double tap the spacebar to do a double jump</a:t>
            </a:r>
          </a:p>
        </p:txBody>
      </p:sp>
      <p:sp>
        <p:nvSpPr>
          <p:cNvPr id="16" name="TextBox 16">
            <a:extLst>
              <a:ext uri="{FF2B5EF4-FFF2-40B4-BE49-F238E27FC236}">
                <a16:creationId xmlns:a16="http://schemas.microsoft.com/office/drawing/2014/main" id="{60920B47-9CC1-D849-9B16-6A86D9E84102}"/>
              </a:ext>
            </a:extLst>
          </p:cNvPr>
          <p:cNvSpPr txBox="1"/>
          <p:nvPr/>
        </p:nvSpPr>
        <p:spPr>
          <a:xfrm>
            <a:off x="9296990" y="6658038"/>
            <a:ext cx="6583773" cy="229293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Basic melee attack that deals damage when the player's hitbox collides with the opponent</a:t>
            </a:r>
          </a:p>
          <a:p>
            <a:pPr marL="560705" lvl="1" indent="-280035">
              <a:lnSpc>
                <a:spcPts val="3640"/>
              </a:lnSpc>
              <a:buFont typeface="Arial"/>
              <a:buChar char="•"/>
            </a:pPr>
            <a:r>
              <a:rPr lang="en-US" sz="2600">
                <a:solidFill>
                  <a:srgbClr val="2E3A44"/>
                </a:solidFill>
                <a:latin typeface="Nunito"/>
              </a:rPr>
              <a:t>Use the Left Mouse Button (LMB) to throw a punch</a:t>
            </a:r>
          </a:p>
        </p:txBody>
      </p:sp>
      <p:sp>
        <p:nvSpPr>
          <p:cNvPr id="18" name="TextBox 18">
            <a:extLst>
              <a:ext uri="{FF2B5EF4-FFF2-40B4-BE49-F238E27FC236}">
                <a16:creationId xmlns:a16="http://schemas.microsoft.com/office/drawing/2014/main" id="{29D0C35B-E2C3-1CB1-2C7A-06943AB4A76E}"/>
              </a:ext>
            </a:extLst>
          </p:cNvPr>
          <p:cNvSpPr txBox="1"/>
          <p:nvPr/>
        </p:nvSpPr>
        <p:spPr>
          <a:xfrm>
            <a:off x="1207235" y="184436"/>
            <a:ext cx="15872016"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Inputs </a:t>
            </a:r>
            <a:endParaRPr lang="en-US"/>
          </a:p>
        </p:txBody>
      </p:sp>
      <p:sp>
        <p:nvSpPr>
          <p:cNvPr id="19" name="TextBox 18">
            <a:extLst>
              <a:ext uri="{FF2B5EF4-FFF2-40B4-BE49-F238E27FC236}">
                <a16:creationId xmlns:a16="http://schemas.microsoft.com/office/drawing/2014/main" id="{090DA2AB-6579-89D0-E85A-5A21D25F1F94}"/>
              </a:ext>
            </a:extLst>
          </p:cNvPr>
          <p:cNvSpPr txBox="1"/>
          <p:nvPr/>
        </p:nvSpPr>
        <p:spPr>
          <a:xfrm>
            <a:off x="1943099" y="14573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Horizontal Movement:</a:t>
            </a:r>
            <a:endParaRPr lang="en-US"/>
          </a:p>
        </p:txBody>
      </p:sp>
      <p:sp>
        <p:nvSpPr>
          <p:cNvPr id="20" name="TextBox 19">
            <a:extLst>
              <a:ext uri="{FF2B5EF4-FFF2-40B4-BE49-F238E27FC236}">
                <a16:creationId xmlns:a16="http://schemas.microsoft.com/office/drawing/2014/main" id="{EEE723C6-DAC3-AAE4-82A5-8266884A8377}"/>
              </a:ext>
            </a:extLst>
          </p:cNvPr>
          <p:cNvSpPr txBox="1"/>
          <p:nvPr/>
        </p:nvSpPr>
        <p:spPr>
          <a:xfrm>
            <a:off x="10815635" y="5943600"/>
            <a:ext cx="354330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Attacks: Punch</a:t>
            </a:r>
          </a:p>
        </p:txBody>
      </p:sp>
      <p:sp>
        <p:nvSpPr>
          <p:cNvPr id="21" name="TextBox 20">
            <a:extLst>
              <a:ext uri="{FF2B5EF4-FFF2-40B4-BE49-F238E27FC236}">
                <a16:creationId xmlns:a16="http://schemas.microsoft.com/office/drawing/2014/main" id="{7A5CB7EC-7444-AC36-A91F-F9A924040372}"/>
              </a:ext>
            </a:extLst>
          </p:cNvPr>
          <p:cNvSpPr txBox="1"/>
          <p:nvPr/>
        </p:nvSpPr>
        <p:spPr>
          <a:xfrm>
            <a:off x="10844210" y="14573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lgn="ctr"/>
            <a:r>
              <a:rPr lang="en-US" sz="3200" b="1">
                <a:solidFill>
                  <a:schemeClr val="tx1">
                    <a:lumMod val="65000"/>
                    <a:lumOff val="35000"/>
                  </a:schemeClr>
                </a:solidFill>
                <a:latin typeface="Nirand Bold"/>
                <a:cs typeface="Nirand Bold"/>
              </a:rPr>
              <a:t>Vertical Movement:</a:t>
            </a:r>
            <a:endParaRPr lang="en-US"/>
          </a:p>
        </p:txBody>
      </p:sp>
      <p:sp>
        <p:nvSpPr>
          <p:cNvPr id="22" name="TextBox 21">
            <a:extLst>
              <a:ext uri="{FF2B5EF4-FFF2-40B4-BE49-F238E27FC236}">
                <a16:creationId xmlns:a16="http://schemas.microsoft.com/office/drawing/2014/main" id="{46B55350-F271-AA85-A7FB-5A09B4C17267}"/>
              </a:ext>
            </a:extLst>
          </p:cNvPr>
          <p:cNvSpPr txBox="1"/>
          <p:nvPr/>
        </p:nvSpPr>
        <p:spPr>
          <a:xfrm>
            <a:off x="1943098" y="5943600"/>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Blocking:</a:t>
            </a:r>
          </a:p>
        </p:txBody>
      </p:sp>
      <p:grpSp>
        <p:nvGrpSpPr>
          <p:cNvPr id="26" name="Group 5">
            <a:extLst>
              <a:ext uri="{FF2B5EF4-FFF2-40B4-BE49-F238E27FC236}">
                <a16:creationId xmlns:a16="http://schemas.microsoft.com/office/drawing/2014/main" id="{05B9DBCA-4C31-4E1C-B70F-9E1CCAB391E2}"/>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7106B5AC-9D9D-DE47-DFE5-656D3A9384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D81F3E74-841D-1264-EE61-38E329A683C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9A271EA2-9535-E9C7-C1DD-48863F803B5C}"/>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8D89B9DA-5729-E59B-374E-88F089B08E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89B0114E-5667-111F-E93A-454267462AE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2164374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3C2DD-21D0-9995-7C87-E2A127C90ED7}"/>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2087224F-2887-5196-3960-57523DFA4906}"/>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a:extLst>
              <a:ext uri="{FF2B5EF4-FFF2-40B4-BE49-F238E27FC236}">
                <a16:creationId xmlns:a16="http://schemas.microsoft.com/office/drawing/2014/main" id="{BAF363E7-BBEB-4A8F-DFB7-35185599749C}"/>
              </a:ext>
            </a:extLst>
          </p:cNvPr>
          <p:cNvSpPr txBox="1"/>
          <p:nvPr/>
        </p:nvSpPr>
        <p:spPr>
          <a:xfrm>
            <a:off x="1035639" y="2800426"/>
            <a:ext cx="7526748" cy="3900683"/>
          </a:xfrm>
          <a:prstGeom prst="rect">
            <a:avLst/>
          </a:prstGeom>
        </p:spPr>
        <p:txBody>
          <a:bodyPr wrap="square" lIns="0" tIns="0" rIns="0" bIns="0" rtlCol="0" anchor="t">
            <a:spAutoFit/>
          </a:bodyPr>
          <a:lstStyle/>
          <a:p>
            <a:pPr marL="560705" lvl="1" indent="-280035">
              <a:lnSpc>
                <a:spcPct val="200000"/>
              </a:lnSpc>
              <a:buFont typeface="Arial"/>
              <a:buChar char="•"/>
            </a:pPr>
            <a:r>
              <a:rPr lang="en-US" sz="2600">
                <a:solidFill>
                  <a:srgbClr val="2E3A44"/>
                </a:solidFill>
                <a:latin typeface="Nunito"/>
                <a:sym typeface="Nunito"/>
              </a:rPr>
              <a:t>Triggered once an attack connects.</a:t>
            </a:r>
            <a:endParaRPr lang="en-US">
              <a:solidFill>
                <a:srgbClr val="000000"/>
              </a:solidFill>
              <a:latin typeface="Corbel" panose="020B0503020204020204"/>
            </a:endParaRPr>
          </a:p>
          <a:p>
            <a:pPr marL="560705" lvl="1" indent="-280035">
              <a:lnSpc>
                <a:spcPct val="200000"/>
              </a:lnSpc>
              <a:buFont typeface="Arial"/>
              <a:buChar char="•"/>
            </a:pPr>
            <a:r>
              <a:rPr lang="en-US" sz="2600">
                <a:solidFill>
                  <a:srgbClr val="2E3A44"/>
                </a:solidFill>
                <a:latin typeface="Nunito"/>
              </a:rPr>
              <a:t>Character takes damage </a:t>
            </a:r>
          </a:p>
          <a:p>
            <a:pPr marL="560705" lvl="1" indent="-280035">
              <a:lnSpc>
                <a:spcPct val="200000"/>
              </a:lnSpc>
              <a:buFont typeface="Arial"/>
              <a:buChar char="•"/>
            </a:pPr>
            <a:r>
              <a:rPr lang="en-US" sz="2600">
                <a:solidFill>
                  <a:srgbClr val="2E3A44"/>
                </a:solidFill>
                <a:latin typeface="Nunito"/>
              </a:rPr>
              <a:t>May briefly enter a hit reaction state once hit</a:t>
            </a:r>
            <a:endParaRPr lang="en-US"/>
          </a:p>
          <a:p>
            <a:pPr marL="1017905" lvl="2" indent="-280035">
              <a:lnSpc>
                <a:spcPct val="200000"/>
              </a:lnSpc>
              <a:buFont typeface="Wingdings"/>
              <a:buChar char="§"/>
            </a:pPr>
            <a:r>
              <a:rPr lang="en-US" sz="2600">
                <a:solidFill>
                  <a:srgbClr val="2E3A44"/>
                </a:solidFill>
                <a:latin typeface="Nunito"/>
              </a:rPr>
              <a:t>Each attack deals varying levels of damage</a:t>
            </a:r>
          </a:p>
          <a:p>
            <a:pPr marL="1475105" lvl="3" indent="-280035">
              <a:lnSpc>
                <a:spcPct val="200000"/>
              </a:lnSpc>
              <a:buFont typeface="Arial"/>
              <a:buChar char="•"/>
            </a:pPr>
            <a:r>
              <a:rPr lang="en-US" sz="2600">
                <a:solidFill>
                  <a:srgbClr val="2E3A44"/>
                </a:solidFill>
                <a:latin typeface="Nunito"/>
              </a:rPr>
              <a:t>Ex. Punch deals 10 damage </a:t>
            </a:r>
            <a:endParaRPr lang="en-US"/>
          </a:p>
        </p:txBody>
      </p:sp>
      <p:sp>
        <p:nvSpPr>
          <p:cNvPr id="15" name="TextBox 15">
            <a:extLst>
              <a:ext uri="{FF2B5EF4-FFF2-40B4-BE49-F238E27FC236}">
                <a16:creationId xmlns:a16="http://schemas.microsoft.com/office/drawing/2014/main" id="{5D7EFA8D-0C03-8608-97BF-60714396651A}"/>
              </a:ext>
            </a:extLst>
          </p:cNvPr>
          <p:cNvSpPr txBox="1"/>
          <p:nvPr/>
        </p:nvSpPr>
        <p:spPr>
          <a:xfrm>
            <a:off x="9525590" y="2743276"/>
            <a:ext cx="7412448" cy="2300630"/>
          </a:xfrm>
          <a:prstGeom prst="rect">
            <a:avLst/>
          </a:prstGeom>
        </p:spPr>
        <p:txBody>
          <a:bodyPr wrap="square" lIns="0" tIns="0" rIns="0" bIns="0" rtlCol="0" anchor="t">
            <a:spAutoFit/>
          </a:bodyPr>
          <a:lstStyle/>
          <a:p>
            <a:pPr marL="560705" lvl="1" indent="-280035">
              <a:lnSpc>
                <a:spcPct val="200000"/>
              </a:lnSpc>
              <a:buFont typeface="Arial"/>
              <a:buChar char="•"/>
            </a:pPr>
            <a:r>
              <a:rPr lang="en-US" sz="2600">
                <a:solidFill>
                  <a:srgbClr val="2E3A44"/>
                </a:solidFill>
                <a:latin typeface="Nunito"/>
              </a:rPr>
              <a:t>Occurs once a fighter's health reaches 0</a:t>
            </a:r>
            <a:endParaRPr lang="en-US"/>
          </a:p>
          <a:p>
            <a:pPr marL="560705" lvl="1" indent="-280035">
              <a:lnSpc>
                <a:spcPct val="200000"/>
              </a:lnSpc>
              <a:buFont typeface="Arial"/>
              <a:buChar char="•"/>
            </a:pPr>
            <a:r>
              <a:rPr lang="en-US" sz="2600">
                <a:solidFill>
                  <a:srgbClr val="2E3A44"/>
                </a:solidFill>
                <a:latin typeface="Nunito"/>
              </a:rPr>
              <a:t>Ends Match</a:t>
            </a:r>
          </a:p>
          <a:p>
            <a:pPr marL="560705" lvl="1" indent="-280035">
              <a:lnSpc>
                <a:spcPct val="200000"/>
              </a:lnSpc>
              <a:buFont typeface="Arial"/>
              <a:buChar char="•"/>
            </a:pPr>
            <a:r>
              <a:rPr lang="en-US" sz="2600">
                <a:solidFill>
                  <a:srgbClr val="2E3A44"/>
                </a:solidFill>
                <a:latin typeface="Nunito"/>
              </a:rPr>
              <a:t>Game transitions to End-Game State</a:t>
            </a:r>
          </a:p>
        </p:txBody>
      </p:sp>
      <p:sp>
        <p:nvSpPr>
          <p:cNvPr id="18" name="TextBox 18">
            <a:extLst>
              <a:ext uri="{FF2B5EF4-FFF2-40B4-BE49-F238E27FC236}">
                <a16:creationId xmlns:a16="http://schemas.microsoft.com/office/drawing/2014/main" id="{DEA0CBEA-DEB2-E58A-00AA-DC8280933DEC}"/>
              </a:ext>
            </a:extLst>
          </p:cNvPr>
          <p:cNvSpPr txBox="1"/>
          <p:nvPr/>
        </p:nvSpPr>
        <p:spPr>
          <a:xfrm>
            <a:off x="1207235" y="184436"/>
            <a:ext cx="15872016"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Reactive Actions</a:t>
            </a:r>
            <a:endParaRPr lang="en-US"/>
          </a:p>
        </p:txBody>
      </p:sp>
      <p:sp>
        <p:nvSpPr>
          <p:cNvPr id="19" name="TextBox 18">
            <a:extLst>
              <a:ext uri="{FF2B5EF4-FFF2-40B4-BE49-F238E27FC236}">
                <a16:creationId xmlns:a16="http://schemas.microsoft.com/office/drawing/2014/main" id="{5EF3E32D-280E-08F0-66E0-FD8CFF9AB538}"/>
              </a:ext>
            </a:extLst>
          </p:cNvPr>
          <p:cNvSpPr txBox="1"/>
          <p:nvPr/>
        </p:nvSpPr>
        <p:spPr>
          <a:xfrm>
            <a:off x="1943099" y="16859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Being Hit</a:t>
            </a:r>
            <a:endParaRPr lang="en-US"/>
          </a:p>
        </p:txBody>
      </p:sp>
      <p:sp>
        <p:nvSpPr>
          <p:cNvPr id="21" name="TextBox 20">
            <a:extLst>
              <a:ext uri="{FF2B5EF4-FFF2-40B4-BE49-F238E27FC236}">
                <a16:creationId xmlns:a16="http://schemas.microsoft.com/office/drawing/2014/main" id="{851BB4D1-C672-6902-FD4C-5B5449A5A461}"/>
              </a:ext>
            </a:extLst>
          </p:cNvPr>
          <p:cNvSpPr txBox="1"/>
          <p:nvPr/>
        </p:nvSpPr>
        <p:spPr>
          <a:xfrm>
            <a:off x="10844210" y="16859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Dying</a:t>
            </a:r>
            <a:endParaRPr lang="en-US">
              <a:solidFill>
                <a:schemeClr val="tx1">
                  <a:lumMod val="65000"/>
                  <a:lumOff val="35000"/>
                </a:schemeClr>
              </a:solidFill>
            </a:endParaRPr>
          </a:p>
        </p:txBody>
      </p:sp>
      <p:grpSp>
        <p:nvGrpSpPr>
          <p:cNvPr id="26" name="Group 5">
            <a:extLst>
              <a:ext uri="{FF2B5EF4-FFF2-40B4-BE49-F238E27FC236}">
                <a16:creationId xmlns:a16="http://schemas.microsoft.com/office/drawing/2014/main" id="{0198AB10-B7B0-C7A9-2E97-C6627E9F0C92}"/>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8A1FB4FE-9DC7-DE1D-7EC8-9E78C2103B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86B94B56-9B94-69F4-8623-F093BF2DD72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30E60DAD-3B7B-3D08-A7DC-C54BD1409858}"/>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7DE0786F-62E2-1E6D-E8F8-A3E19AD6777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F4F486B7-72E8-6481-32D9-B7867743A54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2300040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5196" y="-1345627"/>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428425" y="7667805"/>
            <a:ext cx="8028675" cy="802867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p:cNvGrpSpPr/>
          <p:nvPr/>
        </p:nvGrpSpPr>
        <p:grpSpPr>
          <a:xfrm>
            <a:off x="13276243" y="-767852"/>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ea typeface="Nirand Bold"/>
                <a:cs typeface="Nirand Bold"/>
                <a:sym typeface="Nirand Bold"/>
              </a:rPr>
              <a:t>Technologies</a:t>
            </a:r>
            <a:endParaRPr lang="en-US"/>
          </a:p>
        </p:txBody>
      </p:sp>
      <p:pic>
        <p:nvPicPr>
          <p:cNvPr id="26" name="Picture 25" descr="A black and grey cube with white squares&#10;&#10;AI-generated content may be incorrect.">
            <a:extLst>
              <a:ext uri="{FF2B5EF4-FFF2-40B4-BE49-F238E27FC236}">
                <a16:creationId xmlns:a16="http://schemas.microsoft.com/office/drawing/2014/main" id="{8520616F-AC34-3F6C-4385-4954BB76D341}"/>
              </a:ext>
            </a:extLst>
          </p:cNvPr>
          <p:cNvPicPr>
            <a:picLocks noChangeAspect="1"/>
          </p:cNvPicPr>
          <p:nvPr/>
        </p:nvPicPr>
        <p:blipFill>
          <a:blip r:embed="rId2"/>
          <a:stretch>
            <a:fillRect/>
          </a:stretch>
        </p:blipFill>
        <p:spPr>
          <a:xfrm>
            <a:off x="814388" y="2000250"/>
            <a:ext cx="2500313" cy="2500313"/>
          </a:xfrm>
          <a:prstGeom prst="rect">
            <a:avLst/>
          </a:prstGeom>
        </p:spPr>
      </p:pic>
      <p:sp>
        <p:nvSpPr>
          <p:cNvPr id="27" name="TextBox 26">
            <a:extLst>
              <a:ext uri="{FF2B5EF4-FFF2-40B4-BE49-F238E27FC236}">
                <a16:creationId xmlns:a16="http://schemas.microsoft.com/office/drawing/2014/main" id="{9F0F08C9-19D0-7672-C176-28A17616F5C6}"/>
              </a:ext>
            </a:extLst>
          </p:cNvPr>
          <p:cNvSpPr txBox="1"/>
          <p:nvPr/>
        </p:nvSpPr>
        <p:spPr>
          <a:xfrm>
            <a:off x="3314700" y="2900361"/>
            <a:ext cx="64579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Unity 6.3 LTS</a:t>
            </a:r>
          </a:p>
        </p:txBody>
      </p:sp>
      <p:pic>
        <p:nvPicPr>
          <p:cNvPr id="28" name="Picture 27" descr="A logo of a company&#10;&#10;AI-generated content may be incorrect.">
            <a:extLst>
              <a:ext uri="{FF2B5EF4-FFF2-40B4-BE49-F238E27FC236}">
                <a16:creationId xmlns:a16="http://schemas.microsoft.com/office/drawing/2014/main" id="{9ABFAF19-8E80-9A3D-0DA7-06F90D543AD2}"/>
              </a:ext>
            </a:extLst>
          </p:cNvPr>
          <p:cNvPicPr>
            <a:picLocks noChangeAspect="1"/>
          </p:cNvPicPr>
          <p:nvPr/>
        </p:nvPicPr>
        <p:blipFill>
          <a:blip r:embed="rId3"/>
          <a:stretch>
            <a:fillRect/>
          </a:stretch>
        </p:blipFill>
        <p:spPr>
          <a:xfrm>
            <a:off x="1028700" y="4843463"/>
            <a:ext cx="2100264" cy="2271713"/>
          </a:xfrm>
          <a:prstGeom prst="rect">
            <a:avLst/>
          </a:prstGeom>
        </p:spPr>
      </p:pic>
      <p:sp>
        <p:nvSpPr>
          <p:cNvPr id="29" name="TextBox 28">
            <a:extLst>
              <a:ext uri="{FF2B5EF4-FFF2-40B4-BE49-F238E27FC236}">
                <a16:creationId xmlns:a16="http://schemas.microsoft.com/office/drawing/2014/main" id="{3245905D-36D1-234D-403B-4B0E735CE6E0}"/>
              </a:ext>
            </a:extLst>
          </p:cNvPr>
          <p:cNvSpPr txBox="1"/>
          <p:nvPr/>
        </p:nvSpPr>
        <p:spPr>
          <a:xfrm>
            <a:off x="3314700" y="5629274"/>
            <a:ext cx="64579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C# Programming</a:t>
            </a:r>
          </a:p>
        </p:txBody>
      </p:sp>
      <p:pic>
        <p:nvPicPr>
          <p:cNvPr id="31" name="Picture 30" descr="A red box with white stripe&#10;&#10;AI-generated content may be incorrect.">
            <a:extLst>
              <a:ext uri="{FF2B5EF4-FFF2-40B4-BE49-F238E27FC236}">
                <a16:creationId xmlns:a16="http://schemas.microsoft.com/office/drawing/2014/main" id="{0E3276A5-F7F8-3054-3088-10524DAF5E6B}"/>
              </a:ext>
            </a:extLst>
          </p:cNvPr>
          <p:cNvPicPr>
            <a:picLocks noChangeAspect="1"/>
          </p:cNvPicPr>
          <p:nvPr/>
        </p:nvPicPr>
        <p:blipFill>
          <a:blip r:embed="rId4"/>
          <a:srcRect l="7487" t="9172" r="6417" b="9091"/>
          <a:stretch>
            <a:fillRect/>
          </a:stretch>
        </p:blipFill>
        <p:spPr>
          <a:xfrm>
            <a:off x="8639175" y="2169098"/>
            <a:ext cx="2296188" cy="2179937"/>
          </a:xfrm>
          <a:prstGeom prst="rect">
            <a:avLst/>
          </a:prstGeom>
        </p:spPr>
      </p:pic>
      <p:sp>
        <p:nvSpPr>
          <p:cNvPr id="32" name="TextBox 31">
            <a:extLst>
              <a:ext uri="{FF2B5EF4-FFF2-40B4-BE49-F238E27FC236}">
                <a16:creationId xmlns:a16="http://schemas.microsoft.com/office/drawing/2014/main" id="{0C469A61-A82B-431D-8E70-903FCBE0D7E6}"/>
              </a:ext>
            </a:extLst>
          </p:cNvPr>
          <p:cNvSpPr txBox="1"/>
          <p:nvPr/>
        </p:nvSpPr>
        <p:spPr>
          <a:xfrm>
            <a:off x="11383617" y="2900361"/>
            <a:ext cx="64579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Git LFS Extension</a:t>
            </a:r>
          </a:p>
        </p:txBody>
      </p:sp>
      <p:sp>
        <p:nvSpPr>
          <p:cNvPr id="34" name="TextBox 33">
            <a:extLst>
              <a:ext uri="{FF2B5EF4-FFF2-40B4-BE49-F238E27FC236}">
                <a16:creationId xmlns:a16="http://schemas.microsoft.com/office/drawing/2014/main" id="{12A5C436-D7C1-02E5-4646-02A34822E487}"/>
              </a:ext>
            </a:extLst>
          </p:cNvPr>
          <p:cNvSpPr txBox="1"/>
          <p:nvPr/>
        </p:nvSpPr>
        <p:spPr>
          <a:xfrm>
            <a:off x="11201400" y="5629273"/>
            <a:ext cx="645795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Python </a:t>
            </a:r>
            <a:r>
              <a:rPr lang="en-US" sz="3200">
                <a:solidFill>
                  <a:schemeClr val="tx2"/>
                </a:solidFill>
                <a:latin typeface="Nirand Bold"/>
                <a:cs typeface="Nirand Bold"/>
              </a:rPr>
              <a:t>(for Machine Learning)</a:t>
            </a:r>
          </a:p>
        </p:txBody>
      </p:sp>
      <p:pic>
        <p:nvPicPr>
          <p:cNvPr id="35" name="Picture 34" descr="File:Python-logo-notext.svg - Wikimedia Commons">
            <a:extLst>
              <a:ext uri="{FF2B5EF4-FFF2-40B4-BE49-F238E27FC236}">
                <a16:creationId xmlns:a16="http://schemas.microsoft.com/office/drawing/2014/main" id="{95334DBD-AC1A-6EDF-F63D-092005B938F6}"/>
              </a:ext>
            </a:extLst>
          </p:cNvPr>
          <p:cNvPicPr>
            <a:picLocks noChangeAspect="1"/>
          </p:cNvPicPr>
          <p:nvPr/>
        </p:nvPicPr>
        <p:blipFill>
          <a:blip r:embed="rId5"/>
          <a:stretch>
            <a:fillRect/>
          </a:stretch>
        </p:blipFill>
        <p:spPr>
          <a:xfrm>
            <a:off x="8629650" y="4843463"/>
            <a:ext cx="2286000" cy="22717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BE644-F8B0-6719-DBBB-27A7B44A05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F963333-D08F-E13E-A1D3-9012F2F9CABF}"/>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B74C6181-3E1E-A207-1DBB-9930B98CD27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21B3DB77-2AA4-1D81-B3D1-915B7A403CE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36C9449B-9F4C-DA7B-F079-492D56A456B6}"/>
              </a:ext>
            </a:extLst>
          </p:cNvPr>
          <p:cNvGrpSpPr/>
          <p:nvPr/>
        </p:nvGrpSpPr>
        <p:grpSpPr>
          <a:xfrm>
            <a:off x="2757938" y="7824968"/>
            <a:ext cx="8028675" cy="8028675"/>
            <a:chOff x="0" y="0"/>
            <a:chExt cx="812800" cy="812800"/>
          </a:xfrm>
        </p:grpSpPr>
        <p:sp>
          <p:nvSpPr>
            <p:cNvPr id="6" name="Freeform 6">
              <a:extLst>
                <a:ext uri="{FF2B5EF4-FFF2-40B4-BE49-F238E27FC236}">
                  <a16:creationId xmlns:a16="http://schemas.microsoft.com/office/drawing/2014/main" id="{42C00C1D-1ADF-FC00-C0BD-5025CD5C40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9F013600-D68A-4352-830C-39402FFD833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33A1D0F9-B08C-BE5D-171B-45F8F3BD758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768E5BA0-7297-D2E2-E989-A8007E56E7B6}"/>
              </a:ext>
            </a:extLst>
          </p:cNvPr>
          <p:cNvGrpSpPr/>
          <p:nvPr/>
        </p:nvGrpSpPr>
        <p:grpSpPr>
          <a:xfrm>
            <a:off x="13276243" y="-767852"/>
            <a:ext cx="1586288" cy="1586288"/>
            <a:chOff x="0" y="0"/>
            <a:chExt cx="812800" cy="812800"/>
          </a:xfrm>
        </p:grpSpPr>
        <p:sp>
          <p:nvSpPr>
            <p:cNvPr id="10" name="Freeform 10">
              <a:extLst>
                <a:ext uri="{FF2B5EF4-FFF2-40B4-BE49-F238E27FC236}">
                  <a16:creationId xmlns:a16="http://schemas.microsoft.com/office/drawing/2014/main" id="{0CCDCF21-4439-78C8-F066-F9228F70AF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1CCAAF5-72DF-3919-C7B0-45DBCC8FF6A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8886FBDF-87DF-40A2-F8C6-E1A71F0B52BA}"/>
              </a:ext>
            </a:extLst>
          </p:cNvPr>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Algorithms</a:t>
            </a:r>
            <a:endParaRPr lang="en-US"/>
          </a:p>
        </p:txBody>
      </p:sp>
      <p:sp>
        <p:nvSpPr>
          <p:cNvPr id="13" name="TextBox 12">
            <a:extLst>
              <a:ext uri="{FF2B5EF4-FFF2-40B4-BE49-F238E27FC236}">
                <a16:creationId xmlns:a16="http://schemas.microsoft.com/office/drawing/2014/main" id="{F193AC84-B953-ACCA-C0D6-335EE8BAF120}"/>
              </a:ext>
            </a:extLst>
          </p:cNvPr>
          <p:cNvSpPr txBox="1"/>
          <p:nvPr/>
        </p:nvSpPr>
        <p:spPr>
          <a:xfrm>
            <a:off x="500063" y="1457324"/>
            <a:ext cx="1580197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chemeClr val="tx1">
                    <a:lumMod val="65000"/>
                    <a:lumOff val="35000"/>
                  </a:schemeClr>
                </a:solidFill>
                <a:latin typeface="Nirand Bold"/>
                <a:cs typeface="Nirand Bold"/>
              </a:rPr>
              <a:t>Easy Difficulty : Randomized Finite State Machine</a:t>
            </a:r>
          </a:p>
        </p:txBody>
      </p:sp>
      <p:pic>
        <p:nvPicPr>
          <p:cNvPr id="15" name="Picture 14" descr="State · Design Patterns Revisited · Game Programming Patterns">
            <a:extLst>
              <a:ext uri="{FF2B5EF4-FFF2-40B4-BE49-F238E27FC236}">
                <a16:creationId xmlns:a16="http://schemas.microsoft.com/office/drawing/2014/main" id="{D1653563-54D8-5102-1A09-4508C5EB2CB4}"/>
              </a:ext>
            </a:extLst>
          </p:cNvPr>
          <p:cNvPicPr>
            <a:picLocks noChangeAspect="1"/>
          </p:cNvPicPr>
          <p:nvPr/>
        </p:nvPicPr>
        <p:blipFill>
          <a:blip r:embed="rId2"/>
          <a:stretch>
            <a:fillRect/>
          </a:stretch>
        </p:blipFill>
        <p:spPr>
          <a:xfrm>
            <a:off x="9886950" y="2749355"/>
            <a:ext cx="7843836" cy="5059752"/>
          </a:xfrm>
          <a:prstGeom prst="rect">
            <a:avLst/>
          </a:prstGeom>
        </p:spPr>
      </p:pic>
      <p:sp>
        <p:nvSpPr>
          <p:cNvPr id="17" name="TextBox 16">
            <a:extLst>
              <a:ext uri="{FF2B5EF4-FFF2-40B4-BE49-F238E27FC236}">
                <a16:creationId xmlns:a16="http://schemas.microsoft.com/office/drawing/2014/main" id="{8747ACE0-74CA-2CA6-9AF8-D36657E9B570}"/>
              </a:ext>
            </a:extLst>
          </p:cNvPr>
          <p:cNvSpPr txBox="1"/>
          <p:nvPr/>
        </p:nvSpPr>
        <p:spPr>
          <a:xfrm>
            <a:off x="728662" y="2814636"/>
            <a:ext cx="880110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solidFill>
                  <a:schemeClr val="tx1">
                    <a:lumMod val="65000"/>
                    <a:lumOff val="35000"/>
                  </a:schemeClr>
                </a:solidFill>
                <a:latin typeface="Nunito"/>
              </a:rPr>
              <a:t>The enemy AI is presented with multiple pre-defined states (Idle, Attack, Advance, Block, Duck).</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Instead of using strategy, it picks which state to move to next randomly. </a:t>
            </a:r>
            <a:endParaRPr lang="en-US">
              <a:solidFill>
                <a:schemeClr val="tx1">
                  <a:lumMod val="65000"/>
                  <a:lumOff val="35000"/>
                </a:schemeClr>
              </a:solidFill>
            </a:endParaRP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Attacks and movements still make sense but are suboptimal.</a:t>
            </a:r>
            <a:endParaRPr lang="en-US">
              <a:solidFill>
                <a:schemeClr val="tx1">
                  <a:lumMod val="65000"/>
                  <a:lumOff val="35000"/>
                </a:schemeClr>
              </a:solidFill>
            </a:endParaRPr>
          </a:p>
          <a:p>
            <a:pPr marL="914400" lvl="1" indent="-457200">
              <a:buFont typeface="Courier New"/>
              <a:buChar char="o"/>
            </a:pPr>
            <a:endParaRPr lang="en-US" sz="3200">
              <a:solidFill>
                <a:schemeClr val="tx1">
                  <a:lumMod val="65000"/>
                  <a:lumOff val="35000"/>
                </a:schemeClr>
              </a:solidFill>
              <a:latin typeface="Nunito"/>
            </a:endParaRPr>
          </a:p>
        </p:txBody>
      </p:sp>
    </p:spTree>
    <p:extLst>
      <p:ext uri="{BB962C8B-B14F-4D97-AF65-F5344CB8AC3E}">
        <p14:creationId xmlns:p14="http://schemas.microsoft.com/office/powerpoint/2010/main" val="3472714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1AD63-44E5-118E-83DF-69D3619ED7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48AA6ED-0893-88C3-BA55-6D71FD5C877F}"/>
              </a:ext>
            </a:extLst>
          </p:cNvPr>
          <p:cNvGrpSpPr/>
          <p:nvPr/>
        </p:nvGrpSpPr>
        <p:grpSpPr>
          <a:xfrm>
            <a:off x="10887508" y="-1831402"/>
            <a:ext cx="3517329" cy="3517329"/>
            <a:chOff x="0" y="0"/>
            <a:chExt cx="812800" cy="812800"/>
          </a:xfrm>
        </p:grpSpPr>
        <p:sp>
          <p:nvSpPr>
            <p:cNvPr id="3" name="Freeform 3">
              <a:extLst>
                <a:ext uri="{FF2B5EF4-FFF2-40B4-BE49-F238E27FC236}">
                  <a16:creationId xmlns:a16="http://schemas.microsoft.com/office/drawing/2014/main" id="{6D9EE04E-9662-546F-31EF-1B1B7BD349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6A4D21C3-CDB6-EB3B-389E-59EE6303560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1440EFE-40BF-4009-FB15-334FCC708435}"/>
              </a:ext>
            </a:extLst>
          </p:cNvPr>
          <p:cNvGrpSpPr/>
          <p:nvPr/>
        </p:nvGrpSpPr>
        <p:grpSpPr>
          <a:xfrm>
            <a:off x="12216263" y="6653393"/>
            <a:ext cx="8028675" cy="8028675"/>
            <a:chOff x="0" y="0"/>
            <a:chExt cx="812800" cy="812800"/>
          </a:xfrm>
        </p:grpSpPr>
        <p:sp>
          <p:nvSpPr>
            <p:cNvPr id="6" name="Freeform 6">
              <a:extLst>
                <a:ext uri="{FF2B5EF4-FFF2-40B4-BE49-F238E27FC236}">
                  <a16:creationId xmlns:a16="http://schemas.microsoft.com/office/drawing/2014/main" id="{801D87D4-8CEF-C613-E6D4-33CA9E9526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60DDC349-F60F-CC17-19AF-EFD798FC9D2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AAB80515-3731-828D-56E1-B8C6EF77CD26}"/>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C7CFBEB-3AB2-0961-E10F-D9102BD42A32}"/>
              </a:ext>
            </a:extLst>
          </p:cNvPr>
          <p:cNvGrpSpPr/>
          <p:nvPr/>
        </p:nvGrpSpPr>
        <p:grpSpPr>
          <a:xfrm>
            <a:off x="16976706" y="-767852"/>
            <a:ext cx="1586288" cy="1586288"/>
            <a:chOff x="0" y="0"/>
            <a:chExt cx="812800" cy="812800"/>
          </a:xfrm>
        </p:grpSpPr>
        <p:sp>
          <p:nvSpPr>
            <p:cNvPr id="10" name="Freeform 10">
              <a:extLst>
                <a:ext uri="{FF2B5EF4-FFF2-40B4-BE49-F238E27FC236}">
                  <a16:creationId xmlns:a16="http://schemas.microsoft.com/office/drawing/2014/main" id="{76161058-C627-948D-9FEE-D3808D1760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E6E60163-B554-590E-CC95-6E64166C8D4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5B41A12B-D768-674B-4442-B217447C05FB}"/>
              </a:ext>
            </a:extLst>
          </p:cNvPr>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Algorithms</a:t>
            </a:r>
            <a:endParaRPr lang="en-US"/>
          </a:p>
        </p:txBody>
      </p:sp>
      <p:sp>
        <p:nvSpPr>
          <p:cNvPr id="13" name="TextBox 12">
            <a:extLst>
              <a:ext uri="{FF2B5EF4-FFF2-40B4-BE49-F238E27FC236}">
                <a16:creationId xmlns:a16="http://schemas.microsoft.com/office/drawing/2014/main" id="{55BB6856-43B8-BC81-C577-F7E4BEC4CB71}"/>
              </a:ext>
            </a:extLst>
          </p:cNvPr>
          <p:cNvSpPr txBox="1"/>
          <p:nvPr/>
        </p:nvSpPr>
        <p:spPr>
          <a:xfrm>
            <a:off x="528638" y="1457324"/>
            <a:ext cx="126301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chemeClr val="tx1">
                    <a:lumMod val="65000"/>
                    <a:lumOff val="35000"/>
                  </a:schemeClr>
                </a:solidFill>
                <a:latin typeface="Nirand Bold"/>
                <a:cs typeface="Nirand Bold"/>
              </a:rPr>
              <a:t>Medium Difficulty : Decision Trees</a:t>
            </a:r>
          </a:p>
        </p:txBody>
      </p:sp>
      <p:sp>
        <p:nvSpPr>
          <p:cNvPr id="15" name="TextBox 14">
            <a:extLst>
              <a:ext uri="{FF2B5EF4-FFF2-40B4-BE49-F238E27FC236}">
                <a16:creationId xmlns:a16="http://schemas.microsoft.com/office/drawing/2014/main" id="{6E3B7744-EB72-E521-8E33-87025DE5945B}"/>
              </a:ext>
            </a:extLst>
          </p:cNvPr>
          <p:cNvSpPr txBox="1"/>
          <p:nvPr/>
        </p:nvSpPr>
        <p:spPr>
          <a:xfrm>
            <a:off x="642937" y="2686049"/>
            <a:ext cx="8801100" cy="64940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solidFill>
                  <a:schemeClr val="tx1">
                    <a:lumMod val="65000"/>
                    <a:lumOff val="35000"/>
                  </a:schemeClr>
                </a:solidFill>
                <a:latin typeface="Nunito"/>
              </a:rPr>
              <a:t>The enemy AI in this difficulty will start to react differently depending on certain criteria.</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Before making an action, it will check a specific condition and act accordingly.</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Can still make random decisions but in a more educated way.</a:t>
            </a:r>
          </a:p>
          <a:p>
            <a:pPr marL="457200" indent="-457200">
              <a:buFont typeface="Arial"/>
              <a:buChar char="•"/>
            </a:pPr>
            <a:endParaRPr lang="en-US" sz="3200">
              <a:solidFill>
                <a:schemeClr val="tx1">
                  <a:lumMod val="65000"/>
                  <a:lumOff val="35000"/>
                </a:schemeClr>
              </a:solidFill>
              <a:latin typeface="Nunito"/>
            </a:endParaRPr>
          </a:p>
          <a:p>
            <a:pPr marL="914400" lvl="1" indent="-457200">
              <a:buFont typeface="Courier New"/>
              <a:buChar char="o"/>
            </a:pPr>
            <a:r>
              <a:rPr lang="en-US" sz="3200">
                <a:solidFill>
                  <a:schemeClr val="tx1">
                    <a:lumMod val="65000"/>
                    <a:lumOff val="35000"/>
                  </a:schemeClr>
                </a:solidFill>
                <a:latin typeface="Nunito"/>
              </a:rPr>
              <a:t>Ex. Check to see if the player is attacking. If yes, randomly choose between block or counter. </a:t>
            </a:r>
          </a:p>
        </p:txBody>
      </p:sp>
      <p:pic>
        <p:nvPicPr>
          <p:cNvPr id="16" name="Picture 15" descr="A diagram of a game&#10;&#10;AI-generated content may be incorrect.">
            <a:extLst>
              <a:ext uri="{FF2B5EF4-FFF2-40B4-BE49-F238E27FC236}">
                <a16:creationId xmlns:a16="http://schemas.microsoft.com/office/drawing/2014/main" id="{F96CDCAE-8D0C-BA14-3DDE-167B573E9F6D}"/>
              </a:ext>
            </a:extLst>
          </p:cNvPr>
          <p:cNvPicPr>
            <a:picLocks noChangeAspect="1"/>
          </p:cNvPicPr>
          <p:nvPr/>
        </p:nvPicPr>
        <p:blipFill>
          <a:blip r:embed="rId2"/>
          <a:stretch>
            <a:fillRect/>
          </a:stretch>
        </p:blipFill>
        <p:spPr>
          <a:xfrm>
            <a:off x="9567863" y="2757488"/>
            <a:ext cx="7424738" cy="4757738"/>
          </a:xfrm>
          <a:prstGeom prst="rect">
            <a:avLst/>
          </a:prstGeom>
        </p:spPr>
      </p:pic>
    </p:spTree>
    <p:extLst>
      <p:ext uri="{BB962C8B-B14F-4D97-AF65-F5344CB8AC3E}">
        <p14:creationId xmlns:p14="http://schemas.microsoft.com/office/powerpoint/2010/main" val="1101506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0EB9-7478-D322-9B09-B8586075397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1CC7C14-BD6B-85AC-34A6-F97CB35AB620}"/>
              </a:ext>
            </a:extLst>
          </p:cNvPr>
          <p:cNvGrpSpPr/>
          <p:nvPr/>
        </p:nvGrpSpPr>
        <p:grpSpPr>
          <a:xfrm>
            <a:off x="15288058" y="-2060002"/>
            <a:ext cx="3517329" cy="3517329"/>
            <a:chOff x="0" y="0"/>
            <a:chExt cx="812800" cy="812800"/>
          </a:xfrm>
        </p:grpSpPr>
        <p:sp>
          <p:nvSpPr>
            <p:cNvPr id="3" name="Freeform 3">
              <a:extLst>
                <a:ext uri="{FF2B5EF4-FFF2-40B4-BE49-F238E27FC236}">
                  <a16:creationId xmlns:a16="http://schemas.microsoft.com/office/drawing/2014/main" id="{9841F416-0D5C-7FF2-9A6C-4F139AF520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137E0514-ADA7-E478-1751-69B3F09B859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D676896-DBDC-086B-509D-CA24F8C269D3}"/>
              </a:ext>
            </a:extLst>
          </p:cNvPr>
          <p:cNvGrpSpPr/>
          <p:nvPr/>
        </p:nvGrpSpPr>
        <p:grpSpPr>
          <a:xfrm>
            <a:off x="-3299962" y="8210730"/>
            <a:ext cx="8028675" cy="8028675"/>
            <a:chOff x="0" y="0"/>
            <a:chExt cx="812800" cy="812800"/>
          </a:xfrm>
        </p:grpSpPr>
        <p:sp>
          <p:nvSpPr>
            <p:cNvPr id="6" name="Freeform 6">
              <a:extLst>
                <a:ext uri="{FF2B5EF4-FFF2-40B4-BE49-F238E27FC236}">
                  <a16:creationId xmlns:a16="http://schemas.microsoft.com/office/drawing/2014/main" id="{E958A3DF-9C55-EEC8-DDE9-06FCA38183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3A097AF1-5433-C9E4-ED5D-E98837E75F1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36D86F8E-228C-2AA9-B5EE-5DE0BDFB605C}"/>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DBBD3B79-1A93-9BB2-BB42-E73D89ED5110}"/>
              </a:ext>
            </a:extLst>
          </p:cNvPr>
          <p:cNvGrpSpPr/>
          <p:nvPr/>
        </p:nvGrpSpPr>
        <p:grpSpPr>
          <a:xfrm>
            <a:off x="17219593" y="9333411"/>
            <a:ext cx="1586288" cy="1586288"/>
            <a:chOff x="0" y="0"/>
            <a:chExt cx="812800" cy="812800"/>
          </a:xfrm>
        </p:grpSpPr>
        <p:sp>
          <p:nvSpPr>
            <p:cNvPr id="10" name="Freeform 10">
              <a:extLst>
                <a:ext uri="{FF2B5EF4-FFF2-40B4-BE49-F238E27FC236}">
                  <a16:creationId xmlns:a16="http://schemas.microsoft.com/office/drawing/2014/main" id="{6EC094BF-FD2F-CE3D-E4FE-0AEEDFCE13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4D92537-4FD1-76D1-B750-14E4C1B9AE8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946A1288-030D-D776-D48D-7DF46671327C}"/>
              </a:ext>
            </a:extLst>
          </p:cNvPr>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Algorithms</a:t>
            </a:r>
            <a:endParaRPr lang="en-US"/>
          </a:p>
        </p:txBody>
      </p:sp>
      <p:sp>
        <p:nvSpPr>
          <p:cNvPr id="13" name="TextBox 12">
            <a:extLst>
              <a:ext uri="{FF2B5EF4-FFF2-40B4-BE49-F238E27FC236}">
                <a16:creationId xmlns:a16="http://schemas.microsoft.com/office/drawing/2014/main" id="{722DD6A5-83C7-4007-4E6E-1DA61CB2D598}"/>
              </a:ext>
            </a:extLst>
          </p:cNvPr>
          <p:cNvSpPr txBox="1"/>
          <p:nvPr/>
        </p:nvSpPr>
        <p:spPr>
          <a:xfrm>
            <a:off x="500063" y="1457324"/>
            <a:ext cx="1778793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chemeClr val="tx1">
                    <a:lumMod val="65000"/>
                    <a:lumOff val="35000"/>
                  </a:schemeClr>
                </a:solidFill>
                <a:latin typeface="Nirand Bold"/>
                <a:cs typeface="Nirand Bold"/>
              </a:rPr>
              <a:t>Hard Difficulty : Reinforcement Learning</a:t>
            </a:r>
          </a:p>
        </p:txBody>
      </p:sp>
      <p:sp>
        <p:nvSpPr>
          <p:cNvPr id="14" name="TextBox 13">
            <a:extLst>
              <a:ext uri="{FF2B5EF4-FFF2-40B4-BE49-F238E27FC236}">
                <a16:creationId xmlns:a16="http://schemas.microsoft.com/office/drawing/2014/main" id="{D6FD1AF4-39D8-EF8F-A71D-1060F56510D0}"/>
              </a:ext>
            </a:extLst>
          </p:cNvPr>
          <p:cNvSpPr txBox="1"/>
          <p:nvPr/>
        </p:nvSpPr>
        <p:spPr>
          <a:xfrm>
            <a:off x="600075" y="2700336"/>
            <a:ext cx="8801100"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solidFill>
                  <a:schemeClr val="tx1">
                    <a:lumMod val="65000"/>
                    <a:lumOff val="35000"/>
                  </a:schemeClr>
                </a:solidFill>
                <a:latin typeface="Nunito"/>
              </a:rPr>
              <a:t>The enemy AI will fight through many simulations either against itself, or one of the before mentioned difficulties.</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It will receive a reward (+1) for landing a hit on the player, and a punishment (-1) for being struck by the player.</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The AI will learn which actions lead to rewards and which actions lead to punishments. </a:t>
            </a:r>
          </a:p>
        </p:txBody>
      </p:sp>
      <p:pic>
        <p:nvPicPr>
          <p:cNvPr id="15" name="Picture 14" descr="A diagram of a diagram&#10;&#10;AI-generated content may be incorrect.">
            <a:extLst>
              <a:ext uri="{FF2B5EF4-FFF2-40B4-BE49-F238E27FC236}">
                <a16:creationId xmlns:a16="http://schemas.microsoft.com/office/drawing/2014/main" id="{A974DE9E-7463-F93B-C716-7DE706BF84AD}"/>
              </a:ext>
            </a:extLst>
          </p:cNvPr>
          <p:cNvPicPr>
            <a:picLocks noChangeAspect="1"/>
          </p:cNvPicPr>
          <p:nvPr/>
        </p:nvPicPr>
        <p:blipFill>
          <a:blip r:embed="rId2"/>
          <a:stretch>
            <a:fillRect/>
          </a:stretch>
        </p:blipFill>
        <p:spPr>
          <a:xfrm>
            <a:off x="9853613" y="2928938"/>
            <a:ext cx="7867650" cy="5043488"/>
          </a:xfrm>
          <a:prstGeom prst="rect">
            <a:avLst/>
          </a:prstGeom>
        </p:spPr>
      </p:pic>
    </p:spTree>
    <p:extLst>
      <p:ext uri="{BB962C8B-B14F-4D97-AF65-F5344CB8AC3E}">
        <p14:creationId xmlns:p14="http://schemas.microsoft.com/office/powerpoint/2010/main" val="150367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p:cNvSpPr txBox="1"/>
          <p:nvPr/>
        </p:nvSpPr>
        <p:spPr>
          <a:xfrm>
            <a:off x="543715" y="2170511"/>
            <a:ext cx="8218694"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A simple flat ground with invisible walls on each side to prevent falling off.</a:t>
            </a:r>
          </a:p>
          <a:p>
            <a:pPr marL="560705" lvl="1" indent="-280035">
              <a:lnSpc>
                <a:spcPts val="3640"/>
              </a:lnSpc>
              <a:buFont typeface="Arial"/>
              <a:buChar char="•"/>
            </a:pPr>
            <a:r>
              <a:rPr lang="en-US" sz="2600">
                <a:solidFill>
                  <a:srgbClr val="2E3A44"/>
                </a:solidFill>
                <a:latin typeface="Nunito"/>
              </a:rPr>
              <a:t>Simple environment design keeps focus on combat mechanics and player interaction</a:t>
            </a:r>
          </a:p>
          <a:p>
            <a:pPr marL="560705" lvl="1" indent="-280035">
              <a:lnSpc>
                <a:spcPts val="3640"/>
              </a:lnSpc>
              <a:buFont typeface="Arial"/>
              <a:buChar char="•"/>
            </a:pPr>
            <a:r>
              <a:rPr lang="en-US" sz="2600">
                <a:solidFill>
                  <a:srgbClr val="2E3A44"/>
                </a:solidFill>
                <a:latin typeface="Nunito"/>
              </a:rPr>
              <a:t>A basic camera with a script that keeps both players in-frame while zooming in as close as possible.</a:t>
            </a:r>
          </a:p>
        </p:txBody>
      </p:sp>
      <p:sp>
        <p:nvSpPr>
          <p:cNvPr id="14" name="TextBox 14"/>
          <p:cNvSpPr txBox="1"/>
          <p:nvPr/>
        </p:nvSpPr>
        <p:spPr>
          <a:xfrm>
            <a:off x="539336" y="5973866"/>
            <a:ext cx="6583773"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rPr>
              <a:t>For the rules-based difficulties, the State Machine and Decision Tree logic must work, even if they are not complex.</a:t>
            </a:r>
          </a:p>
          <a:p>
            <a:pPr marL="560705" lvl="1" indent="-280035">
              <a:lnSpc>
                <a:spcPts val="3640"/>
              </a:lnSpc>
              <a:buFont typeface="Arial"/>
              <a:buChar char="•"/>
            </a:pPr>
            <a:endParaRPr lang="en-US" sz="2600">
              <a:solidFill>
                <a:srgbClr val="2E3A44"/>
              </a:solidFill>
              <a:latin typeface="Nunito"/>
            </a:endParaRPr>
          </a:p>
          <a:p>
            <a:pPr marL="560705" lvl="1" indent="-280035">
              <a:lnSpc>
                <a:spcPts val="3640"/>
              </a:lnSpc>
              <a:buFont typeface="Arial"/>
              <a:buChar char="•"/>
            </a:pPr>
            <a:r>
              <a:rPr lang="en-US" sz="2600">
                <a:solidFill>
                  <a:srgbClr val="2E3A44"/>
                </a:solidFill>
                <a:latin typeface="Nunito"/>
              </a:rPr>
              <a:t>For the hard difficulty, the Unity Agent must be able to read observations and output actions from the Neural Net. </a:t>
            </a:r>
          </a:p>
        </p:txBody>
      </p:sp>
      <p:sp>
        <p:nvSpPr>
          <p:cNvPr id="15" name="TextBox 15"/>
          <p:cNvSpPr txBox="1"/>
          <p:nvPr/>
        </p:nvSpPr>
        <p:spPr>
          <a:xfrm>
            <a:off x="9525590" y="2166513"/>
            <a:ext cx="7697836" cy="2754600"/>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The bare minimum controls will be Locomotion, an Attack action, and a Block action.</a:t>
            </a:r>
          </a:p>
          <a:p>
            <a:pPr marL="560705" lvl="1" indent="-280035">
              <a:lnSpc>
                <a:spcPts val="3640"/>
              </a:lnSpc>
              <a:buFont typeface="Arial"/>
              <a:buChar char="•"/>
            </a:pPr>
            <a:r>
              <a:rPr lang="en-US" sz="2600">
                <a:solidFill>
                  <a:srgbClr val="2E3A44"/>
                </a:solidFill>
                <a:latin typeface="Nunito"/>
              </a:rPr>
              <a:t>Hit detection uses colliders to determine when attacks connect</a:t>
            </a:r>
          </a:p>
          <a:p>
            <a:pPr marL="560705" lvl="1" indent="-280035">
              <a:lnSpc>
                <a:spcPts val="3640"/>
              </a:lnSpc>
              <a:buFont typeface="Arial"/>
              <a:buChar char="•"/>
            </a:pPr>
            <a:r>
              <a:rPr lang="en-US" sz="2600">
                <a:solidFill>
                  <a:srgbClr val="2E3A44"/>
                </a:solidFill>
                <a:latin typeface="Nunito"/>
              </a:rPr>
              <a:t>Possibility to include combos, ducking, countering, and throwing later.</a:t>
            </a:r>
          </a:p>
        </p:txBody>
      </p:sp>
      <p:sp>
        <p:nvSpPr>
          <p:cNvPr id="16" name="TextBox 16"/>
          <p:cNvSpPr txBox="1"/>
          <p:nvPr/>
        </p:nvSpPr>
        <p:spPr>
          <a:xfrm>
            <a:off x="9525401" y="5843651"/>
            <a:ext cx="7350595"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The player must be able to enter the game from a main menu and select an AI difficulty.</a:t>
            </a:r>
          </a:p>
          <a:p>
            <a:pPr marL="560705" lvl="1" indent="-280035">
              <a:lnSpc>
                <a:spcPts val="3640"/>
              </a:lnSpc>
              <a:buFont typeface="Arial"/>
              <a:buChar char="•"/>
            </a:pPr>
            <a:r>
              <a:rPr lang="en-US" sz="2600">
                <a:solidFill>
                  <a:srgbClr val="2E3A44"/>
                </a:solidFill>
                <a:latin typeface="Nunito"/>
              </a:rPr>
              <a:t>Loads varying end-game scenes depending on match outcome</a:t>
            </a:r>
          </a:p>
          <a:p>
            <a:pPr marL="560705" lvl="1" indent="-280035">
              <a:lnSpc>
                <a:spcPts val="3640"/>
              </a:lnSpc>
              <a:buFont typeface="Arial"/>
              <a:buChar char="•"/>
            </a:pPr>
            <a:r>
              <a:rPr lang="en-US" sz="2600">
                <a:solidFill>
                  <a:srgbClr val="2E3A44"/>
                </a:solidFill>
                <a:latin typeface="Nunito"/>
              </a:rPr>
              <a:t>In-game must show health bars depleting, and a return to the main menu when one character reaches zero.</a:t>
            </a:r>
          </a:p>
        </p:txBody>
      </p:sp>
      <p:sp>
        <p:nvSpPr>
          <p:cNvPr id="18" name="TextBox 18">
            <a:extLst>
              <a:ext uri="{FF2B5EF4-FFF2-40B4-BE49-F238E27FC236}">
                <a16:creationId xmlns:a16="http://schemas.microsoft.com/office/drawing/2014/main" id="{3D0D3E8D-8234-F14B-522B-7E26FC4EE498}"/>
              </a:ext>
            </a:extLst>
          </p:cNvPr>
          <p:cNvSpPr txBox="1"/>
          <p:nvPr/>
        </p:nvSpPr>
        <p:spPr>
          <a:xfrm>
            <a:off x="237855" y="184436"/>
            <a:ext cx="15872016" cy="1273426"/>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Minimum Viable Product  (MVP)</a:t>
            </a:r>
            <a:endParaRPr lang="en-US"/>
          </a:p>
        </p:txBody>
      </p:sp>
      <p:sp>
        <p:nvSpPr>
          <p:cNvPr id="19" name="TextBox 18">
            <a:extLst>
              <a:ext uri="{FF2B5EF4-FFF2-40B4-BE49-F238E27FC236}">
                <a16:creationId xmlns:a16="http://schemas.microsoft.com/office/drawing/2014/main" id="{CC01F5E5-358E-9033-4AA8-F7347B946E1F}"/>
              </a:ext>
            </a:extLst>
          </p:cNvPr>
          <p:cNvSpPr txBox="1"/>
          <p:nvPr/>
        </p:nvSpPr>
        <p:spPr>
          <a:xfrm>
            <a:off x="542924" y="1585912"/>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Environment:</a:t>
            </a:r>
          </a:p>
        </p:txBody>
      </p:sp>
      <p:sp>
        <p:nvSpPr>
          <p:cNvPr id="20" name="TextBox 19">
            <a:extLst>
              <a:ext uri="{FF2B5EF4-FFF2-40B4-BE49-F238E27FC236}">
                <a16:creationId xmlns:a16="http://schemas.microsoft.com/office/drawing/2014/main" id="{DCC3A2EB-C731-381C-B0C3-E72EF831CC78}"/>
              </a:ext>
            </a:extLst>
          </p:cNvPr>
          <p:cNvSpPr txBox="1"/>
          <p:nvPr/>
        </p:nvSpPr>
        <p:spPr>
          <a:xfrm>
            <a:off x="9520175" y="5243332"/>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Game Flow:</a:t>
            </a:r>
          </a:p>
        </p:txBody>
      </p:sp>
      <p:sp>
        <p:nvSpPr>
          <p:cNvPr id="21" name="TextBox 20">
            <a:extLst>
              <a:ext uri="{FF2B5EF4-FFF2-40B4-BE49-F238E27FC236}">
                <a16:creationId xmlns:a16="http://schemas.microsoft.com/office/drawing/2014/main" id="{EC7B0A3D-7936-DC98-EF17-BABF250FF9F2}"/>
              </a:ext>
            </a:extLst>
          </p:cNvPr>
          <p:cNvSpPr txBox="1"/>
          <p:nvPr/>
        </p:nvSpPr>
        <p:spPr>
          <a:xfrm>
            <a:off x="9520175" y="1585912"/>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Combat System:</a:t>
            </a:r>
          </a:p>
        </p:txBody>
      </p:sp>
      <p:sp>
        <p:nvSpPr>
          <p:cNvPr id="22" name="TextBox 21">
            <a:extLst>
              <a:ext uri="{FF2B5EF4-FFF2-40B4-BE49-F238E27FC236}">
                <a16:creationId xmlns:a16="http://schemas.microsoft.com/office/drawing/2014/main" id="{CE5A4478-3BDE-11A7-6D56-FF51A259DC02}"/>
              </a:ext>
            </a:extLst>
          </p:cNvPr>
          <p:cNvSpPr txBox="1"/>
          <p:nvPr/>
        </p:nvSpPr>
        <p:spPr>
          <a:xfrm>
            <a:off x="542923" y="538801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AI Difficulties:</a:t>
            </a:r>
          </a:p>
        </p:txBody>
      </p:sp>
      <p:grpSp>
        <p:nvGrpSpPr>
          <p:cNvPr id="26" name="Group 5">
            <a:extLst>
              <a:ext uri="{FF2B5EF4-FFF2-40B4-BE49-F238E27FC236}">
                <a16:creationId xmlns:a16="http://schemas.microsoft.com/office/drawing/2014/main" id="{2508EC52-C639-B8BA-8E38-B21D9C1DD556}"/>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A7B65BF0-980C-2FEE-7320-C68728F30CA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4258DCCC-7326-1FAF-4E2C-23CB1E87493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D210EE38-1496-B6FB-AD03-6EB265108B21}"/>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6DC1D053-9340-AADF-3370-906C87E7BC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E3FAFAB8-9974-2E28-C9A9-7925CBDD1C7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6F4FF-337F-5D21-BDDE-08F809FE430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B8F7618-0FD4-6617-22B1-0B98C46AB64E}"/>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0444F6F9-19E4-F950-DE52-88F0CCA87D1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03BA2437-A084-6E86-EA0B-690C1DB0F6B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75762FDA-E470-37C6-1F09-584319639253}"/>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B426E2B9-2A3E-560A-4AB9-9B974CDFCC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C9DB747D-08F4-8DA2-5C25-9A9DBE22513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5DF18C2D-1FA4-7E89-2B2A-5FF4BD48D89E}"/>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603C4746-9088-C03D-222A-7A3383325850}"/>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D0CD9288-3C97-1F77-2725-1865F521C24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56C8DA2-B69F-78E5-A1E4-78AE70E1217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7E78389B-2202-1FDA-6656-42116FEBE03F}"/>
              </a:ext>
            </a:extLst>
          </p:cNvPr>
          <p:cNvSpPr txBox="1"/>
          <p:nvPr/>
        </p:nvSpPr>
        <p:spPr>
          <a:xfrm>
            <a:off x="4903910" y="-220692"/>
            <a:ext cx="7581656" cy="1178528"/>
          </a:xfrm>
          <a:prstGeom prst="rect">
            <a:avLst/>
          </a:prstGeom>
        </p:spPr>
        <p:txBody>
          <a:bodyPr wrap="square" lIns="0" tIns="0" rIns="0" bIns="0" rtlCol="0" anchor="t">
            <a:spAutoFit/>
          </a:bodyPr>
          <a:lstStyle/>
          <a:p>
            <a:pPr algn="ctr">
              <a:lnSpc>
                <a:spcPts val="10500"/>
              </a:lnSpc>
            </a:pPr>
            <a:r>
              <a:rPr lang="en-US" sz="4800" b="1">
                <a:solidFill>
                  <a:srgbClr val="2E3A44"/>
                </a:solidFill>
                <a:latin typeface="Nirand Bold"/>
                <a:cs typeface="Nirand Bold"/>
                <a:sym typeface="Nirand Bold"/>
              </a:rPr>
              <a:t>Sequence Diagram</a:t>
            </a:r>
            <a:endParaRPr lang="en-US" sz="4800"/>
          </a:p>
        </p:txBody>
      </p:sp>
      <p:pic>
        <p:nvPicPr>
          <p:cNvPr id="12" name="Picture 11">
            <a:extLst>
              <a:ext uri="{FF2B5EF4-FFF2-40B4-BE49-F238E27FC236}">
                <a16:creationId xmlns:a16="http://schemas.microsoft.com/office/drawing/2014/main" id="{F90E75CC-F0E7-EEF6-DC33-343D06935C8C}"/>
              </a:ext>
            </a:extLst>
          </p:cNvPr>
          <p:cNvPicPr>
            <a:picLocks noChangeAspect="1"/>
          </p:cNvPicPr>
          <p:nvPr/>
        </p:nvPicPr>
        <p:blipFill>
          <a:blip r:embed="rId2"/>
          <a:stretch>
            <a:fillRect/>
          </a:stretch>
        </p:blipFill>
        <p:spPr>
          <a:xfrm>
            <a:off x="2884244" y="952500"/>
            <a:ext cx="12827244" cy="8147539"/>
          </a:xfrm>
          <a:prstGeom prst="rect">
            <a:avLst/>
          </a:prstGeom>
        </p:spPr>
      </p:pic>
    </p:spTree>
    <p:extLst>
      <p:ext uri="{BB962C8B-B14F-4D97-AF65-F5344CB8AC3E}">
        <p14:creationId xmlns:p14="http://schemas.microsoft.com/office/powerpoint/2010/main" val="1643095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9BCE4-CB81-207F-7501-9EC47329FDFA}"/>
            </a:ext>
          </a:extLst>
        </p:cNvPr>
        <p:cNvGrpSpPr/>
        <p:nvPr/>
      </p:nvGrpSpPr>
      <p:grpSpPr>
        <a:xfrm>
          <a:off x="0" y="0"/>
          <a:ext cx="0" cy="0"/>
          <a:chOff x="0" y="0"/>
          <a:chExt cx="0" cy="0"/>
        </a:xfrm>
      </p:grpSpPr>
      <p:pic>
        <p:nvPicPr>
          <p:cNvPr id="15" name="Picture 14" descr="A diagram of a software company&#10;&#10;AI-generated content may be incorrect.">
            <a:extLst>
              <a:ext uri="{FF2B5EF4-FFF2-40B4-BE49-F238E27FC236}">
                <a16:creationId xmlns:a16="http://schemas.microsoft.com/office/drawing/2014/main" id="{3797ECE0-D49C-7863-77D5-D3489D7F97A5}"/>
              </a:ext>
            </a:extLst>
          </p:cNvPr>
          <p:cNvPicPr>
            <a:picLocks noChangeAspect="1"/>
          </p:cNvPicPr>
          <p:nvPr/>
        </p:nvPicPr>
        <p:blipFill>
          <a:blip r:embed="rId2"/>
          <a:stretch>
            <a:fillRect/>
          </a:stretch>
        </p:blipFill>
        <p:spPr>
          <a:xfrm>
            <a:off x="8073170" y="1384423"/>
            <a:ext cx="7534275" cy="7781925"/>
          </a:xfrm>
          <a:prstGeom prst="rect">
            <a:avLst/>
          </a:prstGeom>
        </p:spPr>
      </p:pic>
      <p:grpSp>
        <p:nvGrpSpPr>
          <p:cNvPr id="2" name="Group 2">
            <a:extLst>
              <a:ext uri="{FF2B5EF4-FFF2-40B4-BE49-F238E27FC236}">
                <a16:creationId xmlns:a16="http://schemas.microsoft.com/office/drawing/2014/main" id="{334CCAE3-3D89-0FD1-E0D3-BCBE5983B233}"/>
              </a:ext>
            </a:extLst>
          </p:cNvPr>
          <p:cNvGrpSpPr/>
          <p:nvPr/>
        </p:nvGrpSpPr>
        <p:grpSpPr>
          <a:xfrm>
            <a:off x="-2654888" y="5523615"/>
            <a:ext cx="6880459" cy="6880459"/>
            <a:chOff x="0" y="0"/>
            <a:chExt cx="812800" cy="812800"/>
          </a:xfrm>
        </p:grpSpPr>
        <p:sp>
          <p:nvSpPr>
            <p:cNvPr id="3" name="Freeform 3">
              <a:extLst>
                <a:ext uri="{FF2B5EF4-FFF2-40B4-BE49-F238E27FC236}">
                  <a16:creationId xmlns:a16="http://schemas.microsoft.com/office/drawing/2014/main" id="{6DF99A8E-7AE6-EF83-AB98-4006B94403E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F351F902-768A-A579-06EC-E2AAC2A679F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ADE1B853-23D9-7148-56B5-5D0A3D6BEB61}"/>
              </a:ext>
            </a:extLst>
          </p:cNvPr>
          <p:cNvGrpSpPr/>
          <p:nvPr/>
        </p:nvGrpSpPr>
        <p:grpSpPr>
          <a:xfrm>
            <a:off x="15284854" y="1631945"/>
            <a:ext cx="3517329" cy="3517329"/>
            <a:chOff x="0" y="0"/>
            <a:chExt cx="812800" cy="812800"/>
          </a:xfrm>
        </p:grpSpPr>
        <p:sp>
          <p:nvSpPr>
            <p:cNvPr id="6" name="Freeform 6">
              <a:extLst>
                <a:ext uri="{FF2B5EF4-FFF2-40B4-BE49-F238E27FC236}">
                  <a16:creationId xmlns:a16="http://schemas.microsoft.com/office/drawing/2014/main" id="{0418F8C2-F034-7846-FECA-E961C490C77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F48613BC-4BC3-5C3E-8082-8A329B7C8A5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875BD20C-CD75-44B6-26A5-91EC5F83EC4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6245082-4074-3F25-ED92-730DECC91A78}"/>
              </a:ext>
            </a:extLst>
          </p:cNvPr>
          <p:cNvGrpSpPr/>
          <p:nvPr/>
        </p:nvGrpSpPr>
        <p:grpSpPr>
          <a:xfrm>
            <a:off x="13700605" y="402573"/>
            <a:ext cx="1586288" cy="1586288"/>
            <a:chOff x="0" y="0"/>
            <a:chExt cx="812800" cy="812800"/>
          </a:xfrm>
        </p:grpSpPr>
        <p:sp>
          <p:nvSpPr>
            <p:cNvPr id="11" name="TextBox 11">
              <a:extLst>
                <a:ext uri="{FF2B5EF4-FFF2-40B4-BE49-F238E27FC236}">
                  <a16:creationId xmlns:a16="http://schemas.microsoft.com/office/drawing/2014/main" id="{691958F6-7C32-946C-91B0-CCA22675483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sp>
          <p:nvSpPr>
            <p:cNvPr id="10" name="Freeform 10">
              <a:extLst>
                <a:ext uri="{FF2B5EF4-FFF2-40B4-BE49-F238E27FC236}">
                  <a16:creationId xmlns:a16="http://schemas.microsoft.com/office/drawing/2014/main" id="{D4387545-F304-D5F4-D383-C17005A6907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grpSp>
      <p:sp>
        <p:nvSpPr>
          <p:cNvPr id="12" name="TextBox 13">
            <a:extLst>
              <a:ext uri="{FF2B5EF4-FFF2-40B4-BE49-F238E27FC236}">
                <a16:creationId xmlns:a16="http://schemas.microsoft.com/office/drawing/2014/main" id="{A356CBF7-EC1B-7F49-69E4-79DE41722FC5}"/>
              </a:ext>
            </a:extLst>
          </p:cNvPr>
          <p:cNvSpPr txBox="1"/>
          <p:nvPr/>
        </p:nvSpPr>
        <p:spPr>
          <a:xfrm>
            <a:off x="1027043" y="405847"/>
            <a:ext cx="11121774"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200">
                <a:latin typeface="Nirand Bold"/>
                <a:ea typeface="Nirand Bold"/>
                <a:cs typeface="Nirand Bold"/>
              </a:rPr>
              <a:t>Conceptual Architecture Diagram</a:t>
            </a:r>
            <a:r>
              <a:rPr sz="7200">
                <a:latin typeface="Nirand Bold"/>
                <a:ea typeface="Nirand Bold"/>
                <a:cs typeface="Nirand Bold"/>
              </a:rPr>
              <a:t>​</a:t>
            </a:r>
            <a:endParaRPr lang="en-US">
              <a:latin typeface="Nirand Bold"/>
              <a:cs typeface="Nirand Bold"/>
            </a:endParaRPr>
          </a:p>
        </p:txBody>
      </p:sp>
      <p:sp>
        <p:nvSpPr>
          <p:cNvPr id="14" name="TextBox 22">
            <a:extLst>
              <a:ext uri="{FF2B5EF4-FFF2-40B4-BE49-F238E27FC236}">
                <a16:creationId xmlns:a16="http://schemas.microsoft.com/office/drawing/2014/main" id="{A62A46CF-269F-72B6-3829-40151BD5F529}"/>
              </a:ext>
            </a:extLst>
          </p:cNvPr>
          <p:cNvSpPr txBox="1"/>
          <p:nvPr/>
        </p:nvSpPr>
        <p:spPr>
          <a:xfrm>
            <a:off x="1022684" y="3083092"/>
            <a:ext cx="7294143" cy="58631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100">
              <a:solidFill>
                <a:srgbClr val="202124"/>
              </a:solidFill>
              <a:latin typeface="Nunito"/>
              <a:ea typeface="Roboto"/>
              <a:cs typeface="Roboto"/>
            </a:endParaRPr>
          </a:p>
          <a:p>
            <a:r>
              <a:rPr lang="en" sz="2800">
                <a:solidFill>
                  <a:srgbClr val="3C4043"/>
                </a:solidFill>
                <a:latin typeface="Nunito"/>
                <a:ea typeface="Roboto"/>
                <a:cs typeface="Roboto"/>
              </a:rPr>
              <a:t>Frontend: Accepts player input and displays health status (HUD), Win/Lose Screen. </a:t>
            </a:r>
            <a:endParaRPr lang="en-US" sz="2800">
              <a:solidFill>
                <a:srgbClr val="000000"/>
              </a:solidFill>
              <a:latin typeface="Nunito"/>
              <a:ea typeface="Roboto"/>
              <a:cs typeface="Roboto"/>
            </a:endParaRPr>
          </a:p>
          <a:p>
            <a:endParaRPr lang="en" sz="2800">
              <a:solidFill>
                <a:srgbClr val="3C4043"/>
              </a:solidFill>
              <a:latin typeface="Nunito"/>
              <a:ea typeface="Roboto"/>
              <a:cs typeface="Roboto"/>
            </a:endParaRPr>
          </a:p>
          <a:p>
            <a:r>
              <a:rPr lang="en" sz="2800">
                <a:solidFill>
                  <a:srgbClr val="3C4043"/>
                </a:solidFill>
                <a:latin typeface="Nunito"/>
                <a:ea typeface="Roboto"/>
                <a:cs typeface="Roboto"/>
              </a:rPr>
              <a:t>Backend: The "brain" of the game, managing combat logic, character states, and difficulty.</a:t>
            </a:r>
            <a:endParaRPr lang="en-US" sz="2800">
              <a:solidFill>
                <a:srgbClr val="000000"/>
              </a:solidFill>
              <a:latin typeface="Nunito"/>
              <a:ea typeface="Roboto"/>
              <a:cs typeface="Roboto"/>
            </a:endParaRPr>
          </a:p>
          <a:p>
            <a:endParaRPr lang="en" sz="2800">
              <a:solidFill>
                <a:srgbClr val="3C4043"/>
              </a:solidFill>
              <a:latin typeface="Nunito"/>
              <a:ea typeface="Roboto"/>
              <a:cs typeface="Roboto"/>
            </a:endParaRPr>
          </a:p>
          <a:p>
            <a:r>
              <a:rPr lang="en" sz="2800">
                <a:solidFill>
                  <a:srgbClr val="3C4043"/>
                </a:solidFill>
                <a:latin typeface="Nunito"/>
                <a:ea typeface="Roboto"/>
                <a:cs typeface="Roboto"/>
              </a:rPr>
              <a:t>Entities: Game characters and a "smart" camera, operating according to the </a:t>
            </a:r>
            <a:r>
              <a:rPr lang="en" sz="2800" err="1">
                <a:solidFill>
                  <a:srgbClr val="3C4043"/>
                </a:solidFill>
                <a:latin typeface="Nunito"/>
                <a:ea typeface="Roboto"/>
                <a:cs typeface="Roboto"/>
              </a:rPr>
              <a:t>backend's</a:t>
            </a:r>
            <a:r>
              <a:rPr lang="en" sz="2800">
                <a:solidFill>
                  <a:srgbClr val="3C4043"/>
                </a:solidFill>
                <a:latin typeface="Nunito"/>
                <a:ea typeface="Roboto"/>
                <a:cs typeface="Roboto"/>
              </a:rPr>
              <a:t> rules.</a:t>
            </a:r>
            <a:endParaRPr lang="en-US" sz="2800">
              <a:solidFill>
                <a:srgbClr val="000000"/>
              </a:solidFill>
              <a:latin typeface="Nunito"/>
              <a:ea typeface="Roboto"/>
              <a:cs typeface="Roboto"/>
            </a:endParaRPr>
          </a:p>
          <a:p>
            <a:endParaRPr lang="en" sz="2800">
              <a:solidFill>
                <a:srgbClr val="3C4043"/>
              </a:solidFill>
              <a:latin typeface="Nunito"/>
              <a:ea typeface="Roboto"/>
              <a:cs typeface="Roboto"/>
            </a:endParaRPr>
          </a:p>
          <a:p>
            <a:r>
              <a:rPr lang="en" sz="2800">
                <a:solidFill>
                  <a:srgbClr val="3C4043"/>
                </a:solidFill>
                <a:latin typeface="Nunito"/>
                <a:ea typeface="Roboto"/>
                <a:cs typeface="Roboto"/>
              </a:rPr>
              <a:t>Data Storage: A stable foundation built on Unity 6.3 and Git LFS storage.</a:t>
            </a:r>
            <a:endParaRPr lang="en-US" sz="2800">
              <a:latin typeface="Nunito"/>
            </a:endParaRPr>
          </a:p>
          <a:p>
            <a:pPr algn="l"/>
            <a:endParaRPr lang="en-US" sz="2800"/>
          </a:p>
        </p:txBody>
      </p:sp>
    </p:spTree>
    <p:extLst>
      <p:ext uri="{BB962C8B-B14F-4D97-AF65-F5344CB8AC3E}">
        <p14:creationId xmlns:p14="http://schemas.microsoft.com/office/powerpoint/2010/main" val="3829767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5">
            <a:extLst>
              <a:ext uri="{FF2B5EF4-FFF2-40B4-BE49-F238E27FC236}">
                <a16:creationId xmlns:a16="http://schemas.microsoft.com/office/drawing/2014/main" id="{FD63545B-3DA4-2034-0F32-77D288ED092E}"/>
              </a:ext>
            </a:extLst>
          </p:cNvPr>
          <p:cNvGrpSpPr/>
          <p:nvPr/>
        </p:nvGrpSpPr>
        <p:grpSpPr>
          <a:xfrm>
            <a:off x="-3424764" y="-3280343"/>
            <a:ext cx="8460552" cy="8855407"/>
            <a:chOff x="76200" y="-159896"/>
            <a:chExt cx="856522" cy="896496"/>
          </a:xfrm>
        </p:grpSpPr>
        <p:sp>
          <p:nvSpPr>
            <p:cNvPr id="6" name="TextBox 7">
              <a:extLst>
                <a:ext uri="{FF2B5EF4-FFF2-40B4-BE49-F238E27FC236}">
                  <a16:creationId xmlns:a16="http://schemas.microsoft.com/office/drawing/2014/main" id="{9CA00209-7733-2D70-B71C-B437A20190C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sp>
          <p:nvSpPr>
            <p:cNvPr id="5" name="Freeform 6">
              <a:extLst>
                <a:ext uri="{FF2B5EF4-FFF2-40B4-BE49-F238E27FC236}">
                  <a16:creationId xmlns:a16="http://schemas.microsoft.com/office/drawing/2014/main" id="{E05FC73A-852E-3FE5-BAA0-3912768C50D3}"/>
                </a:ext>
              </a:extLst>
            </p:cNvPr>
            <p:cNvSpPr/>
            <p:nvPr/>
          </p:nvSpPr>
          <p:spPr>
            <a:xfrm>
              <a:off x="119922" y="-159896"/>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grpSp>
      <p:sp>
        <p:nvSpPr>
          <p:cNvPr id="3" name="TextBox 13">
            <a:extLst>
              <a:ext uri="{FF2B5EF4-FFF2-40B4-BE49-F238E27FC236}">
                <a16:creationId xmlns:a16="http://schemas.microsoft.com/office/drawing/2014/main" id="{3359D563-6D36-11C3-7E49-B81920AE541A}"/>
              </a:ext>
            </a:extLst>
          </p:cNvPr>
          <p:cNvSpPr txBox="1"/>
          <p:nvPr/>
        </p:nvSpPr>
        <p:spPr>
          <a:xfrm>
            <a:off x="465934" y="676011"/>
            <a:ext cx="6754774" cy="34163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200">
                <a:solidFill>
                  <a:srgbClr val="000000"/>
                </a:solidFill>
                <a:latin typeface="Nirand Bold"/>
                <a:ea typeface="+mn-lt"/>
                <a:cs typeface="Nirand Bold"/>
              </a:rPr>
              <a:t>Class Diagram (UML Diagram)</a:t>
            </a:r>
            <a:endParaRPr lang="en-US"/>
          </a:p>
        </p:txBody>
      </p:sp>
      <p:grpSp>
        <p:nvGrpSpPr>
          <p:cNvPr id="15" name="Group 5">
            <a:extLst>
              <a:ext uri="{FF2B5EF4-FFF2-40B4-BE49-F238E27FC236}">
                <a16:creationId xmlns:a16="http://schemas.microsoft.com/office/drawing/2014/main" id="{35952817-7458-462C-FBCC-951B222BDB8D}"/>
              </a:ext>
            </a:extLst>
          </p:cNvPr>
          <p:cNvGrpSpPr/>
          <p:nvPr/>
        </p:nvGrpSpPr>
        <p:grpSpPr>
          <a:xfrm>
            <a:off x="-1086690" y="3641919"/>
            <a:ext cx="2124948" cy="1937911"/>
            <a:chOff x="0" y="0"/>
            <a:chExt cx="812800" cy="812800"/>
          </a:xfrm>
        </p:grpSpPr>
        <p:sp>
          <p:nvSpPr>
            <p:cNvPr id="11" name="Freeform 6">
              <a:extLst>
                <a:ext uri="{FF2B5EF4-FFF2-40B4-BE49-F238E27FC236}">
                  <a16:creationId xmlns:a16="http://schemas.microsoft.com/office/drawing/2014/main" id="{A6C15C0A-10F8-1204-A5DB-8AF6691BC84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3" name="TextBox 7">
              <a:extLst>
                <a:ext uri="{FF2B5EF4-FFF2-40B4-BE49-F238E27FC236}">
                  <a16:creationId xmlns:a16="http://schemas.microsoft.com/office/drawing/2014/main" id="{3A4AC769-F573-B910-1B36-89C23009009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6">
            <a:extLst>
              <a:ext uri="{FF2B5EF4-FFF2-40B4-BE49-F238E27FC236}">
                <a16:creationId xmlns:a16="http://schemas.microsoft.com/office/drawing/2014/main" id="{3317DF2F-EB47-DD59-C566-3B7D10037303}"/>
              </a:ext>
            </a:extLst>
          </p:cNvPr>
          <p:cNvSpPr/>
          <p:nvPr/>
        </p:nvSpPr>
        <p:spPr>
          <a:xfrm>
            <a:off x="1310146" y="6101101"/>
            <a:ext cx="3517329" cy="351732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pic>
        <p:nvPicPr>
          <p:cNvPr id="19" name="Picture 18">
            <a:extLst>
              <a:ext uri="{FF2B5EF4-FFF2-40B4-BE49-F238E27FC236}">
                <a16:creationId xmlns:a16="http://schemas.microsoft.com/office/drawing/2014/main" id="{ED108B3B-9922-B5EC-CD1F-6EBEF1496238}"/>
              </a:ext>
            </a:extLst>
          </p:cNvPr>
          <p:cNvPicPr>
            <a:picLocks noChangeAspect="1"/>
          </p:cNvPicPr>
          <p:nvPr/>
        </p:nvPicPr>
        <p:blipFill>
          <a:blip r:embed="rId2"/>
          <a:stretch>
            <a:fillRect/>
          </a:stretch>
        </p:blipFill>
        <p:spPr>
          <a:xfrm>
            <a:off x="7789287" y="176646"/>
            <a:ext cx="10253228" cy="9933707"/>
          </a:xfrm>
          <a:prstGeom prst="rect">
            <a:avLst/>
          </a:prstGeom>
        </p:spPr>
      </p:pic>
    </p:spTree>
    <p:extLst>
      <p:ext uri="{BB962C8B-B14F-4D97-AF65-F5344CB8AC3E}">
        <p14:creationId xmlns:p14="http://schemas.microsoft.com/office/powerpoint/2010/main" val="1664291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3F877-4715-0E71-BBBC-3ADE2674F33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B8648D-85AB-8B4B-C46D-EE357D9AD6E9}"/>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4EE2C75B-5664-0ADB-458E-9F39507D0F0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1FF13004-B698-4592-F73D-F7A339B9F1B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75A2D1F6-A3DB-D017-971C-0178FA669340}"/>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D0AB405C-A479-1F64-5D77-81E0B65613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08FA4C2B-4BA7-4970-01E9-057D77EDD91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E009E2A0-42AC-945E-62DC-BB7A48D11AFD}"/>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920E3A99-1580-C1B8-9ED9-80377C2656A7}"/>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E37FFDA2-2D62-22DF-B233-DC1F55F716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9D3FAA4-658D-6D1B-35E3-E0453D6A26C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92B3588C-CB04-3E8A-3468-33042258D4E1}"/>
              </a:ext>
            </a:extLst>
          </p:cNvPr>
          <p:cNvSpPr txBox="1"/>
          <p:nvPr/>
        </p:nvSpPr>
        <p:spPr>
          <a:xfrm>
            <a:off x="3687640" y="-220692"/>
            <a:ext cx="9164271"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Product Backlog</a:t>
            </a:r>
            <a:endParaRPr lang="en-US" sz="6000"/>
          </a:p>
        </p:txBody>
      </p:sp>
      <p:pic>
        <p:nvPicPr>
          <p:cNvPr id="14" name="Picture 13" descr="A screenshot of a computer&#10;&#10;AI-generated content may be incorrect.">
            <a:extLst>
              <a:ext uri="{FF2B5EF4-FFF2-40B4-BE49-F238E27FC236}">
                <a16:creationId xmlns:a16="http://schemas.microsoft.com/office/drawing/2014/main" id="{5CBFC03D-8289-17F8-82AA-ED69A61B7B34}"/>
              </a:ext>
            </a:extLst>
          </p:cNvPr>
          <p:cNvPicPr>
            <a:picLocks noChangeAspect="1"/>
          </p:cNvPicPr>
          <p:nvPr/>
        </p:nvPicPr>
        <p:blipFill>
          <a:blip r:embed="rId2"/>
          <a:stretch>
            <a:fillRect/>
          </a:stretch>
        </p:blipFill>
        <p:spPr>
          <a:xfrm>
            <a:off x="1023938" y="1008063"/>
            <a:ext cx="15319375" cy="7778750"/>
          </a:xfrm>
          <a:prstGeom prst="rect">
            <a:avLst/>
          </a:prstGeom>
        </p:spPr>
      </p:pic>
    </p:spTree>
    <p:extLst>
      <p:ext uri="{BB962C8B-B14F-4D97-AF65-F5344CB8AC3E}">
        <p14:creationId xmlns:p14="http://schemas.microsoft.com/office/powerpoint/2010/main" val="4038318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0D395-C24A-3D3A-3718-EB430794FD7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7FDF22F-33DB-3387-9D77-78E7BE41C622}"/>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E41DB1DD-F2D4-1049-3F56-CAD4338FC9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21B6AE9E-37B9-C56E-88A7-062741DE1AD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97DD55EC-C253-1312-CFB2-DCA67F47CFA4}"/>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06BCEEC4-1D4B-B3CB-9A21-72D5ED49D03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D0EA9C7D-0C93-E0CF-627A-0407DB400A9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222CC9F2-8E44-AFD4-6EBB-67D9581CADF7}"/>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00C6F5B-C80B-2DBD-90DC-A4383D1E5321}"/>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78ED3E4C-9886-2E4F-8843-8F62644B143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E8D2753-C0AE-6009-9788-15627BD1E0F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A884C8EC-51C6-394F-A107-A8053D8513EC}"/>
              </a:ext>
            </a:extLst>
          </p:cNvPr>
          <p:cNvSpPr txBox="1"/>
          <p:nvPr/>
        </p:nvSpPr>
        <p:spPr>
          <a:xfrm>
            <a:off x="2417640" y="1558"/>
            <a:ext cx="11926521"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Product Backlog Continued</a:t>
            </a:r>
            <a:endParaRPr lang="en-US" sz="6000"/>
          </a:p>
        </p:txBody>
      </p:sp>
      <p:pic>
        <p:nvPicPr>
          <p:cNvPr id="14" name="Picture 13" descr="A screenshot of a game&#10;&#10;AI-generated content may be incorrect.">
            <a:extLst>
              <a:ext uri="{FF2B5EF4-FFF2-40B4-BE49-F238E27FC236}">
                <a16:creationId xmlns:a16="http://schemas.microsoft.com/office/drawing/2014/main" id="{4C8373C5-9A58-E475-FE56-7201A58808EA}"/>
              </a:ext>
            </a:extLst>
          </p:cNvPr>
          <p:cNvPicPr>
            <a:picLocks noChangeAspect="1"/>
          </p:cNvPicPr>
          <p:nvPr/>
        </p:nvPicPr>
        <p:blipFill>
          <a:blip r:embed="rId2"/>
          <a:stretch>
            <a:fillRect/>
          </a:stretch>
        </p:blipFill>
        <p:spPr>
          <a:xfrm>
            <a:off x="1023938" y="1219200"/>
            <a:ext cx="14827250" cy="6578600"/>
          </a:xfrm>
          <a:prstGeom prst="rect">
            <a:avLst/>
          </a:prstGeom>
        </p:spPr>
      </p:pic>
    </p:spTree>
    <p:extLst>
      <p:ext uri="{BB962C8B-B14F-4D97-AF65-F5344CB8AC3E}">
        <p14:creationId xmlns:p14="http://schemas.microsoft.com/office/powerpoint/2010/main" val="4127186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2FEF6-4128-5E58-6E98-A88B398A521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5BB6990-54FA-C4C0-7B9C-80EDA3A95093}"/>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07F25CA6-1959-4BA0-2688-91508C981C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AD3C3E41-4435-2D3F-FF17-8320BD79E38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8424970-2F0A-CE82-9BA6-11A7758A6486}"/>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1A2C7602-A8E7-9BFA-947D-B6347D197A1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730B2760-21A0-F1F4-D9C5-0266572591F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CB6B8A0-6944-3A9E-A191-ACEAF6E14388}"/>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B3BD9EC9-0200-A056-CB6F-C0CC5F21E94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E41A6CF5-96B0-21A1-3DFE-2C35316A8F1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054250A3-8B6A-92EE-93ED-45E03DA802B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2358EE12-D43F-F408-548A-603867CE6522}"/>
              </a:ext>
            </a:extLst>
          </p:cNvPr>
          <p:cNvSpPr txBox="1"/>
          <p:nvPr/>
        </p:nvSpPr>
        <p:spPr>
          <a:xfrm>
            <a:off x="4772025" y="394770"/>
            <a:ext cx="7581656"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rPr>
              <a:t>Sprint 2 Stories</a:t>
            </a:r>
          </a:p>
        </p:txBody>
      </p:sp>
      <p:pic>
        <p:nvPicPr>
          <p:cNvPr id="15" name="Picture 14" descr="A screenshot of a computer program&#10;&#10;AI-generated content may be incorrect.">
            <a:extLst>
              <a:ext uri="{FF2B5EF4-FFF2-40B4-BE49-F238E27FC236}">
                <a16:creationId xmlns:a16="http://schemas.microsoft.com/office/drawing/2014/main" id="{1A9FF527-6DFB-257F-3D6A-DE52D8CD86B6}"/>
              </a:ext>
            </a:extLst>
          </p:cNvPr>
          <p:cNvPicPr>
            <a:picLocks noChangeAspect="1"/>
          </p:cNvPicPr>
          <p:nvPr/>
        </p:nvPicPr>
        <p:blipFill>
          <a:blip r:embed="rId2"/>
          <a:stretch>
            <a:fillRect/>
          </a:stretch>
        </p:blipFill>
        <p:spPr>
          <a:xfrm>
            <a:off x="-7937" y="1858963"/>
            <a:ext cx="18288000" cy="8029575"/>
          </a:xfrm>
          <a:prstGeom prst="rect">
            <a:avLst/>
          </a:prstGeom>
        </p:spPr>
      </p:pic>
    </p:spTree>
    <p:extLst>
      <p:ext uri="{BB962C8B-B14F-4D97-AF65-F5344CB8AC3E}">
        <p14:creationId xmlns:p14="http://schemas.microsoft.com/office/powerpoint/2010/main" val="1303661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44C07-2257-6C47-B70B-2DB6E8334CE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30A162D-9EF6-37EC-1E35-36CEBC65CC5E}"/>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98FB3F27-3735-8D0C-776B-002AB10006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D194F0C5-2825-B96C-5A75-62BB0225A4B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750D9C3-B279-FCD7-CDC8-43A04D18D19A}"/>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30CB64CC-31BE-BB5E-C9DE-EC40802816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9E105AEB-6DC0-D151-F871-2326AB84F7B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C5C12928-2DCB-A21C-7CA6-FB025092A49F}"/>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90C16ECD-3D18-0700-3908-94A7A5C3078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5AF366F9-F86C-72D5-BEC8-70A0F21A18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80C5E977-24BD-0558-E56C-876529D5799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FA785E97-0C07-BBED-18BC-7934614BE21F}"/>
              </a:ext>
            </a:extLst>
          </p:cNvPr>
          <p:cNvSpPr txBox="1"/>
          <p:nvPr/>
        </p:nvSpPr>
        <p:spPr>
          <a:xfrm>
            <a:off x="2546183" y="274454"/>
            <a:ext cx="12514603"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rPr>
              <a:t>Sprint 2 Stories Continued</a:t>
            </a:r>
            <a:endParaRPr lang="en-US"/>
          </a:p>
        </p:txBody>
      </p:sp>
      <p:pic>
        <p:nvPicPr>
          <p:cNvPr id="12" name="Picture 11" descr="A screenshot of a video game&#10;&#10;AI-generated content may be incorrect.">
            <a:extLst>
              <a:ext uri="{FF2B5EF4-FFF2-40B4-BE49-F238E27FC236}">
                <a16:creationId xmlns:a16="http://schemas.microsoft.com/office/drawing/2014/main" id="{61C14BB0-E4C1-EAB4-0ED5-4B3DACE45FAA}"/>
              </a:ext>
            </a:extLst>
          </p:cNvPr>
          <p:cNvPicPr>
            <a:picLocks noChangeAspect="1"/>
          </p:cNvPicPr>
          <p:nvPr/>
        </p:nvPicPr>
        <p:blipFill>
          <a:blip r:embed="rId2"/>
          <a:stretch>
            <a:fillRect/>
          </a:stretch>
        </p:blipFill>
        <p:spPr>
          <a:xfrm>
            <a:off x="0" y="1979613"/>
            <a:ext cx="18288000" cy="6327775"/>
          </a:xfrm>
          <a:prstGeom prst="rect">
            <a:avLst/>
          </a:prstGeom>
        </p:spPr>
      </p:pic>
    </p:spTree>
    <p:extLst>
      <p:ext uri="{BB962C8B-B14F-4D97-AF65-F5344CB8AC3E}">
        <p14:creationId xmlns:p14="http://schemas.microsoft.com/office/powerpoint/2010/main" val="730575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ABE3A-9084-4469-3D63-B048A551BE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75B634-44D0-761F-7D18-58AC3BF97C00}"/>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0ED99FC2-91C0-4DB1-8C92-AF1C2C136E2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CEB33474-7B8A-E617-2A59-6FD96B15D6F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C47760BD-F670-C007-1FC1-5532E07B0604}"/>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DFC4A449-40CE-57E5-2CF8-CAF1AFEBF4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69C4FEE8-154C-8973-1032-7F70DCAADC2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2D9FF6E6-C746-7783-8DA6-4444AA090A48}"/>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1DFF2A4-C282-187D-9392-7336B8BC9AE8}"/>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8C25594F-40CB-369E-39D6-9060FEA9AE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C37EC183-7DBD-D65A-FA86-06C925228E0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A0585871-187B-8C6A-5248-1F1EEDE9133B}"/>
              </a:ext>
            </a:extLst>
          </p:cNvPr>
          <p:cNvSpPr txBox="1"/>
          <p:nvPr/>
        </p:nvSpPr>
        <p:spPr>
          <a:xfrm>
            <a:off x="4591551" y="-462480"/>
            <a:ext cx="9061694" cy="1137747"/>
          </a:xfrm>
          <a:prstGeom prst="rect">
            <a:avLst/>
          </a:prstGeom>
        </p:spPr>
        <p:txBody>
          <a:bodyPr wrap="square" lIns="0" tIns="0" rIns="0" bIns="0" rtlCol="0" anchor="t">
            <a:spAutoFit/>
          </a:bodyPr>
          <a:lstStyle/>
          <a:p>
            <a:pPr algn="ctr">
              <a:lnSpc>
                <a:spcPts val="10500"/>
              </a:lnSpc>
            </a:pPr>
            <a:r>
              <a:rPr lang="en-US" sz="3600" b="1">
                <a:solidFill>
                  <a:srgbClr val="2E3A44"/>
                </a:solidFill>
                <a:latin typeface="Nirand Bold"/>
                <a:cs typeface="Nirand Bold"/>
              </a:rPr>
              <a:t>Sprint 2 Test Cases</a:t>
            </a:r>
          </a:p>
        </p:txBody>
      </p:sp>
      <p:pic>
        <p:nvPicPr>
          <p:cNvPr id="15" name="Picture 14" descr="A screenshot of a test&#10;&#10;AI-generated content may be incorrect.">
            <a:extLst>
              <a:ext uri="{FF2B5EF4-FFF2-40B4-BE49-F238E27FC236}">
                <a16:creationId xmlns:a16="http://schemas.microsoft.com/office/drawing/2014/main" id="{E087E8DE-F76A-B785-E871-16CDF0323A71}"/>
              </a:ext>
            </a:extLst>
          </p:cNvPr>
          <p:cNvPicPr>
            <a:picLocks noChangeAspect="1"/>
          </p:cNvPicPr>
          <p:nvPr/>
        </p:nvPicPr>
        <p:blipFill>
          <a:blip r:embed="rId2"/>
          <a:stretch>
            <a:fillRect/>
          </a:stretch>
        </p:blipFill>
        <p:spPr>
          <a:xfrm>
            <a:off x="-31750" y="982663"/>
            <a:ext cx="18288000" cy="8575675"/>
          </a:xfrm>
          <a:prstGeom prst="rect">
            <a:avLst/>
          </a:prstGeom>
        </p:spPr>
      </p:pic>
    </p:spTree>
    <p:extLst>
      <p:ext uri="{BB962C8B-B14F-4D97-AF65-F5344CB8AC3E}">
        <p14:creationId xmlns:p14="http://schemas.microsoft.com/office/powerpoint/2010/main" val="2135944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2A321-E03E-CE94-58B7-74CF6CD0756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B6884B4-C815-91DE-A39E-5BE84C010F76}"/>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3B02A82E-67A5-891C-38A6-D7FDEFB5EF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0058FC15-79BF-36D3-1FCB-16F5F1C6ED7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BF7269F-B44C-D715-C422-813606911F5C}"/>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064FE147-D467-740E-6EB1-352C6AED1F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91586F77-D40C-787A-A7EA-4FCC9EC5E28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F1076EFB-88B6-5802-B293-2D933B1E0085}"/>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E5DB812E-B9D0-82ED-247A-43B69032068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7C2D1124-9D4F-239E-4A7B-2A3D9F4AB3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6CB2E58-5653-6369-29EC-DA0E7D59CDE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EFF5F52B-F83D-2DCA-AED4-0DB9AA44BCCE}"/>
              </a:ext>
            </a:extLst>
          </p:cNvPr>
          <p:cNvSpPr txBox="1"/>
          <p:nvPr/>
        </p:nvSpPr>
        <p:spPr>
          <a:xfrm>
            <a:off x="4591551" y="-462480"/>
            <a:ext cx="9061694" cy="1137747"/>
          </a:xfrm>
          <a:prstGeom prst="rect">
            <a:avLst/>
          </a:prstGeom>
        </p:spPr>
        <p:txBody>
          <a:bodyPr wrap="square" lIns="0" tIns="0" rIns="0" bIns="0" rtlCol="0" anchor="t">
            <a:spAutoFit/>
          </a:bodyPr>
          <a:lstStyle/>
          <a:p>
            <a:pPr algn="ctr">
              <a:lnSpc>
                <a:spcPts val="10500"/>
              </a:lnSpc>
            </a:pPr>
            <a:r>
              <a:rPr lang="en-US" sz="3600" b="1">
                <a:solidFill>
                  <a:srgbClr val="2E3A44"/>
                </a:solidFill>
                <a:latin typeface="Nirand Bold"/>
                <a:cs typeface="Nirand Bold"/>
              </a:rPr>
              <a:t>Sprint 2 Test Cases Continued</a:t>
            </a:r>
          </a:p>
        </p:txBody>
      </p:sp>
      <p:pic>
        <p:nvPicPr>
          <p:cNvPr id="12" name="Picture 11" descr="A screenshot of a test&#10;&#10;AI-generated content may be incorrect.">
            <a:extLst>
              <a:ext uri="{FF2B5EF4-FFF2-40B4-BE49-F238E27FC236}">
                <a16:creationId xmlns:a16="http://schemas.microsoft.com/office/drawing/2014/main" id="{E03B29F0-913F-9D88-EE44-4C6AC34733B7}"/>
              </a:ext>
            </a:extLst>
          </p:cNvPr>
          <p:cNvPicPr>
            <a:picLocks noChangeAspect="1"/>
          </p:cNvPicPr>
          <p:nvPr/>
        </p:nvPicPr>
        <p:blipFill>
          <a:blip r:embed="rId2"/>
          <a:stretch>
            <a:fillRect/>
          </a:stretch>
        </p:blipFill>
        <p:spPr>
          <a:xfrm>
            <a:off x="3175" y="1214438"/>
            <a:ext cx="18281650" cy="8509000"/>
          </a:xfrm>
          <a:prstGeom prst="rect">
            <a:avLst/>
          </a:prstGeom>
        </p:spPr>
      </p:pic>
    </p:spTree>
    <p:extLst>
      <p:ext uri="{BB962C8B-B14F-4D97-AF65-F5344CB8AC3E}">
        <p14:creationId xmlns:p14="http://schemas.microsoft.com/office/powerpoint/2010/main" val="3392150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AFB2C-1D14-023F-F608-2D09F652738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016D3CB-6E56-3EBA-23FE-404CB8B77BA8}"/>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1E0A19F0-45C3-B46B-CFFF-CCCAB33C1B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9503027F-9A6D-88E8-6E77-27A693A301A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24884185-065B-0765-FACB-AFE8493BACDE}"/>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F7D9CA3E-F44D-41C3-0A6C-BA7B8E146F2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B590C436-C5C0-DEE0-2430-5841446BA8E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9680C34C-83C4-45DF-2FA6-C1CB8C678AD9}"/>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D68DBFB0-0D93-1085-F533-7D314EB5E450}"/>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6F465804-B966-6CAF-5FA5-B6A091FA549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8B3FA2AF-F848-0B47-24DF-86DB63B59F0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90137691-624F-793B-3531-6C7F08D39CFE}"/>
              </a:ext>
            </a:extLst>
          </p:cNvPr>
          <p:cNvSpPr txBox="1"/>
          <p:nvPr/>
        </p:nvSpPr>
        <p:spPr>
          <a:xfrm>
            <a:off x="4591551" y="-462480"/>
            <a:ext cx="9061694" cy="1137747"/>
          </a:xfrm>
          <a:prstGeom prst="rect">
            <a:avLst/>
          </a:prstGeom>
        </p:spPr>
        <p:txBody>
          <a:bodyPr wrap="square" lIns="0" tIns="0" rIns="0" bIns="0" rtlCol="0" anchor="t">
            <a:spAutoFit/>
          </a:bodyPr>
          <a:lstStyle/>
          <a:p>
            <a:pPr algn="ctr">
              <a:lnSpc>
                <a:spcPts val="10500"/>
              </a:lnSpc>
            </a:pPr>
            <a:r>
              <a:rPr lang="en-US" sz="3600" b="1">
                <a:solidFill>
                  <a:srgbClr val="2E3A44"/>
                </a:solidFill>
                <a:latin typeface="Nirand Bold"/>
                <a:cs typeface="Nirand Bold"/>
              </a:rPr>
              <a:t>Sprint 2 Test Cases Continued</a:t>
            </a:r>
          </a:p>
        </p:txBody>
      </p:sp>
      <p:pic>
        <p:nvPicPr>
          <p:cNvPr id="14" name="Picture 13" descr="A screenshot of a computer screen&#10;&#10;AI-generated content may be incorrect.">
            <a:extLst>
              <a:ext uri="{FF2B5EF4-FFF2-40B4-BE49-F238E27FC236}">
                <a16:creationId xmlns:a16="http://schemas.microsoft.com/office/drawing/2014/main" id="{9C9D83FB-362B-872A-A30A-59E8C64A9717}"/>
              </a:ext>
            </a:extLst>
          </p:cNvPr>
          <p:cNvPicPr>
            <a:picLocks noChangeAspect="1"/>
          </p:cNvPicPr>
          <p:nvPr/>
        </p:nvPicPr>
        <p:blipFill>
          <a:blip r:embed="rId2"/>
          <a:stretch>
            <a:fillRect/>
          </a:stretch>
        </p:blipFill>
        <p:spPr>
          <a:xfrm>
            <a:off x="-7937" y="2535238"/>
            <a:ext cx="18288000" cy="3756025"/>
          </a:xfrm>
          <a:prstGeom prst="rect">
            <a:avLst/>
          </a:prstGeom>
        </p:spPr>
      </p:pic>
    </p:spTree>
    <p:extLst>
      <p:ext uri="{BB962C8B-B14F-4D97-AF65-F5344CB8AC3E}">
        <p14:creationId xmlns:p14="http://schemas.microsoft.com/office/powerpoint/2010/main" val="37811631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0D5E3-B7D9-AE35-E4BD-B1DCA79F49F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974365-92F5-278D-1C4E-AE27838C83FE}"/>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EB186A7C-1417-4C1A-0BAF-121CF3FD99D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6EB71375-7B53-A580-580A-DB0AF3BEFFF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020A67AD-20E5-0B91-E9D9-24C818ACB3D3}"/>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FFD2BB76-8F12-CE0C-8DCB-16D75D7F69C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AFBBEA0F-3D2B-C516-E5D0-533E93C3E12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800B308B-BD57-B43D-1AEC-ED03CE727004}"/>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B093C0F7-4DEE-2ABD-74DC-3BC50E852492}"/>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A44422BF-3F2C-4AFB-474D-54F460644C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F90BFA7F-92EB-88DC-A6E1-05D59DB06FE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3">
            <a:extLst>
              <a:ext uri="{FF2B5EF4-FFF2-40B4-BE49-F238E27FC236}">
                <a16:creationId xmlns:a16="http://schemas.microsoft.com/office/drawing/2014/main" id="{71318ECD-9D0A-76AD-C52B-981075CC00D8}"/>
              </a:ext>
            </a:extLst>
          </p:cNvPr>
          <p:cNvSpPr txBox="1"/>
          <p:nvPr/>
        </p:nvSpPr>
        <p:spPr>
          <a:xfrm>
            <a:off x="2006111" y="-395124"/>
            <a:ext cx="13677655" cy="1166153"/>
          </a:xfrm>
          <a:prstGeom prst="rect">
            <a:avLst/>
          </a:prstGeom>
        </p:spPr>
        <p:txBody>
          <a:bodyPr wrap="square" lIns="0" tIns="0" rIns="0" bIns="0" rtlCol="0" anchor="t">
            <a:spAutoFit/>
          </a:bodyPr>
          <a:lstStyle/>
          <a:p>
            <a:pPr algn="ctr">
              <a:lnSpc>
                <a:spcPts val="10500"/>
              </a:lnSpc>
            </a:pPr>
            <a:r>
              <a:rPr lang="en-US" sz="4400" b="1">
                <a:solidFill>
                  <a:srgbClr val="2E3A44"/>
                </a:solidFill>
                <a:latin typeface="Nirand Bold"/>
                <a:cs typeface="Nirand Bold"/>
              </a:rPr>
              <a:t>Sprint 2 Stories Completed</a:t>
            </a:r>
          </a:p>
        </p:txBody>
      </p:sp>
      <p:pic>
        <p:nvPicPr>
          <p:cNvPr id="14" name="Picture 13" descr="A screenshot of a test results&#10;&#10;AI-generated content may be incorrect.">
            <a:extLst>
              <a:ext uri="{FF2B5EF4-FFF2-40B4-BE49-F238E27FC236}">
                <a16:creationId xmlns:a16="http://schemas.microsoft.com/office/drawing/2014/main" id="{44D85E3D-3BDD-97F0-E98E-F1D92DF17618}"/>
              </a:ext>
            </a:extLst>
          </p:cNvPr>
          <p:cNvPicPr>
            <a:picLocks noChangeAspect="1"/>
          </p:cNvPicPr>
          <p:nvPr/>
        </p:nvPicPr>
        <p:blipFill>
          <a:blip r:embed="rId2"/>
          <a:stretch>
            <a:fillRect/>
          </a:stretch>
        </p:blipFill>
        <p:spPr>
          <a:xfrm>
            <a:off x="-4762" y="773113"/>
            <a:ext cx="18297525" cy="9391650"/>
          </a:xfrm>
          <a:prstGeom prst="rect">
            <a:avLst/>
          </a:prstGeom>
        </p:spPr>
      </p:pic>
    </p:spTree>
    <p:extLst>
      <p:ext uri="{BB962C8B-B14F-4D97-AF65-F5344CB8AC3E}">
        <p14:creationId xmlns:p14="http://schemas.microsoft.com/office/powerpoint/2010/main" val="518730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A29E-2D51-40EA-50EA-21BC82D9D35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06B5E0-73B3-5E0A-CC50-E3E24D08916E}"/>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8471CFAE-F674-69FA-B98D-FACDEA2624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F2362B7A-A5E8-0437-AC54-0D72401C425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DA1A7F33-1145-97EC-1426-3587A56B3DFA}"/>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8E868278-C9D9-4192-58DC-D06BBD8D87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78515396-2DE4-4AF3-51DE-2CCC46DC400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E9ADA8DB-5B7B-1992-E307-094873A07F9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1C00A060-653E-8559-B0B8-142A07E8AB4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40670E2F-9066-C126-0E51-3EFFA604F5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05885B49-14FD-C74F-9B24-C34C6CD7BC1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3">
            <a:extLst>
              <a:ext uri="{FF2B5EF4-FFF2-40B4-BE49-F238E27FC236}">
                <a16:creationId xmlns:a16="http://schemas.microsoft.com/office/drawing/2014/main" id="{07A61C56-158B-DB21-5DFA-AB9871B0E422}"/>
              </a:ext>
            </a:extLst>
          </p:cNvPr>
          <p:cNvSpPr txBox="1"/>
          <p:nvPr/>
        </p:nvSpPr>
        <p:spPr>
          <a:xfrm>
            <a:off x="2006111" y="-395124"/>
            <a:ext cx="13677655" cy="1166153"/>
          </a:xfrm>
          <a:prstGeom prst="rect">
            <a:avLst/>
          </a:prstGeom>
        </p:spPr>
        <p:txBody>
          <a:bodyPr wrap="square" lIns="0" tIns="0" rIns="0" bIns="0" rtlCol="0" anchor="t">
            <a:spAutoFit/>
          </a:bodyPr>
          <a:lstStyle/>
          <a:p>
            <a:pPr algn="ctr">
              <a:lnSpc>
                <a:spcPts val="10500"/>
              </a:lnSpc>
            </a:pPr>
            <a:r>
              <a:rPr lang="en-US" sz="4400" b="1">
                <a:solidFill>
                  <a:srgbClr val="2E3A44"/>
                </a:solidFill>
                <a:latin typeface="Nirand Bold"/>
                <a:cs typeface="Nirand Bold"/>
              </a:rPr>
              <a:t>Sprint 2 Stories Not Completed</a:t>
            </a:r>
          </a:p>
        </p:txBody>
      </p:sp>
      <p:pic>
        <p:nvPicPr>
          <p:cNvPr id="12" name="Picture 11" descr="A screenshot of a screen&#10;&#10;AI-generated content may be incorrect.">
            <a:extLst>
              <a:ext uri="{FF2B5EF4-FFF2-40B4-BE49-F238E27FC236}">
                <a16:creationId xmlns:a16="http://schemas.microsoft.com/office/drawing/2014/main" id="{557FA263-C89D-9353-23A5-C4B8BA48B35E}"/>
              </a:ext>
            </a:extLst>
          </p:cNvPr>
          <p:cNvPicPr>
            <a:picLocks noChangeAspect="1"/>
          </p:cNvPicPr>
          <p:nvPr/>
        </p:nvPicPr>
        <p:blipFill>
          <a:blip r:embed="rId2"/>
          <a:stretch>
            <a:fillRect/>
          </a:stretch>
        </p:blipFill>
        <p:spPr>
          <a:xfrm>
            <a:off x="1588" y="1804988"/>
            <a:ext cx="18284825" cy="4994275"/>
          </a:xfrm>
          <a:prstGeom prst="rect">
            <a:avLst/>
          </a:prstGeom>
        </p:spPr>
      </p:pic>
    </p:spTree>
    <p:extLst>
      <p:ext uri="{BB962C8B-B14F-4D97-AF65-F5344CB8AC3E}">
        <p14:creationId xmlns:p14="http://schemas.microsoft.com/office/powerpoint/2010/main" val="1590751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1AEC-2404-EFE4-E7FA-834449762C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0C6840-94E7-C53A-1CD1-474D384959C2}"/>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11E4D553-22E8-168B-A583-D5EEDD4B4A8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12C84D73-D9A2-34E3-771F-CF4C1498876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7FB53490-960E-0029-5CE9-6813B9845F1C}"/>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AF746B97-EFA3-4545-8146-030405E1A1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1F865FE1-3362-581D-55AF-19791830789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7DD11E4B-F5A8-B07A-9AFD-22D961D9E79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E1DB12D0-2252-A860-C825-67FA4C46832E}"/>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86D5BD65-F983-B85D-FA2A-1A27BBB01F9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8241CF77-D9A0-6083-3DA4-3690A69B2ED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947E5EDF-79FD-80FA-8F1C-7FF98A790DBA}"/>
              </a:ext>
            </a:extLst>
          </p:cNvPr>
          <p:cNvSpPr txBox="1"/>
          <p:nvPr/>
        </p:nvSpPr>
        <p:spPr>
          <a:xfrm>
            <a:off x="2647217" y="-884"/>
            <a:ext cx="11039963"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Stories Planned for Sprint 3</a:t>
            </a:r>
            <a:endParaRPr lang="en-US" sz="6000"/>
          </a:p>
        </p:txBody>
      </p:sp>
      <p:pic>
        <p:nvPicPr>
          <p:cNvPr id="19" name="Picture 18" descr="A white and green checklist with black text&#10;&#10;AI-generated content may be incorrect.">
            <a:extLst>
              <a:ext uri="{FF2B5EF4-FFF2-40B4-BE49-F238E27FC236}">
                <a16:creationId xmlns:a16="http://schemas.microsoft.com/office/drawing/2014/main" id="{567BF8F5-060E-26D5-4474-EEA0A151FF6A}"/>
              </a:ext>
            </a:extLst>
          </p:cNvPr>
          <p:cNvPicPr>
            <a:picLocks noChangeAspect="1"/>
          </p:cNvPicPr>
          <p:nvPr/>
        </p:nvPicPr>
        <p:blipFill>
          <a:blip r:embed="rId2"/>
          <a:stretch>
            <a:fillRect/>
          </a:stretch>
        </p:blipFill>
        <p:spPr>
          <a:xfrm>
            <a:off x="1469048" y="1214072"/>
            <a:ext cx="14719788" cy="8430357"/>
          </a:xfrm>
          <a:prstGeom prst="rect">
            <a:avLst/>
          </a:prstGeom>
        </p:spPr>
      </p:pic>
    </p:spTree>
    <p:extLst>
      <p:ext uri="{BB962C8B-B14F-4D97-AF65-F5344CB8AC3E}">
        <p14:creationId xmlns:p14="http://schemas.microsoft.com/office/powerpoint/2010/main" val="2349108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F1D5E-FA93-C7FD-6572-D6857712F5D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E757DC3-38BD-8938-70B7-6C8E0BAD8105}"/>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888AD3B3-0EA9-2D8B-5729-B9A643CAD73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211F5223-90E3-7D0E-9EE9-7C45E44A389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627C6C9A-D82D-4A1A-F70E-FEDD50BC6B0F}"/>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6928FFA6-7775-2653-E744-5098C6E932C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20C4AEEA-A58A-92BA-BD4A-1BA8EA78C98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58AA0C53-6C7F-CFB5-60F6-DF58C860F7C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8414E409-E7B8-413D-12A0-F8C04781A8EC}"/>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3AD1656B-1C27-7782-98DD-A063A56B73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C2BE1DE-8EDB-C906-AAFD-EE6C6091D6B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48C49545-B5B6-7422-A0D1-9532828F002D}"/>
              </a:ext>
            </a:extLst>
          </p:cNvPr>
          <p:cNvSpPr txBox="1"/>
          <p:nvPr/>
        </p:nvSpPr>
        <p:spPr>
          <a:xfrm>
            <a:off x="2647217" y="-884"/>
            <a:ext cx="11039963"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Stories Planned for Sprint 3</a:t>
            </a:r>
            <a:endParaRPr lang="en-US" sz="6000"/>
          </a:p>
        </p:txBody>
      </p:sp>
      <p:pic>
        <p:nvPicPr>
          <p:cNvPr id="12" name="Picture 11" descr="A screenshot of a video game&#10;&#10;AI-generated content may be incorrect.">
            <a:extLst>
              <a:ext uri="{FF2B5EF4-FFF2-40B4-BE49-F238E27FC236}">
                <a16:creationId xmlns:a16="http://schemas.microsoft.com/office/drawing/2014/main" id="{F158D2C3-3255-3576-069A-819E2F266604}"/>
              </a:ext>
            </a:extLst>
          </p:cNvPr>
          <p:cNvPicPr>
            <a:picLocks noChangeAspect="1"/>
          </p:cNvPicPr>
          <p:nvPr/>
        </p:nvPicPr>
        <p:blipFill>
          <a:blip r:embed="rId2"/>
          <a:stretch>
            <a:fillRect/>
          </a:stretch>
        </p:blipFill>
        <p:spPr>
          <a:xfrm>
            <a:off x="1217688" y="1827764"/>
            <a:ext cx="16205812" cy="5652915"/>
          </a:xfrm>
          <a:prstGeom prst="rect">
            <a:avLst/>
          </a:prstGeom>
        </p:spPr>
      </p:pic>
    </p:spTree>
    <p:extLst>
      <p:ext uri="{BB962C8B-B14F-4D97-AF65-F5344CB8AC3E}">
        <p14:creationId xmlns:p14="http://schemas.microsoft.com/office/powerpoint/2010/main" val="27431607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568BA-D105-9F92-F2E0-5E8AF6D5419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D1A55ED-08FE-54E2-A6B4-86D0DB57B687}"/>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90F0B2FB-4521-6D7F-03F5-A3ED4D86991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3E29449B-BC70-B1FF-21FD-B5DD8B7B026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431DC0F8-213E-7250-FA6B-AC6E8FC8DCEA}"/>
              </a:ext>
            </a:extLst>
          </p:cNvPr>
          <p:cNvGrpSpPr/>
          <p:nvPr/>
        </p:nvGrpSpPr>
        <p:grpSpPr>
          <a:xfrm>
            <a:off x="-4121" y="-1188"/>
            <a:ext cx="3517329" cy="3517329"/>
            <a:chOff x="0" y="0"/>
            <a:chExt cx="812800" cy="812800"/>
          </a:xfrm>
        </p:grpSpPr>
        <p:sp>
          <p:nvSpPr>
            <p:cNvPr id="6" name="Freeform 6">
              <a:extLst>
                <a:ext uri="{FF2B5EF4-FFF2-40B4-BE49-F238E27FC236}">
                  <a16:creationId xmlns:a16="http://schemas.microsoft.com/office/drawing/2014/main" id="{E7A03F2F-2C72-3E7E-0F5B-ADD3B077325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8DB5BB91-F4EF-387B-71D5-C8D08D6826E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FBA142E3-C4FA-CA67-D1C8-51CF848FC02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AE927A9A-F811-E00D-555A-2A5996F76D60}"/>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0155683C-5066-88DD-6417-C4650F4B64C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F76D729B-02C9-FA05-4AAC-330EA0767F8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E4C3A0A0-1033-D1AB-F4BA-ED1972A6D6ED}"/>
              </a:ext>
            </a:extLst>
          </p:cNvPr>
          <p:cNvSpPr txBox="1"/>
          <p:nvPr/>
        </p:nvSpPr>
        <p:spPr>
          <a:xfrm>
            <a:off x="3505055" y="230061"/>
            <a:ext cx="13280781" cy="2277675"/>
          </a:xfrm>
          <a:prstGeom prst="rect">
            <a:avLst/>
          </a:prstGeom>
        </p:spPr>
        <p:txBody>
          <a:bodyPr wrap="square" lIns="0" tIns="0" rIns="0" bIns="0" rtlCol="0" anchor="t">
            <a:spAutoFit/>
          </a:bodyPr>
          <a:lstStyle/>
          <a:p>
            <a:pPr algn="ctr"/>
            <a:r>
              <a:rPr lang="en-US" sz="7500" b="1">
                <a:solidFill>
                  <a:srgbClr val="2E3A44"/>
                </a:solidFill>
                <a:latin typeface="Nirand Bold"/>
                <a:cs typeface="Nirand Bold"/>
                <a:sym typeface="Nirand Bold"/>
              </a:rPr>
              <a:t>Team Velocity – Sprint 2</a:t>
            </a:r>
            <a:endParaRPr lang="en-US" sz="7500">
              <a:solidFill>
                <a:srgbClr val="000000"/>
              </a:solidFill>
              <a:latin typeface="Nirand Bold"/>
              <a:cs typeface="Nirand Bold"/>
              <a:sym typeface="Nirand Bold"/>
            </a:endParaRPr>
          </a:p>
          <a:p>
            <a:pPr algn="ctr">
              <a:lnSpc>
                <a:spcPts val="10500"/>
              </a:lnSpc>
            </a:pPr>
            <a:endParaRPr lang="en-US" sz="3200" b="1">
              <a:solidFill>
                <a:srgbClr val="2E3A44"/>
              </a:solidFill>
              <a:latin typeface="Nirand Bold"/>
              <a:cs typeface="Nirand Bold"/>
            </a:endParaRPr>
          </a:p>
        </p:txBody>
      </p:sp>
      <p:sp>
        <p:nvSpPr>
          <p:cNvPr id="17" name="TextBox 12">
            <a:extLst>
              <a:ext uri="{FF2B5EF4-FFF2-40B4-BE49-F238E27FC236}">
                <a16:creationId xmlns:a16="http://schemas.microsoft.com/office/drawing/2014/main" id="{EC26D055-B53F-C3CC-B80F-24BB33564721}"/>
              </a:ext>
            </a:extLst>
          </p:cNvPr>
          <p:cNvSpPr txBox="1"/>
          <p:nvPr/>
        </p:nvSpPr>
        <p:spPr>
          <a:xfrm>
            <a:off x="333877" y="4419359"/>
            <a:ext cx="8062919" cy="1453603"/>
          </a:xfrm>
          <a:prstGeom prst="rect">
            <a:avLst/>
          </a:prstGeom>
        </p:spPr>
        <p:txBody>
          <a:bodyPr wrap="square" lIns="0" tIns="0" rIns="0" bIns="0" rtlCol="0" anchor="t">
            <a:spAutoFit/>
          </a:bodyPr>
          <a:lstStyle/>
          <a:p>
            <a:pPr marL="280035" lvl="1">
              <a:lnSpc>
                <a:spcPts val="3640"/>
              </a:lnSpc>
            </a:pPr>
            <a:r>
              <a:rPr lang="en-US" sz="4800">
                <a:solidFill>
                  <a:srgbClr val="2E3A44"/>
                </a:solidFill>
                <a:latin typeface="Nunito"/>
                <a:ea typeface="Calibri"/>
                <a:cs typeface="Nirand Bold"/>
              </a:rPr>
              <a:t>Story Points Committed: 45</a:t>
            </a:r>
            <a:endParaRPr lang="en-US" sz="4800">
              <a:solidFill>
                <a:srgbClr val="000000"/>
              </a:solidFill>
              <a:latin typeface="Corbel" panose="020B0503020204020204"/>
              <a:ea typeface="Calibri"/>
              <a:cs typeface="Nirand Bold"/>
            </a:endParaRPr>
          </a:p>
          <a:p>
            <a:pPr marL="280035" lvl="1">
              <a:lnSpc>
                <a:spcPts val="3640"/>
              </a:lnSpc>
            </a:pPr>
            <a:endParaRPr lang="en-US" sz="4800">
              <a:solidFill>
                <a:srgbClr val="2E3A44"/>
              </a:solidFill>
              <a:latin typeface="Nunito"/>
              <a:ea typeface="Calibri"/>
              <a:cs typeface="Nirand Bold"/>
            </a:endParaRPr>
          </a:p>
          <a:p>
            <a:pPr marL="280035" lvl="1">
              <a:lnSpc>
                <a:spcPts val="3640"/>
              </a:lnSpc>
            </a:pPr>
            <a:r>
              <a:rPr lang="en-US" sz="4800">
                <a:solidFill>
                  <a:srgbClr val="2E3A44"/>
                </a:solidFill>
                <a:latin typeface="Nunito"/>
                <a:ea typeface="Calibri"/>
                <a:cs typeface="Nirand Bold"/>
              </a:rPr>
              <a:t>Story Points Completed: 35</a:t>
            </a:r>
            <a:endParaRPr lang="en-US" sz="4800"/>
          </a:p>
        </p:txBody>
      </p:sp>
      <p:pic>
        <p:nvPicPr>
          <p:cNvPr id="12" name="Picture 11" descr="A blue and orange squares&#10;&#10;AI-generated content may be incorrect.">
            <a:extLst>
              <a:ext uri="{FF2B5EF4-FFF2-40B4-BE49-F238E27FC236}">
                <a16:creationId xmlns:a16="http://schemas.microsoft.com/office/drawing/2014/main" id="{3A49268F-AA83-E66F-B43F-1457F30C7EAF}"/>
              </a:ext>
            </a:extLst>
          </p:cNvPr>
          <p:cNvPicPr>
            <a:picLocks noChangeAspect="1"/>
          </p:cNvPicPr>
          <p:nvPr/>
        </p:nvPicPr>
        <p:blipFill>
          <a:blip r:embed="rId2"/>
          <a:stretch>
            <a:fillRect/>
          </a:stretch>
        </p:blipFill>
        <p:spPr>
          <a:xfrm>
            <a:off x="8262938" y="1746250"/>
            <a:ext cx="10160000" cy="7429500"/>
          </a:xfrm>
          <a:prstGeom prst="rect">
            <a:avLst/>
          </a:prstGeom>
        </p:spPr>
      </p:pic>
    </p:spTree>
    <p:extLst>
      <p:ext uri="{BB962C8B-B14F-4D97-AF65-F5344CB8AC3E}">
        <p14:creationId xmlns:p14="http://schemas.microsoft.com/office/powerpoint/2010/main" val="2627576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1FAF8-CC6C-577A-1635-73BC2E029A57}"/>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B8D6E49D-30AD-654D-E412-2A1A7FAE78F5}"/>
              </a:ext>
            </a:extLst>
          </p:cNvPr>
          <p:cNvSpPr txBox="1"/>
          <p:nvPr/>
        </p:nvSpPr>
        <p:spPr>
          <a:xfrm>
            <a:off x="3457430" y="230061"/>
            <a:ext cx="7581656" cy="2277675"/>
          </a:xfrm>
          <a:prstGeom prst="rect">
            <a:avLst/>
          </a:prstGeom>
        </p:spPr>
        <p:txBody>
          <a:bodyPr wrap="square" lIns="0" tIns="0" rIns="0" bIns="0" rtlCol="0" anchor="t">
            <a:spAutoFit/>
          </a:bodyPr>
          <a:lstStyle/>
          <a:p>
            <a:pPr algn="ctr"/>
            <a:r>
              <a:rPr lang="en-US" sz="7500" b="1">
                <a:solidFill>
                  <a:srgbClr val="2E3A44"/>
                </a:solidFill>
                <a:latin typeface="Nirand Bold"/>
                <a:cs typeface="Nirand Bold"/>
                <a:sym typeface="Nirand Bold"/>
              </a:rPr>
              <a:t>Team Velocity</a:t>
            </a:r>
            <a:endParaRPr lang="en-US" sz="7500">
              <a:solidFill>
                <a:srgbClr val="000000"/>
              </a:solidFill>
              <a:latin typeface="Nirand Bold"/>
              <a:cs typeface="Nirand Bold"/>
              <a:sym typeface="Nirand Bold"/>
            </a:endParaRPr>
          </a:p>
          <a:p>
            <a:pPr algn="ctr">
              <a:lnSpc>
                <a:spcPts val="10500"/>
              </a:lnSpc>
            </a:pPr>
            <a:endParaRPr lang="en-US" sz="3200" b="1">
              <a:solidFill>
                <a:srgbClr val="2E3A44"/>
              </a:solidFill>
              <a:latin typeface="Nirand Bold"/>
              <a:cs typeface="Nirand Bold"/>
            </a:endParaRPr>
          </a:p>
        </p:txBody>
      </p:sp>
      <p:pic>
        <p:nvPicPr>
          <p:cNvPr id="15" name="Picture 14" descr="A blue and orange squares&#10;&#10;AI-generated content may be incorrect.">
            <a:extLst>
              <a:ext uri="{FF2B5EF4-FFF2-40B4-BE49-F238E27FC236}">
                <a16:creationId xmlns:a16="http://schemas.microsoft.com/office/drawing/2014/main" id="{E0956E2E-8ED4-2A2D-3EF9-16EC7560D23D}"/>
              </a:ext>
            </a:extLst>
          </p:cNvPr>
          <p:cNvPicPr>
            <a:picLocks noChangeAspect="1"/>
          </p:cNvPicPr>
          <p:nvPr/>
        </p:nvPicPr>
        <p:blipFill>
          <a:blip r:embed="rId2"/>
          <a:stretch>
            <a:fillRect/>
          </a:stretch>
        </p:blipFill>
        <p:spPr>
          <a:xfrm>
            <a:off x="5319127" y="5146158"/>
            <a:ext cx="6859178" cy="4982173"/>
          </a:xfrm>
          <a:prstGeom prst="rect">
            <a:avLst/>
          </a:prstGeom>
        </p:spPr>
      </p:pic>
      <p:sp>
        <p:nvSpPr>
          <p:cNvPr id="17" name="TextBox 12">
            <a:extLst>
              <a:ext uri="{FF2B5EF4-FFF2-40B4-BE49-F238E27FC236}">
                <a16:creationId xmlns:a16="http://schemas.microsoft.com/office/drawing/2014/main" id="{0E0D98E8-034A-ABE1-4A46-F789C6C9A056}"/>
              </a:ext>
            </a:extLst>
          </p:cNvPr>
          <p:cNvSpPr txBox="1"/>
          <p:nvPr/>
        </p:nvSpPr>
        <p:spPr>
          <a:xfrm>
            <a:off x="4424614" y="1982963"/>
            <a:ext cx="6273224" cy="2215991"/>
          </a:xfrm>
          <a:prstGeom prst="rect">
            <a:avLst/>
          </a:prstGeom>
        </p:spPr>
        <p:txBody>
          <a:bodyPr wrap="square" lIns="0" tIns="0" rIns="0" bIns="0" rtlCol="0" anchor="t">
            <a:spAutoFit/>
          </a:bodyPr>
          <a:lstStyle/>
          <a:p>
            <a:pPr marL="280035" lvl="1"/>
            <a:r>
              <a:rPr lang="en-US" sz="4800">
                <a:solidFill>
                  <a:srgbClr val="2E3A44"/>
                </a:solidFill>
                <a:latin typeface="Nunito"/>
                <a:ea typeface="Calibri"/>
                <a:cs typeface="Nirand Bold"/>
              </a:rPr>
              <a:t>Historical ratios:</a:t>
            </a:r>
          </a:p>
          <a:p>
            <a:pPr marL="1194435" lvl="1" indent="-914400">
              <a:buFont typeface="Arial"/>
              <a:buChar char="•"/>
            </a:pPr>
            <a:r>
              <a:rPr lang="en-US" sz="4800">
                <a:solidFill>
                  <a:srgbClr val="2E3A44"/>
                </a:solidFill>
                <a:latin typeface="Nunito"/>
                <a:ea typeface="Calibri"/>
                <a:cs typeface="Nirand Bold"/>
              </a:rPr>
              <a:t>Sprint 1: 70.73%</a:t>
            </a:r>
          </a:p>
          <a:p>
            <a:pPr marL="1194435" lvl="1" indent="-914400">
              <a:buFont typeface="Arial"/>
              <a:buChar char="•"/>
            </a:pPr>
            <a:r>
              <a:rPr lang="en-US" sz="4800">
                <a:solidFill>
                  <a:srgbClr val="2E3A44"/>
                </a:solidFill>
                <a:latin typeface="Nunito"/>
                <a:ea typeface="Calibri"/>
                <a:cs typeface="Nirand Bold"/>
              </a:rPr>
              <a:t>Sprint 2: 77.78%</a:t>
            </a:r>
            <a:endParaRPr lang="en-US"/>
          </a:p>
        </p:txBody>
      </p:sp>
      <p:pic>
        <p:nvPicPr>
          <p:cNvPr id="14" name="Picture 13" descr="A blue and orange squares&#10;&#10;AI-generated content may be incorrect.">
            <a:extLst>
              <a:ext uri="{FF2B5EF4-FFF2-40B4-BE49-F238E27FC236}">
                <a16:creationId xmlns:a16="http://schemas.microsoft.com/office/drawing/2014/main" id="{9E2DDE74-31CB-7EFC-2703-A4A6D79F4AC2}"/>
              </a:ext>
            </a:extLst>
          </p:cNvPr>
          <p:cNvPicPr>
            <a:picLocks noChangeAspect="1"/>
          </p:cNvPicPr>
          <p:nvPr/>
        </p:nvPicPr>
        <p:blipFill>
          <a:blip r:embed="rId3"/>
          <a:stretch>
            <a:fillRect/>
          </a:stretch>
        </p:blipFill>
        <p:spPr>
          <a:xfrm>
            <a:off x="11917531" y="5370761"/>
            <a:ext cx="6114383" cy="4526883"/>
          </a:xfrm>
          <a:prstGeom prst="rect">
            <a:avLst/>
          </a:prstGeom>
        </p:spPr>
      </p:pic>
      <p:grpSp>
        <p:nvGrpSpPr>
          <p:cNvPr id="20" name="Group 5">
            <a:extLst>
              <a:ext uri="{FF2B5EF4-FFF2-40B4-BE49-F238E27FC236}">
                <a16:creationId xmlns:a16="http://schemas.microsoft.com/office/drawing/2014/main" id="{B25577BE-AACE-BA42-6437-B7E4EE1D054F}"/>
              </a:ext>
            </a:extLst>
          </p:cNvPr>
          <p:cNvGrpSpPr/>
          <p:nvPr/>
        </p:nvGrpSpPr>
        <p:grpSpPr>
          <a:xfrm>
            <a:off x="778656" y="1662938"/>
            <a:ext cx="2464566" cy="2284093"/>
            <a:chOff x="0" y="0"/>
            <a:chExt cx="812800" cy="812800"/>
          </a:xfrm>
        </p:grpSpPr>
        <p:sp>
          <p:nvSpPr>
            <p:cNvPr id="21" name="Freeform 6">
              <a:extLst>
                <a:ext uri="{FF2B5EF4-FFF2-40B4-BE49-F238E27FC236}">
                  <a16:creationId xmlns:a16="http://schemas.microsoft.com/office/drawing/2014/main" id="{0DA465FC-3653-8CD7-5882-5B7A31384EE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2" name="TextBox 7">
              <a:extLst>
                <a:ext uri="{FF2B5EF4-FFF2-40B4-BE49-F238E27FC236}">
                  <a16:creationId xmlns:a16="http://schemas.microsoft.com/office/drawing/2014/main" id="{F50FF888-8689-0A99-585D-F97CCCF7F1E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3" name="TextBox 12">
            <a:extLst>
              <a:ext uri="{FF2B5EF4-FFF2-40B4-BE49-F238E27FC236}">
                <a16:creationId xmlns:a16="http://schemas.microsoft.com/office/drawing/2014/main" id="{689A73C1-3A12-108E-CD11-EBEAD2B841A6}"/>
              </a:ext>
            </a:extLst>
          </p:cNvPr>
          <p:cNvSpPr txBox="1"/>
          <p:nvPr/>
        </p:nvSpPr>
        <p:spPr>
          <a:xfrm>
            <a:off x="484272" y="5938345"/>
            <a:ext cx="5521249" cy="2954655"/>
          </a:xfrm>
          <a:prstGeom prst="rect">
            <a:avLst/>
          </a:prstGeom>
        </p:spPr>
        <p:txBody>
          <a:bodyPr wrap="square" lIns="0" tIns="0" rIns="0" bIns="0" rtlCol="0" anchor="t">
            <a:spAutoFit/>
          </a:bodyPr>
          <a:lstStyle/>
          <a:p>
            <a:pPr marL="280035" lvl="1"/>
            <a:r>
              <a:rPr lang="en-US" sz="4800">
                <a:solidFill>
                  <a:srgbClr val="2E3A44"/>
                </a:solidFill>
                <a:latin typeface="Nunito"/>
                <a:ea typeface="Calibri"/>
                <a:cs typeface="Nirand Bold"/>
              </a:rPr>
              <a:t>Improvement: </a:t>
            </a:r>
          </a:p>
          <a:p>
            <a:pPr marL="965835" lvl="1" indent="-685800">
              <a:buFont typeface="Arial"/>
              <a:buChar char="•"/>
            </a:pPr>
            <a:r>
              <a:rPr lang="en-US" sz="4800">
                <a:solidFill>
                  <a:srgbClr val="2E3A44"/>
                </a:solidFill>
                <a:latin typeface="Nunito"/>
                <a:ea typeface="Calibri"/>
                <a:cs typeface="Nirand Bold"/>
              </a:rPr>
              <a:t>+7.05%</a:t>
            </a:r>
          </a:p>
          <a:p>
            <a:pPr marL="280035" lvl="1"/>
            <a:r>
              <a:rPr lang="en-US" sz="4800">
                <a:solidFill>
                  <a:srgbClr val="2E3A44"/>
                </a:solidFill>
                <a:latin typeface="Nunito"/>
                <a:ea typeface="Calibri"/>
                <a:cs typeface="Nirand Bold"/>
              </a:rPr>
              <a:t>Average ratio: </a:t>
            </a:r>
            <a:endParaRPr lang="en-US">
              <a:solidFill>
                <a:srgbClr val="000000"/>
              </a:solidFill>
              <a:latin typeface="Corbel" panose="020B0503020204020204"/>
              <a:ea typeface="Calibri"/>
              <a:cs typeface="Nirand Bold"/>
            </a:endParaRPr>
          </a:p>
          <a:p>
            <a:pPr marL="965835" lvl="1" indent="-685800">
              <a:buFont typeface="Arial"/>
              <a:buChar char="•"/>
            </a:pPr>
            <a:r>
              <a:rPr lang="en-US" sz="4800">
                <a:solidFill>
                  <a:srgbClr val="2E3A44"/>
                </a:solidFill>
                <a:latin typeface="Nunito"/>
                <a:ea typeface="Calibri"/>
                <a:cs typeface="Nirand Bold"/>
              </a:rPr>
              <a:t>74.26%</a:t>
            </a:r>
            <a:endParaRPr lang="en-US"/>
          </a:p>
        </p:txBody>
      </p:sp>
      <p:pic>
        <p:nvPicPr>
          <p:cNvPr id="24" name="Picture 23" descr="FT montage">
            <a:extLst>
              <a:ext uri="{FF2B5EF4-FFF2-40B4-BE49-F238E27FC236}">
                <a16:creationId xmlns:a16="http://schemas.microsoft.com/office/drawing/2014/main" id="{B1ADD611-977F-780A-D495-C0C4AB2E5073}"/>
              </a:ext>
            </a:extLst>
          </p:cNvPr>
          <p:cNvPicPr>
            <a:picLocks noChangeAspect="1"/>
          </p:cNvPicPr>
          <p:nvPr/>
        </p:nvPicPr>
        <p:blipFill>
          <a:blip r:embed="rId4"/>
          <a:stretch>
            <a:fillRect/>
          </a:stretch>
        </p:blipFill>
        <p:spPr>
          <a:xfrm>
            <a:off x="7772400" y="4371975"/>
            <a:ext cx="2743200" cy="1543050"/>
          </a:xfrm>
          <a:prstGeom prst="rect">
            <a:avLst/>
          </a:prstGeom>
        </p:spPr>
      </p:pic>
      <p:pic>
        <p:nvPicPr>
          <p:cNvPr id="2" name="Picture 1" descr="The science behind good charts">
            <a:extLst>
              <a:ext uri="{FF2B5EF4-FFF2-40B4-BE49-F238E27FC236}">
                <a16:creationId xmlns:a16="http://schemas.microsoft.com/office/drawing/2014/main" id="{0E03096B-7C83-642A-EC27-0B5593F87C81}"/>
              </a:ext>
            </a:extLst>
          </p:cNvPr>
          <p:cNvPicPr>
            <a:picLocks noChangeAspect="1"/>
          </p:cNvPicPr>
          <p:nvPr/>
        </p:nvPicPr>
        <p:blipFill>
          <a:blip r:embed="rId4"/>
          <a:stretch>
            <a:fillRect/>
          </a:stretch>
        </p:blipFill>
        <p:spPr>
          <a:xfrm>
            <a:off x="7772400" y="4371975"/>
            <a:ext cx="2743200" cy="1543050"/>
          </a:xfrm>
          <a:prstGeom prst="rect">
            <a:avLst/>
          </a:prstGeom>
        </p:spPr>
      </p:pic>
      <p:pic>
        <p:nvPicPr>
          <p:cNvPr id="3" name="Picture 2" descr="A colorful pie chart and a pie chart&#10;&#10;AI-generated content may be incorrect.">
            <a:extLst>
              <a:ext uri="{FF2B5EF4-FFF2-40B4-BE49-F238E27FC236}">
                <a16:creationId xmlns:a16="http://schemas.microsoft.com/office/drawing/2014/main" id="{9F49A26D-4DAE-0538-379C-E4DAB6B2C1E4}"/>
              </a:ext>
            </a:extLst>
          </p:cNvPr>
          <p:cNvPicPr>
            <a:picLocks noChangeAspect="1"/>
          </p:cNvPicPr>
          <p:nvPr/>
        </p:nvPicPr>
        <p:blipFill>
          <a:blip r:embed="rId5"/>
          <a:stretch>
            <a:fillRect/>
          </a:stretch>
        </p:blipFill>
        <p:spPr>
          <a:xfrm>
            <a:off x="11044410" y="674782"/>
            <a:ext cx="6802916" cy="3814591"/>
          </a:xfrm>
          <a:prstGeom prst="rect">
            <a:avLst/>
          </a:prstGeom>
        </p:spPr>
      </p:pic>
    </p:spTree>
    <p:extLst>
      <p:ext uri="{BB962C8B-B14F-4D97-AF65-F5344CB8AC3E}">
        <p14:creationId xmlns:p14="http://schemas.microsoft.com/office/powerpoint/2010/main" val="2638917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DE696-1819-DEED-B086-6F7A43B3F62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29140D7-4F0A-914D-BE79-C65D734AE058}"/>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075D0ED1-6706-31CC-10E7-CB6B0D7E59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5961613F-E1FF-23A0-5B51-057391EE0DE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886EACA2-2707-1ED6-4A18-9AF67C3B3DEA}"/>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AD50B1B6-C63D-7176-0D34-14C9D4A14A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572985EF-A4F2-70DD-69F8-D75EE2411F2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001BC862-9422-8F72-D3F1-FBE4E45B31DD}"/>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86832B9-85F5-769A-8C4D-D4784D149A99}"/>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607A16CE-53E4-4056-15A0-08F83CA9A41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F930C8C4-62FF-D565-8DF6-042B71B88F5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ABD22855-6715-FE22-C65B-9BD92B472904}"/>
              </a:ext>
            </a:extLst>
          </p:cNvPr>
          <p:cNvSpPr txBox="1"/>
          <p:nvPr/>
        </p:nvSpPr>
        <p:spPr>
          <a:xfrm>
            <a:off x="4771292" y="4497642"/>
            <a:ext cx="7581656" cy="1391471"/>
          </a:xfrm>
          <a:prstGeom prst="rect">
            <a:avLst/>
          </a:prstGeom>
        </p:spPr>
        <p:txBody>
          <a:bodyPr wrap="square" lIns="0" tIns="0" rIns="0" bIns="0" rtlCol="0" anchor="t">
            <a:spAutoFit/>
          </a:bodyPr>
          <a:lstStyle/>
          <a:p>
            <a:pPr marL="280035" lvl="1">
              <a:lnSpc>
                <a:spcPts val="3640"/>
              </a:lnSpc>
            </a:pPr>
            <a:r>
              <a:rPr lang="en-US" sz="3600">
                <a:solidFill>
                  <a:srgbClr val="2E3A44"/>
                </a:solidFill>
                <a:latin typeface="Corbel"/>
                <a:ea typeface="Calibri"/>
                <a:cs typeface="Calibri"/>
              </a:rPr>
              <a:t>This is a burndown chart for this sprint. Not two sprint, not three sprint, just for this sprint only.</a:t>
            </a:r>
            <a:endParaRPr lang="en-US"/>
          </a:p>
        </p:txBody>
      </p:sp>
      <p:sp>
        <p:nvSpPr>
          <p:cNvPr id="13" name="TextBox 13">
            <a:extLst>
              <a:ext uri="{FF2B5EF4-FFF2-40B4-BE49-F238E27FC236}">
                <a16:creationId xmlns:a16="http://schemas.microsoft.com/office/drawing/2014/main" id="{DF6C101A-D2C3-D8F0-DB02-FCA99EB85A51}"/>
              </a:ext>
            </a:extLst>
          </p:cNvPr>
          <p:cNvSpPr txBox="1"/>
          <p:nvPr/>
        </p:nvSpPr>
        <p:spPr>
          <a:xfrm>
            <a:off x="4772025" y="394770"/>
            <a:ext cx="9491669"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Burndown Chart</a:t>
            </a:r>
            <a:endParaRPr lang="en-US" sz="7500" b="1">
              <a:solidFill>
                <a:srgbClr val="2E3A44"/>
              </a:solidFill>
              <a:latin typeface="Nirand Bold"/>
              <a:cs typeface="Nirand Bold"/>
            </a:endParaRPr>
          </a:p>
        </p:txBody>
      </p:sp>
      <p:pic>
        <p:nvPicPr>
          <p:cNvPr id="14" name="Picture 13" descr="A graph with a red line&#10;&#10;AI-generated content may be incorrect.">
            <a:extLst>
              <a:ext uri="{FF2B5EF4-FFF2-40B4-BE49-F238E27FC236}">
                <a16:creationId xmlns:a16="http://schemas.microsoft.com/office/drawing/2014/main" id="{5F5A29FF-B8E1-0124-FBB7-0111532E4078}"/>
              </a:ext>
            </a:extLst>
          </p:cNvPr>
          <p:cNvPicPr>
            <a:picLocks noChangeAspect="1"/>
          </p:cNvPicPr>
          <p:nvPr/>
        </p:nvPicPr>
        <p:blipFill>
          <a:blip r:embed="rId2"/>
          <a:stretch>
            <a:fillRect/>
          </a:stretch>
        </p:blipFill>
        <p:spPr>
          <a:xfrm>
            <a:off x="1747086" y="1881689"/>
            <a:ext cx="15535776" cy="7185359"/>
          </a:xfrm>
          <a:prstGeom prst="rect">
            <a:avLst/>
          </a:prstGeom>
        </p:spPr>
      </p:pic>
    </p:spTree>
    <p:extLst>
      <p:ext uri="{BB962C8B-B14F-4D97-AF65-F5344CB8AC3E}">
        <p14:creationId xmlns:p14="http://schemas.microsoft.com/office/powerpoint/2010/main" val="3691932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9F12D-D8ED-2C62-DDC3-1D489963E9A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D3289B-902E-1FCE-9E59-AA0C1FD86D04}"/>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0DC5AF26-381E-0446-55EF-DF770CC247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38A0AC12-C665-06EF-CCC7-C07E242CE0E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8B63435E-3CE5-E394-1BFA-439D358E4C77}"/>
              </a:ext>
            </a:extLst>
          </p:cNvPr>
          <p:cNvGrpSpPr/>
          <p:nvPr/>
        </p:nvGrpSpPr>
        <p:grpSpPr>
          <a:xfrm>
            <a:off x="-942914" y="8972589"/>
            <a:ext cx="3942779" cy="3942779"/>
            <a:chOff x="0" y="0"/>
            <a:chExt cx="812800" cy="812800"/>
          </a:xfrm>
        </p:grpSpPr>
        <p:sp>
          <p:nvSpPr>
            <p:cNvPr id="6" name="Freeform 6">
              <a:extLst>
                <a:ext uri="{FF2B5EF4-FFF2-40B4-BE49-F238E27FC236}">
                  <a16:creationId xmlns:a16="http://schemas.microsoft.com/office/drawing/2014/main" id="{566384EA-997E-EF61-8D0E-C3861C3141A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8E329D67-35AC-3C01-0B9D-D66050B70AE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C44F15CF-E79E-F1A3-C16E-196FFE947177}"/>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74A6B780-100D-F6A8-A752-68EEB92B9460}"/>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18E37B3F-A968-3BF2-B48F-A2B8102DC2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4F78513D-88BC-8116-1430-84794E00532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pic>
        <p:nvPicPr>
          <p:cNvPr id="13" name="Picture 12" descr="A screenshot of a computer screen&#10;&#10;AI-generated content may be incorrect.">
            <a:extLst>
              <a:ext uri="{FF2B5EF4-FFF2-40B4-BE49-F238E27FC236}">
                <a16:creationId xmlns:a16="http://schemas.microsoft.com/office/drawing/2014/main" id="{CE147C77-42D4-CC1E-CC4F-4788933DB55B}"/>
              </a:ext>
            </a:extLst>
          </p:cNvPr>
          <p:cNvPicPr>
            <a:picLocks noChangeAspect="1"/>
          </p:cNvPicPr>
          <p:nvPr/>
        </p:nvPicPr>
        <p:blipFill>
          <a:blip r:embed="rId2"/>
          <a:stretch>
            <a:fillRect/>
          </a:stretch>
        </p:blipFill>
        <p:spPr>
          <a:xfrm>
            <a:off x="1022863" y="1689152"/>
            <a:ext cx="16592547" cy="6908696"/>
          </a:xfrm>
          <a:prstGeom prst="rect">
            <a:avLst/>
          </a:prstGeom>
        </p:spPr>
      </p:pic>
      <p:sp>
        <p:nvSpPr>
          <p:cNvPr id="15" name="TextBox 13">
            <a:extLst>
              <a:ext uri="{FF2B5EF4-FFF2-40B4-BE49-F238E27FC236}">
                <a16:creationId xmlns:a16="http://schemas.microsoft.com/office/drawing/2014/main" id="{F6233B73-0361-D398-81C2-84038044973B}"/>
              </a:ext>
            </a:extLst>
          </p:cNvPr>
          <p:cNvSpPr txBox="1"/>
          <p:nvPr/>
        </p:nvSpPr>
        <p:spPr>
          <a:xfrm>
            <a:off x="4772025" y="394770"/>
            <a:ext cx="9491669"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Retrospectives</a:t>
            </a:r>
            <a:endParaRPr lang="en-US"/>
          </a:p>
        </p:txBody>
      </p:sp>
    </p:spTree>
    <p:extLst>
      <p:ext uri="{BB962C8B-B14F-4D97-AF65-F5344CB8AC3E}">
        <p14:creationId xmlns:p14="http://schemas.microsoft.com/office/powerpoint/2010/main" val="31897476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57005-4E32-104C-12B3-47E78C15061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B9BEB3-86F7-04B4-32B1-2F36C0BDEC99}"/>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B1FD6111-97B6-2F18-D001-F7D33E97DB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A220B852-00B0-69CE-0450-91708AAA068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D9D1432-FB1B-1455-5698-1856F34C5E8E}"/>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AE8C11E8-8095-7C08-D322-C4534D3407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7EB30FF5-B8E3-81DD-83D7-56E9228436C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3F0E0039-B4B5-363E-E7A3-1FB96E88085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83FBA84F-92BA-63A7-969F-0E382F40BC0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0604E60D-F855-6309-AE0D-CBF33A96E3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30F5F87-F4A3-5164-9054-E75FEEF484B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CABA0C91-EC00-FD2D-B18C-86A85B33D206}"/>
              </a:ext>
            </a:extLst>
          </p:cNvPr>
          <p:cNvSpPr txBox="1"/>
          <p:nvPr/>
        </p:nvSpPr>
        <p:spPr>
          <a:xfrm>
            <a:off x="4800600" y="3852873"/>
            <a:ext cx="7581656" cy="468141"/>
          </a:xfrm>
          <a:prstGeom prst="rect">
            <a:avLst/>
          </a:prstGeom>
        </p:spPr>
        <p:txBody>
          <a:bodyPr wrap="square" lIns="0" tIns="0" rIns="0" bIns="0" rtlCol="0" anchor="t">
            <a:spAutoFit/>
          </a:bodyPr>
          <a:lstStyle/>
          <a:p>
            <a:pPr marL="280035" lvl="1">
              <a:lnSpc>
                <a:spcPts val="3640"/>
              </a:lnSpc>
            </a:pPr>
            <a:endParaRPr lang="en-US" sz="3600">
              <a:solidFill>
                <a:srgbClr val="2E3A44"/>
              </a:solidFill>
              <a:ea typeface="Calibri"/>
              <a:cs typeface="Calibri"/>
            </a:endParaRPr>
          </a:p>
        </p:txBody>
      </p:sp>
      <p:sp>
        <p:nvSpPr>
          <p:cNvPr id="13" name="TextBox 13">
            <a:extLst>
              <a:ext uri="{FF2B5EF4-FFF2-40B4-BE49-F238E27FC236}">
                <a16:creationId xmlns:a16="http://schemas.microsoft.com/office/drawing/2014/main" id="{2FEAFFF7-E9CF-A3AE-6BBC-1D0781B94D7A}"/>
              </a:ext>
            </a:extLst>
          </p:cNvPr>
          <p:cNvSpPr txBox="1"/>
          <p:nvPr/>
        </p:nvSpPr>
        <p:spPr>
          <a:xfrm>
            <a:off x="4576512" y="3744"/>
            <a:ext cx="7581656" cy="1178528"/>
          </a:xfrm>
          <a:prstGeom prst="rect">
            <a:avLst/>
          </a:prstGeom>
        </p:spPr>
        <p:txBody>
          <a:bodyPr wrap="square" lIns="0" tIns="0" rIns="0" bIns="0" rtlCol="0" anchor="t">
            <a:spAutoFit/>
          </a:bodyPr>
          <a:lstStyle/>
          <a:p>
            <a:pPr algn="ctr">
              <a:lnSpc>
                <a:spcPts val="10500"/>
              </a:lnSpc>
            </a:pPr>
            <a:r>
              <a:rPr lang="en-US" sz="4800" b="1">
                <a:solidFill>
                  <a:srgbClr val="2E3A44"/>
                </a:solidFill>
                <a:latin typeface="Nirand Bold"/>
                <a:cs typeface="Nirand Bold"/>
                <a:sym typeface="Nirand Bold"/>
              </a:rPr>
              <a:t>Project Demo</a:t>
            </a:r>
            <a:endParaRPr lang="en-US" sz="4800"/>
          </a:p>
        </p:txBody>
      </p:sp>
      <p:pic>
        <p:nvPicPr>
          <p:cNvPr id="14" name="Picture 13" descr="A screen shot of a game&#10;&#10;AI-generated content may be incorrect.">
            <a:extLst>
              <a:ext uri="{FF2B5EF4-FFF2-40B4-BE49-F238E27FC236}">
                <a16:creationId xmlns:a16="http://schemas.microsoft.com/office/drawing/2014/main" id="{4D693338-74A2-D0A6-809F-8885374DEFD0}"/>
              </a:ext>
            </a:extLst>
          </p:cNvPr>
          <p:cNvPicPr>
            <a:picLocks noChangeAspect="1"/>
          </p:cNvPicPr>
          <p:nvPr/>
        </p:nvPicPr>
        <p:blipFill>
          <a:blip r:embed="rId2"/>
          <a:stretch>
            <a:fillRect/>
          </a:stretch>
        </p:blipFill>
        <p:spPr>
          <a:xfrm>
            <a:off x="3526172" y="1508293"/>
            <a:ext cx="9223710" cy="5146508"/>
          </a:xfrm>
          <a:prstGeom prst="rect">
            <a:avLst/>
          </a:prstGeom>
        </p:spPr>
      </p:pic>
      <p:sp>
        <p:nvSpPr>
          <p:cNvPr id="17" name="TextBox 16">
            <a:extLst>
              <a:ext uri="{FF2B5EF4-FFF2-40B4-BE49-F238E27FC236}">
                <a16:creationId xmlns:a16="http://schemas.microsoft.com/office/drawing/2014/main" id="{7D8B315D-2087-A37C-F166-9FF1653CA216}"/>
              </a:ext>
            </a:extLst>
          </p:cNvPr>
          <p:cNvSpPr txBox="1"/>
          <p:nvPr/>
        </p:nvSpPr>
        <p:spPr>
          <a:xfrm>
            <a:off x="5143499" y="7233986"/>
            <a:ext cx="94297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hlinkClick r:id="rId3"/>
              </a:rPr>
              <a:t>Adaptive Arena Demo</a:t>
            </a:r>
            <a:endParaRPr lang="en-US" sz="4800"/>
          </a:p>
        </p:txBody>
      </p:sp>
    </p:spTree>
    <p:extLst>
      <p:ext uri="{BB962C8B-B14F-4D97-AF65-F5344CB8AC3E}">
        <p14:creationId xmlns:p14="http://schemas.microsoft.com/office/powerpoint/2010/main" val="1263175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AE95A-226E-B770-CC8A-4E8316FC60C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0635AF-CA9B-255E-266F-D2071DE285AD}"/>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755F8879-3970-B2FF-067D-59064BF428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83ED1578-BB6C-A171-6CBF-FEDC91B0F62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327B27F-7AE2-40D6-4935-C6B336C6E533}"/>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DB191AAA-38FC-EB36-448E-18E260B07EE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ED3AED12-2C99-15F4-F26A-4A22CAE2702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713A23CE-D7B2-8478-D109-F5DB96CBC59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B21EC5A7-18AA-B1BA-DA54-8A85CBA3107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92313833-8864-266E-8739-79B00FBB440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BBB6874-E485-1B03-39DA-A27F9F24B0E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85D5A169-8B33-3A46-25A6-044126F19592}"/>
              </a:ext>
            </a:extLst>
          </p:cNvPr>
          <p:cNvSpPr txBox="1"/>
          <p:nvPr/>
        </p:nvSpPr>
        <p:spPr>
          <a:xfrm>
            <a:off x="4800600" y="3852873"/>
            <a:ext cx="7581656" cy="929806"/>
          </a:xfrm>
          <a:prstGeom prst="rect">
            <a:avLst/>
          </a:prstGeom>
        </p:spPr>
        <p:txBody>
          <a:bodyPr wrap="square" lIns="0" tIns="0" rIns="0" bIns="0" rtlCol="0" anchor="t">
            <a:spAutoFit/>
          </a:bodyPr>
          <a:lstStyle/>
          <a:p>
            <a:pPr marL="280035" lvl="1">
              <a:lnSpc>
                <a:spcPts val="3640"/>
              </a:lnSpc>
            </a:pPr>
            <a:r>
              <a:rPr lang="en-US" sz="3600">
                <a:solidFill>
                  <a:srgbClr val="2E3A44"/>
                </a:solidFill>
                <a:latin typeface="Corbel"/>
                <a:ea typeface="+mn-lt"/>
                <a:cs typeface="+mn-lt"/>
                <a:sym typeface="Nunito"/>
                <a:hlinkClick r:id="rId2"/>
              </a:rPr>
              <a:t>https://github.com/htmw/20</a:t>
            </a:r>
            <a:r>
              <a:rPr lang="en-US" sz="3600">
                <a:solidFill>
                  <a:srgbClr val="2E3A44"/>
                </a:solidFill>
                <a:ea typeface="+mn-lt"/>
                <a:cs typeface="+mn-lt"/>
                <a:sym typeface="Nunito"/>
                <a:hlinkClick r:id="rId2"/>
              </a:rPr>
              <a:t>26SA-QuestKeeper/wiki</a:t>
            </a:r>
            <a:endParaRPr lang="en-US" sz="3600"/>
          </a:p>
        </p:txBody>
      </p:sp>
      <p:sp>
        <p:nvSpPr>
          <p:cNvPr id="13" name="TextBox 13">
            <a:extLst>
              <a:ext uri="{FF2B5EF4-FFF2-40B4-BE49-F238E27FC236}">
                <a16:creationId xmlns:a16="http://schemas.microsoft.com/office/drawing/2014/main" id="{EEE573D3-0AA8-CBB3-051B-1025C33B85C1}"/>
              </a:ext>
            </a:extLst>
          </p:cNvPr>
          <p:cNvSpPr txBox="1"/>
          <p:nvPr/>
        </p:nvSpPr>
        <p:spPr>
          <a:xfrm>
            <a:off x="4772025" y="394770"/>
            <a:ext cx="7581656"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Nirand Bold"/>
                <a:cs typeface="Nirand Bold"/>
                <a:sym typeface="Nirand Bold"/>
              </a:rPr>
              <a:t>Wiki Page Link</a:t>
            </a:r>
          </a:p>
        </p:txBody>
      </p:sp>
    </p:spTree>
    <p:extLst>
      <p:ext uri="{BB962C8B-B14F-4D97-AF65-F5344CB8AC3E}">
        <p14:creationId xmlns:p14="http://schemas.microsoft.com/office/powerpoint/2010/main" val="12622654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C0D1DF"/>
        </a:solidFill>
        <a:effectLst/>
      </p:bgPr>
    </p:bg>
    <p:spTree>
      <p:nvGrpSpPr>
        <p:cNvPr id="1" name=""/>
        <p:cNvGrpSpPr/>
        <p:nvPr/>
      </p:nvGrpSpPr>
      <p:grpSpPr>
        <a:xfrm>
          <a:off x="0" y="0"/>
          <a:ext cx="0" cy="0"/>
          <a:chOff x="0" y="0"/>
          <a:chExt cx="0" cy="0"/>
        </a:xfrm>
      </p:grpSpPr>
      <p:grpSp>
        <p:nvGrpSpPr>
          <p:cNvPr id="2" name="Group 2"/>
          <p:cNvGrpSpPr/>
          <p:nvPr/>
        </p:nvGrpSpPr>
        <p:grpSpPr>
          <a:xfrm>
            <a:off x="831966" y="-2876710"/>
            <a:ext cx="16040420" cy="160404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211910" y="2963671"/>
            <a:ext cx="7864183" cy="4149534"/>
          </a:xfrm>
          <a:prstGeom prst="rect">
            <a:avLst/>
          </a:prstGeom>
        </p:spPr>
        <p:txBody>
          <a:bodyPr lIns="0" tIns="0" rIns="0" bIns="0" rtlCol="0" anchor="t">
            <a:spAutoFit/>
          </a:bodyPr>
          <a:lstStyle/>
          <a:p>
            <a:pPr algn="ctr">
              <a:lnSpc>
                <a:spcPts val="15810"/>
              </a:lnSpc>
            </a:pPr>
            <a:r>
              <a:rPr lang="en-US" sz="17000" b="1">
                <a:solidFill>
                  <a:srgbClr val="627484"/>
                </a:solidFill>
                <a:latin typeface="Nirand Bold"/>
                <a:ea typeface="Nirand Bold"/>
                <a:cs typeface="Nirand Bold"/>
                <a:sym typeface="Nirand Bold"/>
              </a:rPr>
              <a:t>Thank You</a:t>
            </a:r>
          </a:p>
        </p:txBody>
      </p:sp>
      <p:grpSp>
        <p:nvGrpSpPr>
          <p:cNvPr id="6" name="Group 6"/>
          <p:cNvGrpSpPr/>
          <p:nvPr/>
        </p:nvGrpSpPr>
        <p:grpSpPr>
          <a:xfrm>
            <a:off x="13076093" y="710994"/>
            <a:ext cx="2513081" cy="25130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AutoShape 9"/>
          <p:cNvSpPr/>
          <p:nvPr/>
        </p:nvSpPr>
        <p:spPr>
          <a:xfrm>
            <a:off x="-1700579" y="1028700"/>
            <a:ext cx="7733905" cy="0"/>
          </a:xfrm>
          <a:prstGeom prst="line">
            <a:avLst/>
          </a:prstGeom>
          <a:ln w="38100" cap="flat">
            <a:solidFill>
              <a:srgbClr val="2E3A44"/>
            </a:solidFill>
            <a:prstDash val="solid"/>
            <a:headEnd type="none" w="sm" len="sm"/>
            <a:tailEnd type="oval" w="lg" len="lg"/>
          </a:ln>
        </p:spPr>
        <p:txBody>
          <a:bodyPr/>
          <a:lstStyle/>
          <a:p>
            <a:endParaRPr lang="en-US"/>
          </a:p>
        </p:txBody>
      </p:sp>
      <p:sp>
        <p:nvSpPr>
          <p:cNvPr id="10" name="AutoShape 10"/>
          <p:cNvSpPr/>
          <p:nvPr/>
        </p:nvSpPr>
        <p:spPr>
          <a:xfrm>
            <a:off x="11230885" y="9258300"/>
            <a:ext cx="7770392" cy="0"/>
          </a:xfrm>
          <a:prstGeom prst="line">
            <a:avLst/>
          </a:prstGeom>
          <a:ln w="38100" cap="flat">
            <a:solidFill>
              <a:srgbClr val="2E3A44"/>
            </a:solidFill>
            <a:prstDash val="solid"/>
            <a:headEnd type="oval" w="lg" len="lg"/>
            <a:tailEnd type="none" w="sm" len="sm"/>
          </a:ln>
        </p:spPr>
        <p:txBody>
          <a:bodyPr/>
          <a:lstStyle/>
          <a:p>
            <a:endParaRPr lang="en-US"/>
          </a:p>
        </p:txBody>
      </p:sp>
      <p:grpSp>
        <p:nvGrpSpPr>
          <p:cNvPr id="11" name="Group 11"/>
          <p:cNvGrpSpPr/>
          <p:nvPr/>
        </p:nvGrpSpPr>
        <p:grpSpPr>
          <a:xfrm>
            <a:off x="2740932" y="6266276"/>
            <a:ext cx="1586288" cy="158628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170117DE246845A4A6B7ACECDF3DB7" ma:contentTypeVersion="11" ma:contentTypeDescription="Create a new document." ma:contentTypeScope="" ma:versionID="9cdd7ebf45ab9bf4ab7e31df69623dd5">
  <xsd:schema xmlns:xsd="http://www.w3.org/2001/XMLSchema" xmlns:xs="http://www.w3.org/2001/XMLSchema" xmlns:p="http://schemas.microsoft.com/office/2006/metadata/properties" xmlns:ns3="2eae1d80-bd8d-40d2-9fb1-b18c90d8b9a9" targetNamespace="http://schemas.microsoft.com/office/2006/metadata/properties" ma:root="true" ma:fieldsID="a7455dc5f920e96d06ac5a8fee8244e0" ns3:_="">
    <xsd:import namespace="2eae1d80-bd8d-40d2-9fb1-b18c90d8b9a9"/>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BillingMetadata"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ae1d80-bd8d-40d2-9fb1-b18c90d8b9a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BillingMetadata" ma:index="14" nillable="true" ma:displayName="MediaServiceBillingMetadata" ma:hidden="true" ma:internalName="MediaServiceBillingMetadata" ma:readOnly="true">
      <xsd:simpleType>
        <xsd:restriction base="dms:Note"/>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eae1d80-bd8d-40d2-9fb1-b18c90d8b9a9" xsi:nil="true"/>
  </documentManagement>
</p:properties>
</file>

<file path=customXml/itemProps1.xml><?xml version="1.0" encoding="utf-8"?>
<ds:datastoreItem xmlns:ds="http://schemas.openxmlformats.org/officeDocument/2006/customXml" ds:itemID="{9FF0F213-162D-400F-B9A7-1DF3355F32D8}">
  <ds:schemaRefs>
    <ds:schemaRef ds:uri="2eae1d80-bd8d-40d2-9fb1-b18c90d8b9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BFE0760-8DB4-4884-BDD2-C642F801A894}">
  <ds:schemaRefs>
    <ds:schemaRef ds:uri="http://schemas.microsoft.com/sharepoint/v3/contenttype/forms"/>
  </ds:schemaRefs>
</ds:datastoreItem>
</file>

<file path=customXml/itemProps3.xml><?xml version="1.0" encoding="utf-8"?>
<ds:datastoreItem xmlns:ds="http://schemas.openxmlformats.org/officeDocument/2006/customXml" ds:itemID="{1D603732-5149-45ED-99CE-46E0828AFF44}">
  <ds:schemaRefs>
    <ds:schemaRef ds:uri="2eae1d80-bd8d-40d2-9fb1-b18c90d8b9a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Droplet</Template>
  <Application>Microsoft Office PowerPoint</Application>
  <PresentationFormat>Custom</PresentationFormat>
  <Slides>38</Slides>
  <Notes>0</Notes>
  <HiddenSlides>0</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Frame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Minimalist Geometric Group Project Presentation</dc:title>
  <dc:creator>Shariah Allen</dc:creator>
  <cp:revision>5</cp:revision>
  <dcterms:created xsi:type="dcterms:W3CDTF">2006-08-16T00:00:00Z</dcterms:created>
  <dcterms:modified xsi:type="dcterms:W3CDTF">2026-04-13T03:17:55Z</dcterms:modified>
  <dc:identifier>DAHBW0Xhq6E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0x01010080170117DE246845A4A6B7ACECDF3DB7</vt:lpwstr>
  </property>
</Properties>
</file>