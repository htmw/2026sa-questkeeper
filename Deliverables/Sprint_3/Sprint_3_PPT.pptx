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37_B3DA0F5D.xml" ContentType="application/vnd.ms-powerpoint.comments+xml"/>
  <Override PartName="/ppt/comments/modernComment_10D_BE1FAFA1.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4"/>
  </p:sldMasterIdLst>
  <p:sldIdLst>
    <p:sldId id="256" r:id="rId5"/>
    <p:sldId id="257" r:id="rId6"/>
    <p:sldId id="259" r:id="rId7"/>
    <p:sldId id="303" r:id="rId8"/>
    <p:sldId id="267" r:id="rId9"/>
    <p:sldId id="263" r:id="rId10"/>
    <p:sldId id="270" r:id="rId11"/>
    <p:sldId id="275" r:id="rId12"/>
    <p:sldId id="274" r:id="rId13"/>
    <p:sldId id="290" r:id="rId14"/>
    <p:sldId id="318" r:id="rId15"/>
    <p:sldId id="319" r:id="rId16"/>
    <p:sldId id="320" r:id="rId17"/>
    <p:sldId id="291" r:id="rId18"/>
    <p:sldId id="260" r:id="rId19"/>
    <p:sldId id="289" r:id="rId20"/>
    <p:sldId id="272" r:id="rId21"/>
    <p:sldId id="273" r:id="rId22"/>
    <p:sldId id="261" r:id="rId23"/>
    <p:sldId id="278" r:id="rId24"/>
    <p:sldId id="282" r:id="rId25"/>
    <p:sldId id="302" r:id="rId26"/>
    <p:sldId id="309" r:id="rId27"/>
    <p:sldId id="284" r:id="rId28"/>
    <p:sldId id="292" r:id="rId29"/>
    <p:sldId id="313" r:id="rId30"/>
    <p:sldId id="312" r:id="rId31"/>
    <p:sldId id="315" r:id="rId32"/>
    <p:sldId id="316" r:id="rId33"/>
    <p:sldId id="310" r:id="rId34"/>
    <p:sldId id="317" r:id="rId35"/>
    <p:sldId id="283" r:id="rId36"/>
    <p:sldId id="296" r:id="rId37"/>
    <p:sldId id="314" r:id="rId38"/>
    <p:sldId id="293" r:id="rId39"/>
    <p:sldId id="297" r:id="rId40"/>
    <p:sldId id="321" r:id="rId41"/>
    <p:sldId id="294" r:id="rId42"/>
    <p:sldId id="305" r:id="rId43"/>
    <p:sldId id="279" r:id="rId44"/>
    <p:sldId id="306" r:id="rId45"/>
    <p:sldId id="311" r:id="rId46"/>
    <p:sldId id="269" r:id="rId47"/>
    <p:sldId id="280" r:id="rId48"/>
    <p:sldId id="268" r:id="rId49"/>
    <p:sldId id="265" r:id="rId50"/>
  </p:sldIdLst>
  <p:sldSz cx="18288000" cy="10287000"/>
  <p:notesSz cx="6858000" cy="9144000"/>
  <p:embeddedFontLst>
    <p:embeddedFont>
      <p:font typeface="Corbel" panose="020B0503020204020204" pitchFamily="34" charset="0"/>
      <p:regular r:id="rId51"/>
      <p:bold r:id="rId52"/>
      <p:italic r:id="rId53"/>
      <p:boldItalic r:id="rId54"/>
    </p:embeddedFont>
    <p:embeddedFont>
      <p:font typeface="Nirand Bold" panose="020B0604020202020204" charset="-34"/>
      <p:regular r:id="rId55"/>
    </p:embeddedFont>
    <p:embeddedFont>
      <p:font typeface="Nunito" pitchFamily="2" charset="0"/>
      <p:regular r:id="rId56"/>
      <p:bold r:id="rId57"/>
      <p:italic r:id="rId58"/>
      <p:boldItalic r:id="rId59"/>
    </p:embeddedFont>
    <p:embeddedFont>
      <p:font typeface="Nunito Bold" pitchFamily="2" charset="0"/>
      <p:regular r:id="rId60"/>
      <p:bold r:id="rId61"/>
    </p:embeddedFont>
    <p:embeddedFont>
      <p:font typeface="Wingdings 2" panose="05020102010507070707" pitchFamily="18" charset="2"/>
      <p:regular r:id="rId6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1E1F5D4-D56F-5F94-9E42-D417B4081D7C}" name="Ivashchenko, Ms. Inna" initials="IM" userId="S::ii67947n@pace.edu::96f51c4f-7cc1-4ef3-a182-dbda989cfd4b" providerId="AD"/>
  <p188:author id="{C2D43FE3-3494-5725-524A-3C0F1F6D4834}" name="Piombino, Mr. Anthony" initials="PM" userId="S::ap08838n@pace.edu::803459aa-8360-4ba0-93ff-62d6580bcaa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9627"/>
    <a:srgbClr val="C0D1DF"/>
    <a:srgbClr val="6274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6A4369-C598-665D-3CC7-F6DBB9C05699}" v="79" dt="2026-05-09T06:47:43.477"/>
    <p1510:client id="{5BF4C8FB-9D98-0610-01CE-D847ED43260B}" v="106" dt="2026-05-10T03:20:46.329"/>
    <p1510:client id="{659EE041-27A8-00C9-6B9F-1C949AB4129A}" v="1561" dt="2026-05-10T00:27:26.506"/>
    <p1510:client id="{BCD0B177-A079-A1B7-F292-0A5173AA1303}" v="39" dt="2026-05-10T01:30:05.755"/>
    <p1510:client id="{F87A2FB5-F5C3-BDAA-F45B-03C2F31465B3}" v="207" dt="2026-05-09T06:13:59.9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font" Target="fonts/font5.fntdata"/><Relationship Id="rId63" Type="http://schemas.openxmlformats.org/officeDocument/2006/relationships/presProps" Target="presProps.xml"/><Relationship Id="rId68"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font" Target="fonts/font11.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font" Target="fonts/font6.fntdata"/><Relationship Id="rId64"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font" Target="fonts/font1.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9.fntdata"/><Relationship Id="rId67"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4.fntdata"/><Relationship Id="rId62"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7.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omments/modernComment_10D_BE1FAFA1.xml><?xml version="1.0" encoding="utf-8"?>
<p188:cmLst xmlns:a="http://schemas.openxmlformats.org/drawingml/2006/main" xmlns:r="http://schemas.openxmlformats.org/officeDocument/2006/relationships" xmlns:p188="http://schemas.microsoft.com/office/powerpoint/2018/8/main">
  <p188:cm id="{B6960E83-5AD6-47AB-8A50-7088EE669795}" authorId="{C2D43FE3-3494-5725-524A-3C0F1F6D4834}" created="2026-05-07T04:11:27.792">
    <pc:sldMkLst xmlns:pc="http://schemas.microsoft.com/office/powerpoint/2013/main/command">
      <pc:docMk/>
      <pc:sldMk cId="3189747617" sldId="269"/>
    </pc:sldMkLst>
    <p188:replyLst>
      <p188:reply id="{8B36A780-89DC-430A-96D1-8539D63C5BBC}" authorId="{21E1F5D4-D56F-5F94-9E42-D417B4081D7C}" created="2026-05-10T01:18:27.616">
        <p188:txBody>
          <a:bodyPr/>
          <a:lstStyle/>
          <a:p>
            <a:r>
              <a:rPr lang="en-US"/>
              <a:t>done</a:t>
            </a:r>
          </a:p>
        </p188:txBody>
      </p188:reply>
    </p188:replyLst>
    <p188:txBody>
      <a:bodyPr/>
      <a:lstStyle/>
      <a:p>
        <a:r>
          <a:rPr lang="en-US"/>
          <a:t>Needs to be added</a:t>
        </a:r>
      </a:p>
    </p188:txBody>
  </p188:cm>
</p188:cmLst>
</file>

<file path=ppt/comments/modernComment_137_B3DA0F5D.xml><?xml version="1.0" encoding="utf-8"?>
<p188:cmLst xmlns:a="http://schemas.openxmlformats.org/drawingml/2006/main" xmlns:r="http://schemas.openxmlformats.org/officeDocument/2006/relationships" xmlns:p188="http://schemas.microsoft.com/office/powerpoint/2018/8/main">
  <p188:cm id="{0F2D7CBA-AB0E-4AC4-962D-A91857AAD0C1}" authorId="{C2D43FE3-3494-5725-524A-3C0F1F6D4834}" status="resolved" created="2026-05-07T04:11:03.589" startDate="2026-05-07T04:11:03.589" dueDate="2026-05-07T04:11:03.589" assignedTo="{21E1F5D4-D56F-5F94-9E42-D417B4081D7C}" complete="100000" title="@Ivashchenko, Ms. Inna">
    <pc:sldMkLst xmlns:pc="http://schemas.microsoft.com/office/powerpoint/2013/main/command">
      <pc:docMk/>
      <pc:sldMk cId="3017412445" sldId="311"/>
    </pc:sldMkLst>
    <p188:txBody>
      <a:bodyPr/>
      <a:lstStyle/>
      <a:p>
        <a:r>
          <a:rPr lang="en-US"/>
          <a:t>[@Ivashchenko, Ms. Inna] </a:t>
        </a:r>
      </a:p>
    </p188:txBody>
    <p188:extLst>
      <p:ext xmlns:p="http://schemas.openxmlformats.org/presentationml/2006/main" uri="{5BB2D875-25FF-4072-B9AC-8F64D62656EB}">
        <p228:taskDetails xmlns:p228="http://schemas.microsoft.com/office/powerpoint/2022/08/main">
          <p228:history>
            <p228:event time="2026-05-07T04:11:03.589" id="{1EA80D2D-59A0-468A-88B2-CAD61C8F4090}">
              <p228:atrbtn authorId="{C2D43FE3-3494-5725-524A-3C0F1F6D4834}"/>
              <p228:anchr>
                <p228:comment id="{0F2D7CBA-AB0E-4AC4-962D-A91857AAD0C1}"/>
              </p228:anchr>
              <p228:add/>
            </p228:event>
            <p228:event time="2026-05-07T04:11:03.589" id="{6B5C67FE-938B-494B-B159-6A77E029062D}">
              <p228:atrbtn authorId="{C2D43FE3-3494-5725-524A-3C0F1F6D4834}"/>
              <p228:anchr>
                <p228:comment id="{0F2D7CBA-AB0E-4AC4-962D-A91857AAD0C1}"/>
              </p228:anchr>
              <p228:asgn authorId="{21E1F5D4-D56F-5F94-9E42-D417B4081D7C}"/>
            </p228:event>
            <p228:event time="2026-05-07T04:11:03.589" id="{912D5743-3963-4B33-A5F1-E401B309253B}">
              <p228:atrbtn authorId="{C2D43FE3-3494-5725-524A-3C0F1F6D4834}"/>
              <p228:anchr>
                <p228:comment id="{0F2D7CBA-AB0E-4AC4-962D-A91857AAD0C1}"/>
              </p228:anchr>
              <p228:title val="@Ivashchenko, Ms. Inna"/>
            </p228:event>
            <p228:event time="2026-05-07T04:11:03.589" id="{D9844CAF-D595-4DF8-A095-1F5A07DEA3E7}">
              <p228:atrbtn authorId="{C2D43FE3-3494-5725-524A-3C0F1F6D4834}"/>
              <p228:anchr>
                <p228:comment id="{0F2D7CBA-AB0E-4AC4-962D-A91857AAD0C1}"/>
              </p228:anchr>
              <p228:date stDt="2026-05-07T04:11:03.589" endDt="2026-05-07T04:11:03.589"/>
            </p228:event>
            <p228:event time="2026-05-10T01:29:50.896" id="{F224985D-3ADD-42CC-9611-F026637F2A2D}">
              <p228:atrbtn authorId="{21E1F5D4-D56F-5F94-9E42-D417B4081D7C}"/>
              <p228:anchr>
                <p228:comment id="{00000000-0000-0000-0000-000000000000}"/>
              </p228:anchr>
              <p228:pcntCmplt val="100000"/>
            </p228:event>
          </p228:history>
        </p228:taskDetails>
      </p:ext>
    </p188:extLst>
  </p188:cm>
</p188:cmLst>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20E74C-BCE2-44A3-9C5B-CAA76E106F98}"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8A64B296-B163-4EB3-AEE7-F4C8FD2EC3B9}">
      <dgm:prSet/>
      <dgm:spPr/>
      <dgm:t>
        <a:bodyPr/>
        <a:lstStyle/>
        <a:p>
          <a:r>
            <a:rPr lang="en-US"/>
            <a:t>Three AI difficulty levels introduced</a:t>
          </a:r>
        </a:p>
      </dgm:t>
    </dgm:pt>
    <dgm:pt modelId="{876278F0-F863-4468-A9BC-1596F10C4625}" type="parTrans" cxnId="{32C087FC-8713-4DAB-8F85-CD1D92DDBDB9}">
      <dgm:prSet/>
      <dgm:spPr/>
      <dgm:t>
        <a:bodyPr/>
        <a:lstStyle/>
        <a:p>
          <a:endParaRPr lang="en-US"/>
        </a:p>
      </dgm:t>
    </dgm:pt>
    <dgm:pt modelId="{6A35C86A-CBF2-4708-8388-BA769CB6C03C}" type="sibTrans" cxnId="{32C087FC-8713-4DAB-8F85-CD1D92DDBDB9}">
      <dgm:prSet/>
      <dgm:spPr/>
      <dgm:t>
        <a:bodyPr/>
        <a:lstStyle/>
        <a:p>
          <a:endParaRPr lang="en-US"/>
        </a:p>
      </dgm:t>
    </dgm:pt>
    <dgm:pt modelId="{4FD589A4-D34E-48AB-88B7-C2E03C44DD90}">
      <dgm:prSet/>
      <dgm:spPr/>
      <dgm:t>
        <a:bodyPr/>
        <a:lstStyle/>
        <a:p>
          <a:r>
            <a:rPr lang="en-US"/>
            <a:t>Easy difficulty with slower reaction</a:t>
          </a:r>
        </a:p>
      </dgm:t>
    </dgm:pt>
    <dgm:pt modelId="{BCC6F4E9-AE0B-482D-816A-86FEC3495036}" type="parTrans" cxnId="{414F3A47-8034-4624-8530-60A713A3C7EB}">
      <dgm:prSet/>
      <dgm:spPr/>
      <dgm:t>
        <a:bodyPr/>
        <a:lstStyle/>
        <a:p>
          <a:endParaRPr lang="en-US"/>
        </a:p>
      </dgm:t>
    </dgm:pt>
    <dgm:pt modelId="{61C8A0E3-7D16-4426-880E-8D2307888A08}" type="sibTrans" cxnId="{414F3A47-8034-4624-8530-60A713A3C7EB}">
      <dgm:prSet/>
      <dgm:spPr/>
      <dgm:t>
        <a:bodyPr/>
        <a:lstStyle/>
        <a:p>
          <a:endParaRPr lang="en-US"/>
        </a:p>
      </dgm:t>
    </dgm:pt>
    <dgm:pt modelId="{7AA9FF09-F5A6-48C0-955D-EDF27F9EF50F}">
      <dgm:prSet/>
      <dgm:spPr/>
      <dgm:t>
        <a:bodyPr/>
        <a:lstStyle/>
        <a:p>
          <a:r>
            <a:rPr lang="en-US"/>
            <a:t>Medium difficulty with average behavior</a:t>
          </a:r>
        </a:p>
      </dgm:t>
    </dgm:pt>
    <dgm:pt modelId="{DAFF76C5-94EC-44C2-B747-CD17F7470320}" type="parTrans" cxnId="{A51544E0-F4FA-4655-A9A2-D519B50ED916}">
      <dgm:prSet/>
      <dgm:spPr/>
      <dgm:t>
        <a:bodyPr/>
        <a:lstStyle/>
        <a:p>
          <a:endParaRPr lang="en-US"/>
        </a:p>
      </dgm:t>
    </dgm:pt>
    <dgm:pt modelId="{E1AF1F73-2463-45CF-ABCF-66F9EF0ACBCB}" type="sibTrans" cxnId="{A51544E0-F4FA-4655-A9A2-D519B50ED916}">
      <dgm:prSet/>
      <dgm:spPr/>
      <dgm:t>
        <a:bodyPr/>
        <a:lstStyle/>
        <a:p>
          <a:endParaRPr lang="en-US"/>
        </a:p>
      </dgm:t>
    </dgm:pt>
    <dgm:pt modelId="{66892DE7-87C6-4991-A3F9-FA49CE97F630}">
      <dgm:prSet/>
      <dgm:spPr/>
      <dgm:t>
        <a:bodyPr/>
        <a:lstStyle/>
        <a:p>
          <a:r>
            <a:rPr lang="en-US"/>
            <a:t>Hard difficulty with machine learning to implement reward and penalty system to guide AI learning</a:t>
          </a:r>
        </a:p>
      </dgm:t>
    </dgm:pt>
    <dgm:pt modelId="{09672CD7-4419-4660-8BB0-E5031AE117C4}" type="parTrans" cxnId="{6558BD4D-8242-4AF3-B36C-B7A063EE8293}">
      <dgm:prSet/>
      <dgm:spPr/>
      <dgm:t>
        <a:bodyPr/>
        <a:lstStyle/>
        <a:p>
          <a:endParaRPr lang="en-US"/>
        </a:p>
      </dgm:t>
    </dgm:pt>
    <dgm:pt modelId="{C4DF9765-A271-49AE-99C4-E46D6FA2E110}" type="sibTrans" cxnId="{6558BD4D-8242-4AF3-B36C-B7A063EE8293}">
      <dgm:prSet/>
      <dgm:spPr/>
      <dgm:t>
        <a:bodyPr/>
        <a:lstStyle/>
        <a:p>
          <a:endParaRPr lang="en-US"/>
        </a:p>
      </dgm:t>
    </dgm:pt>
    <dgm:pt modelId="{8A5E7143-7D32-4982-ADDC-16F1BE8626DF}">
      <dgm:prSet/>
      <dgm:spPr/>
      <dgm:t>
        <a:bodyPr/>
        <a:lstStyle/>
        <a:p>
          <a:r>
            <a:rPr lang="en-US"/>
            <a:t>Bug testing and resolution</a:t>
          </a:r>
        </a:p>
      </dgm:t>
    </dgm:pt>
    <dgm:pt modelId="{785F7CA1-595F-4656-BADB-C45CAFCE52F4}" type="parTrans" cxnId="{978486A2-D463-4C8C-AC0F-8AF7DACA8BB3}">
      <dgm:prSet/>
      <dgm:spPr/>
      <dgm:t>
        <a:bodyPr/>
        <a:lstStyle/>
        <a:p>
          <a:endParaRPr lang="en-US"/>
        </a:p>
      </dgm:t>
    </dgm:pt>
    <dgm:pt modelId="{554A26A7-EC76-4B62-874E-E425D66824A6}" type="sibTrans" cxnId="{978486A2-D463-4C8C-AC0F-8AF7DACA8BB3}">
      <dgm:prSet/>
      <dgm:spPr/>
      <dgm:t>
        <a:bodyPr/>
        <a:lstStyle/>
        <a:p>
          <a:endParaRPr lang="en-US"/>
        </a:p>
      </dgm:t>
    </dgm:pt>
    <dgm:pt modelId="{1B328202-3C5E-40E2-8629-C3C1AFFA8AB2}" type="pres">
      <dgm:prSet presAssocID="{7420E74C-BCE2-44A3-9C5B-CAA76E106F98}" presName="linear" presStyleCnt="0">
        <dgm:presLayoutVars>
          <dgm:dir/>
          <dgm:animLvl val="lvl"/>
          <dgm:resizeHandles val="exact"/>
        </dgm:presLayoutVars>
      </dgm:prSet>
      <dgm:spPr/>
    </dgm:pt>
    <dgm:pt modelId="{7EA20C17-A77F-4B7E-A5C4-E8CE2C106724}" type="pres">
      <dgm:prSet presAssocID="{8A64B296-B163-4EB3-AEE7-F4C8FD2EC3B9}" presName="parentLin" presStyleCnt="0"/>
      <dgm:spPr/>
    </dgm:pt>
    <dgm:pt modelId="{367DF034-292F-4C9A-A8F5-862072D0D206}" type="pres">
      <dgm:prSet presAssocID="{8A64B296-B163-4EB3-AEE7-F4C8FD2EC3B9}" presName="parentLeftMargin" presStyleLbl="node1" presStyleIdx="0" presStyleCnt="2"/>
      <dgm:spPr/>
    </dgm:pt>
    <dgm:pt modelId="{A40750E0-F1B6-48C7-83E1-6D6A05BAFD1D}" type="pres">
      <dgm:prSet presAssocID="{8A64B296-B163-4EB3-AEE7-F4C8FD2EC3B9}" presName="parentText" presStyleLbl="node1" presStyleIdx="0" presStyleCnt="2">
        <dgm:presLayoutVars>
          <dgm:chMax val="0"/>
          <dgm:bulletEnabled val="1"/>
        </dgm:presLayoutVars>
      </dgm:prSet>
      <dgm:spPr/>
    </dgm:pt>
    <dgm:pt modelId="{EF0FBD02-D4C9-46BE-B65C-EAD8C7A19AD9}" type="pres">
      <dgm:prSet presAssocID="{8A64B296-B163-4EB3-AEE7-F4C8FD2EC3B9}" presName="negativeSpace" presStyleCnt="0"/>
      <dgm:spPr/>
    </dgm:pt>
    <dgm:pt modelId="{DF32848E-CD5D-41B4-B6F7-21F5C746F575}" type="pres">
      <dgm:prSet presAssocID="{8A64B296-B163-4EB3-AEE7-F4C8FD2EC3B9}" presName="childText" presStyleLbl="conFgAcc1" presStyleIdx="0" presStyleCnt="2">
        <dgm:presLayoutVars>
          <dgm:bulletEnabled val="1"/>
        </dgm:presLayoutVars>
      </dgm:prSet>
      <dgm:spPr/>
    </dgm:pt>
    <dgm:pt modelId="{AA45C641-1075-433F-B739-C1087EBAF68F}" type="pres">
      <dgm:prSet presAssocID="{6A35C86A-CBF2-4708-8388-BA769CB6C03C}" presName="spaceBetweenRectangles" presStyleCnt="0"/>
      <dgm:spPr/>
    </dgm:pt>
    <dgm:pt modelId="{9AB300E6-BF77-45C6-939D-B4352E54F119}" type="pres">
      <dgm:prSet presAssocID="{8A5E7143-7D32-4982-ADDC-16F1BE8626DF}" presName="parentLin" presStyleCnt="0"/>
      <dgm:spPr/>
    </dgm:pt>
    <dgm:pt modelId="{53075316-B5A4-46E0-9961-A4C1FECA8434}" type="pres">
      <dgm:prSet presAssocID="{8A5E7143-7D32-4982-ADDC-16F1BE8626DF}" presName="parentLeftMargin" presStyleLbl="node1" presStyleIdx="0" presStyleCnt="2"/>
      <dgm:spPr/>
    </dgm:pt>
    <dgm:pt modelId="{3399E9C0-EA04-4D96-9EB8-3640228C14DD}" type="pres">
      <dgm:prSet presAssocID="{8A5E7143-7D32-4982-ADDC-16F1BE8626DF}" presName="parentText" presStyleLbl="node1" presStyleIdx="1" presStyleCnt="2">
        <dgm:presLayoutVars>
          <dgm:chMax val="0"/>
          <dgm:bulletEnabled val="1"/>
        </dgm:presLayoutVars>
      </dgm:prSet>
      <dgm:spPr/>
    </dgm:pt>
    <dgm:pt modelId="{8E3B07BB-7CF8-4870-944D-87FD2B18C16E}" type="pres">
      <dgm:prSet presAssocID="{8A5E7143-7D32-4982-ADDC-16F1BE8626DF}" presName="negativeSpace" presStyleCnt="0"/>
      <dgm:spPr/>
    </dgm:pt>
    <dgm:pt modelId="{78186F11-9F4C-4FC8-B03C-841E09D9E67F}" type="pres">
      <dgm:prSet presAssocID="{8A5E7143-7D32-4982-ADDC-16F1BE8626DF}" presName="childText" presStyleLbl="conFgAcc1" presStyleIdx="1" presStyleCnt="2">
        <dgm:presLayoutVars>
          <dgm:bulletEnabled val="1"/>
        </dgm:presLayoutVars>
      </dgm:prSet>
      <dgm:spPr/>
    </dgm:pt>
  </dgm:ptLst>
  <dgm:cxnLst>
    <dgm:cxn modelId="{54328563-9473-4CE1-B97F-DCE1D10D2C39}" type="presOf" srcId="{8A64B296-B163-4EB3-AEE7-F4C8FD2EC3B9}" destId="{A40750E0-F1B6-48C7-83E1-6D6A05BAFD1D}" srcOrd="1" destOrd="0" presId="urn:microsoft.com/office/officeart/2005/8/layout/list1"/>
    <dgm:cxn modelId="{414F3A47-8034-4624-8530-60A713A3C7EB}" srcId="{8A64B296-B163-4EB3-AEE7-F4C8FD2EC3B9}" destId="{4FD589A4-D34E-48AB-88B7-C2E03C44DD90}" srcOrd="0" destOrd="0" parTransId="{BCC6F4E9-AE0B-482D-816A-86FEC3495036}" sibTransId="{61C8A0E3-7D16-4426-880E-8D2307888A08}"/>
    <dgm:cxn modelId="{6558BD4D-8242-4AF3-B36C-B7A063EE8293}" srcId="{8A64B296-B163-4EB3-AEE7-F4C8FD2EC3B9}" destId="{66892DE7-87C6-4991-A3F9-FA49CE97F630}" srcOrd="2" destOrd="0" parTransId="{09672CD7-4419-4660-8BB0-E5031AE117C4}" sibTransId="{C4DF9765-A271-49AE-99C4-E46D6FA2E110}"/>
    <dgm:cxn modelId="{2328557D-4D27-46A9-89F1-BD1EC308E0C8}" type="presOf" srcId="{7420E74C-BCE2-44A3-9C5B-CAA76E106F98}" destId="{1B328202-3C5E-40E2-8629-C3C1AFFA8AB2}" srcOrd="0" destOrd="0" presId="urn:microsoft.com/office/officeart/2005/8/layout/list1"/>
    <dgm:cxn modelId="{48EDD181-E1B8-40A2-B38D-86DA337B2CCE}" type="presOf" srcId="{4FD589A4-D34E-48AB-88B7-C2E03C44DD90}" destId="{DF32848E-CD5D-41B4-B6F7-21F5C746F575}" srcOrd="0" destOrd="0" presId="urn:microsoft.com/office/officeart/2005/8/layout/list1"/>
    <dgm:cxn modelId="{9BDB2884-379B-471B-A1ED-78F5D8473207}" type="presOf" srcId="{8A5E7143-7D32-4982-ADDC-16F1BE8626DF}" destId="{53075316-B5A4-46E0-9961-A4C1FECA8434}" srcOrd="0" destOrd="0" presId="urn:microsoft.com/office/officeart/2005/8/layout/list1"/>
    <dgm:cxn modelId="{978486A2-D463-4C8C-AC0F-8AF7DACA8BB3}" srcId="{7420E74C-BCE2-44A3-9C5B-CAA76E106F98}" destId="{8A5E7143-7D32-4982-ADDC-16F1BE8626DF}" srcOrd="1" destOrd="0" parTransId="{785F7CA1-595F-4656-BADB-C45CAFCE52F4}" sibTransId="{554A26A7-EC76-4B62-874E-E425D66824A6}"/>
    <dgm:cxn modelId="{BEE44BA6-E154-4771-B9FC-B2B8D8B44B8F}" type="presOf" srcId="{8A64B296-B163-4EB3-AEE7-F4C8FD2EC3B9}" destId="{367DF034-292F-4C9A-A8F5-862072D0D206}" srcOrd="0" destOrd="0" presId="urn:microsoft.com/office/officeart/2005/8/layout/list1"/>
    <dgm:cxn modelId="{721101A8-4207-4F5B-A4E7-6428D91CB423}" type="presOf" srcId="{7AA9FF09-F5A6-48C0-955D-EDF27F9EF50F}" destId="{DF32848E-CD5D-41B4-B6F7-21F5C746F575}" srcOrd="0" destOrd="1" presId="urn:microsoft.com/office/officeart/2005/8/layout/list1"/>
    <dgm:cxn modelId="{06CBC5B2-12BF-49A0-9AA0-F0C6863DE82B}" type="presOf" srcId="{8A5E7143-7D32-4982-ADDC-16F1BE8626DF}" destId="{3399E9C0-EA04-4D96-9EB8-3640228C14DD}" srcOrd="1" destOrd="0" presId="urn:microsoft.com/office/officeart/2005/8/layout/list1"/>
    <dgm:cxn modelId="{27D015D8-29D1-4961-8610-EF26048EC357}" type="presOf" srcId="{66892DE7-87C6-4991-A3F9-FA49CE97F630}" destId="{DF32848E-CD5D-41B4-B6F7-21F5C746F575}" srcOrd="0" destOrd="2" presId="urn:microsoft.com/office/officeart/2005/8/layout/list1"/>
    <dgm:cxn modelId="{A51544E0-F4FA-4655-A9A2-D519B50ED916}" srcId="{8A64B296-B163-4EB3-AEE7-F4C8FD2EC3B9}" destId="{7AA9FF09-F5A6-48C0-955D-EDF27F9EF50F}" srcOrd="1" destOrd="0" parTransId="{DAFF76C5-94EC-44C2-B747-CD17F7470320}" sibTransId="{E1AF1F73-2463-45CF-ABCF-66F9EF0ACBCB}"/>
    <dgm:cxn modelId="{32C087FC-8713-4DAB-8F85-CD1D92DDBDB9}" srcId="{7420E74C-BCE2-44A3-9C5B-CAA76E106F98}" destId="{8A64B296-B163-4EB3-AEE7-F4C8FD2EC3B9}" srcOrd="0" destOrd="0" parTransId="{876278F0-F863-4468-A9BC-1596F10C4625}" sibTransId="{6A35C86A-CBF2-4708-8388-BA769CB6C03C}"/>
    <dgm:cxn modelId="{DB35314C-4F5C-4619-BCEE-4F721D8C4AF7}" type="presParOf" srcId="{1B328202-3C5E-40E2-8629-C3C1AFFA8AB2}" destId="{7EA20C17-A77F-4B7E-A5C4-E8CE2C106724}" srcOrd="0" destOrd="0" presId="urn:microsoft.com/office/officeart/2005/8/layout/list1"/>
    <dgm:cxn modelId="{559DC43E-E606-4F9F-93E6-2B7AA9AF572E}" type="presParOf" srcId="{7EA20C17-A77F-4B7E-A5C4-E8CE2C106724}" destId="{367DF034-292F-4C9A-A8F5-862072D0D206}" srcOrd="0" destOrd="0" presId="urn:microsoft.com/office/officeart/2005/8/layout/list1"/>
    <dgm:cxn modelId="{EAB0650F-437E-4996-B343-EC7A4253A751}" type="presParOf" srcId="{7EA20C17-A77F-4B7E-A5C4-E8CE2C106724}" destId="{A40750E0-F1B6-48C7-83E1-6D6A05BAFD1D}" srcOrd="1" destOrd="0" presId="urn:microsoft.com/office/officeart/2005/8/layout/list1"/>
    <dgm:cxn modelId="{9863923B-DA4E-4178-923D-691AEF251091}" type="presParOf" srcId="{1B328202-3C5E-40E2-8629-C3C1AFFA8AB2}" destId="{EF0FBD02-D4C9-46BE-B65C-EAD8C7A19AD9}" srcOrd="1" destOrd="0" presId="urn:microsoft.com/office/officeart/2005/8/layout/list1"/>
    <dgm:cxn modelId="{73E679A7-B252-4C42-9823-3D1BEDCC7B8C}" type="presParOf" srcId="{1B328202-3C5E-40E2-8629-C3C1AFFA8AB2}" destId="{DF32848E-CD5D-41B4-B6F7-21F5C746F575}" srcOrd="2" destOrd="0" presId="urn:microsoft.com/office/officeart/2005/8/layout/list1"/>
    <dgm:cxn modelId="{4CAE25A1-CE89-4053-9598-50D5A1951A8E}" type="presParOf" srcId="{1B328202-3C5E-40E2-8629-C3C1AFFA8AB2}" destId="{AA45C641-1075-433F-B739-C1087EBAF68F}" srcOrd="3" destOrd="0" presId="urn:microsoft.com/office/officeart/2005/8/layout/list1"/>
    <dgm:cxn modelId="{F068209F-4CE1-4E74-98A1-A2CF2A574C31}" type="presParOf" srcId="{1B328202-3C5E-40E2-8629-C3C1AFFA8AB2}" destId="{9AB300E6-BF77-45C6-939D-B4352E54F119}" srcOrd="4" destOrd="0" presId="urn:microsoft.com/office/officeart/2005/8/layout/list1"/>
    <dgm:cxn modelId="{26FAB515-7B68-4339-92FC-23A56DE99049}" type="presParOf" srcId="{9AB300E6-BF77-45C6-939D-B4352E54F119}" destId="{53075316-B5A4-46E0-9961-A4C1FECA8434}" srcOrd="0" destOrd="0" presId="urn:microsoft.com/office/officeart/2005/8/layout/list1"/>
    <dgm:cxn modelId="{27477123-1476-4E64-9481-B71B795610F6}" type="presParOf" srcId="{9AB300E6-BF77-45C6-939D-B4352E54F119}" destId="{3399E9C0-EA04-4D96-9EB8-3640228C14DD}" srcOrd="1" destOrd="0" presId="urn:microsoft.com/office/officeart/2005/8/layout/list1"/>
    <dgm:cxn modelId="{CEDEA924-F989-4FCD-BEB8-EFF253E239A7}" type="presParOf" srcId="{1B328202-3C5E-40E2-8629-C3C1AFFA8AB2}" destId="{8E3B07BB-7CF8-4870-944D-87FD2B18C16E}" srcOrd="5" destOrd="0" presId="urn:microsoft.com/office/officeart/2005/8/layout/list1"/>
    <dgm:cxn modelId="{2808072C-3E1A-434D-B37C-7696D460FB46}" type="presParOf" srcId="{1B328202-3C5E-40E2-8629-C3C1AFFA8AB2}" destId="{78186F11-9F4C-4FC8-B03C-841E09D9E67F}"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23791B-6FCE-4A79-9E98-52352CF03B6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E8AD3B2-D23A-4033-AF75-5E5BCEE30821}">
      <dgm:prSet/>
      <dgm:spPr/>
      <dgm:t>
        <a:bodyPr/>
        <a:lstStyle/>
        <a:p>
          <a:r>
            <a:rPr lang="en-US"/>
            <a:t>2D-fighting game focusing primarily on AI opponents and improving your general fighting game skills. </a:t>
          </a:r>
        </a:p>
      </dgm:t>
    </dgm:pt>
    <dgm:pt modelId="{80358B26-F679-4A7E-9D4A-1D812C0B752C}" type="parTrans" cxnId="{C710AA4A-1462-4D5C-BE8B-75F99C616EF9}">
      <dgm:prSet/>
      <dgm:spPr/>
      <dgm:t>
        <a:bodyPr/>
        <a:lstStyle/>
        <a:p>
          <a:endParaRPr lang="en-US"/>
        </a:p>
      </dgm:t>
    </dgm:pt>
    <dgm:pt modelId="{2A2CFE1F-B5FC-4AEC-A601-2AA2F0552D27}" type="sibTrans" cxnId="{C710AA4A-1462-4D5C-BE8B-75F99C616EF9}">
      <dgm:prSet/>
      <dgm:spPr/>
      <dgm:t>
        <a:bodyPr/>
        <a:lstStyle/>
        <a:p>
          <a:endParaRPr lang="en-US"/>
        </a:p>
      </dgm:t>
    </dgm:pt>
    <dgm:pt modelId="{C97B9D7E-4D17-45C9-8F82-880D814EED73}">
      <dgm:prSet/>
      <dgm:spPr/>
      <dgm:t>
        <a:bodyPr/>
        <a:lstStyle/>
        <a:p>
          <a:r>
            <a:rPr lang="en-US"/>
            <a:t>AI will scale appropriately based on selected skill level</a:t>
          </a:r>
        </a:p>
      </dgm:t>
    </dgm:pt>
    <dgm:pt modelId="{48AC674B-6697-4A81-86F0-36A5F20B75FD}" type="parTrans" cxnId="{C58981B1-BED9-4F4F-95EF-A9E556FC877E}">
      <dgm:prSet/>
      <dgm:spPr/>
      <dgm:t>
        <a:bodyPr/>
        <a:lstStyle/>
        <a:p>
          <a:endParaRPr lang="en-US"/>
        </a:p>
      </dgm:t>
    </dgm:pt>
    <dgm:pt modelId="{2F2C37A4-756E-402B-92F9-7AAF1DAA18C2}" type="sibTrans" cxnId="{C58981B1-BED9-4F4F-95EF-A9E556FC877E}">
      <dgm:prSet/>
      <dgm:spPr/>
      <dgm:t>
        <a:bodyPr/>
        <a:lstStyle/>
        <a:p>
          <a:endParaRPr lang="en-US"/>
        </a:p>
      </dgm:t>
    </dgm:pt>
    <dgm:pt modelId="{A3A22D57-3E6B-478B-8DF3-041984FB2C93}">
      <dgm:prSet/>
      <dgm:spPr/>
      <dgm:t>
        <a:bodyPr/>
        <a:lstStyle/>
        <a:p>
          <a:r>
            <a:rPr lang="en-US"/>
            <a:t>Easy : Mostly random or suboptimal moves</a:t>
          </a:r>
        </a:p>
      </dgm:t>
    </dgm:pt>
    <dgm:pt modelId="{4C74DDA5-C2A1-44FA-BC5D-7EBC17737D0F}" type="parTrans" cxnId="{DFF5C83F-FD67-4940-97C1-ABF45B5869A2}">
      <dgm:prSet/>
      <dgm:spPr/>
      <dgm:t>
        <a:bodyPr/>
        <a:lstStyle/>
        <a:p>
          <a:endParaRPr lang="en-US"/>
        </a:p>
      </dgm:t>
    </dgm:pt>
    <dgm:pt modelId="{120D7BB1-0DE8-447E-B526-21C2F0924D19}" type="sibTrans" cxnId="{DFF5C83F-FD67-4940-97C1-ABF45B5869A2}">
      <dgm:prSet/>
      <dgm:spPr/>
      <dgm:t>
        <a:bodyPr/>
        <a:lstStyle/>
        <a:p>
          <a:endParaRPr lang="en-US"/>
        </a:p>
      </dgm:t>
    </dgm:pt>
    <dgm:pt modelId="{1465125D-A3F6-4B60-8542-04DEAE3B7449}">
      <dgm:prSet/>
      <dgm:spPr/>
      <dgm:t>
        <a:bodyPr/>
        <a:lstStyle/>
        <a:p>
          <a:r>
            <a:rPr lang="en-US"/>
            <a:t>Medium : Basic strategy with a little randomness</a:t>
          </a:r>
        </a:p>
      </dgm:t>
    </dgm:pt>
    <dgm:pt modelId="{A25BF204-A5FF-4EA5-AFE5-169D781F0D92}" type="parTrans" cxnId="{76088D4D-3E0E-4FA7-9E82-FA4A91CFF028}">
      <dgm:prSet/>
      <dgm:spPr/>
      <dgm:t>
        <a:bodyPr/>
        <a:lstStyle/>
        <a:p>
          <a:endParaRPr lang="en-US"/>
        </a:p>
      </dgm:t>
    </dgm:pt>
    <dgm:pt modelId="{B32455E0-2897-4A66-8F23-F298CBA2FD3D}" type="sibTrans" cxnId="{76088D4D-3E0E-4FA7-9E82-FA4A91CFF028}">
      <dgm:prSet/>
      <dgm:spPr/>
      <dgm:t>
        <a:bodyPr/>
        <a:lstStyle/>
        <a:p>
          <a:endParaRPr lang="en-US"/>
        </a:p>
      </dgm:t>
    </dgm:pt>
    <dgm:pt modelId="{917AE794-76BB-4C83-A5C9-88B32A5016FE}">
      <dgm:prSet/>
      <dgm:spPr/>
      <dgm:t>
        <a:bodyPr/>
        <a:lstStyle/>
        <a:p>
          <a:r>
            <a:rPr lang="en-US"/>
            <a:t>Hard : Uses machine learning to adapt and respond</a:t>
          </a:r>
        </a:p>
      </dgm:t>
    </dgm:pt>
    <dgm:pt modelId="{A84769D0-AD2F-4996-8F34-B363621F5FA4}" type="parTrans" cxnId="{119C3584-5810-4857-B78A-8E6ACB6FE531}">
      <dgm:prSet/>
      <dgm:spPr/>
      <dgm:t>
        <a:bodyPr/>
        <a:lstStyle/>
        <a:p>
          <a:endParaRPr lang="en-US"/>
        </a:p>
      </dgm:t>
    </dgm:pt>
    <dgm:pt modelId="{B3C1D69F-D332-4B0E-A1F5-A2D25692B2BB}" type="sibTrans" cxnId="{119C3584-5810-4857-B78A-8E6ACB6FE531}">
      <dgm:prSet/>
      <dgm:spPr/>
      <dgm:t>
        <a:bodyPr/>
        <a:lstStyle/>
        <a:p>
          <a:endParaRPr lang="en-US"/>
        </a:p>
      </dgm:t>
    </dgm:pt>
    <dgm:pt modelId="{287DF65A-C039-441B-9304-B4CA4A2FB384}">
      <dgm:prSet/>
      <dgm:spPr/>
      <dgm:t>
        <a:bodyPr/>
        <a:lstStyle/>
        <a:p>
          <a:r>
            <a:rPr lang="en-US"/>
            <a:t>Provide user-friendly interface for user entry</a:t>
          </a:r>
        </a:p>
      </dgm:t>
    </dgm:pt>
    <dgm:pt modelId="{01ECD2BD-2CAA-4DF5-AC7F-DFFB59F5EC4C}" type="parTrans" cxnId="{82995F03-452B-4DE4-83BC-8FAF56A152ED}">
      <dgm:prSet/>
      <dgm:spPr/>
      <dgm:t>
        <a:bodyPr/>
        <a:lstStyle/>
        <a:p>
          <a:endParaRPr lang="en-US"/>
        </a:p>
      </dgm:t>
    </dgm:pt>
    <dgm:pt modelId="{E9647D0F-5AE9-4A14-ABF2-2EF1C41B9668}" type="sibTrans" cxnId="{82995F03-452B-4DE4-83BC-8FAF56A152ED}">
      <dgm:prSet/>
      <dgm:spPr/>
      <dgm:t>
        <a:bodyPr/>
        <a:lstStyle/>
        <a:p>
          <a:endParaRPr lang="en-US"/>
        </a:p>
      </dgm:t>
    </dgm:pt>
    <dgm:pt modelId="{1CC6A406-B973-4558-AD60-423891E86620}">
      <dgm:prSet/>
      <dgm:spPr/>
      <dgm:t>
        <a:bodyPr/>
        <a:lstStyle/>
        <a:p>
          <a:r>
            <a:rPr lang="en-US"/>
            <a:t>Tally up and output results of game</a:t>
          </a:r>
        </a:p>
      </dgm:t>
    </dgm:pt>
    <dgm:pt modelId="{09A62C28-1723-458D-9DAC-33EA18FD74D9}" type="parTrans" cxnId="{29E7A870-EC20-4C02-8EC0-46E5AB237695}">
      <dgm:prSet/>
      <dgm:spPr/>
      <dgm:t>
        <a:bodyPr/>
        <a:lstStyle/>
        <a:p>
          <a:endParaRPr lang="en-US"/>
        </a:p>
      </dgm:t>
    </dgm:pt>
    <dgm:pt modelId="{FA7478E6-AC72-4EB0-9557-71310D073624}" type="sibTrans" cxnId="{29E7A870-EC20-4C02-8EC0-46E5AB237695}">
      <dgm:prSet/>
      <dgm:spPr/>
      <dgm:t>
        <a:bodyPr/>
        <a:lstStyle/>
        <a:p>
          <a:endParaRPr lang="en-US"/>
        </a:p>
      </dgm:t>
    </dgm:pt>
    <dgm:pt modelId="{F29C7AA9-EF7D-4A2F-BA36-6063649FD6A4}" type="pres">
      <dgm:prSet presAssocID="{5C23791B-6FCE-4A79-9E98-52352CF03B6A}" presName="linear" presStyleCnt="0">
        <dgm:presLayoutVars>
          <dgm:animLvl val="lvl"/>
          <dgm:resizeHandles val="exact"/>
        </dgm:presLayoutVars>
      </dgm:prSet>
      <dgm:spPr/>
    </dgm:pt>
    <dgm:pt modelId="{98A0744A-D98E-4D05-92E7-0EB8E0631439}" type="pres">
      <dgm:prSet presAssocID="{FE8AD3B2-D23A-4033-AF75-5E5BCEE30821}" presName="parentText" presStyleLbl="node1" presStyleIdx="0" presStyleCnt="4">
        <dgm:presLayoutVars>
          <dgm:chMax val="0"/>
          <dgm:bulletEnabled val="1"/>
        </dgm:presLayoutVars>
      </dgm:prSet>
      <dgm:spPr/>
    </dgm:pt>
    <dgm:pt modelId="{F2670F6F-C341-44A2-BE5A-8F20802015F8}" type="pres">
      <dgm:prSet presAssocID="{2A2CFE1F-B5FC-4AEC-A601-2AA2F0552D27}" presName="spacer" presStyleCnt="0"/>
      <dgm:spPr/>
    </dgm:pt>
    <dgm:pt modelId="{6E53022B-0565-49B6-A919-11FF54422726}" type="pres">
      <dgm:prSet presAssocID="{C97B9D7E-4D17-45C9-8F82-880D814EED73}" presName="parentText" presStyleLbl="node1" presStyleIdx="1" presStyleCnt="4">
        <dgm:presLayoutVars>
          <dgm:chMax val="0"/>
          <dgm:bulletEnabled val="1"/>
        </dgm:presLayoutVars>
      </dgm:prSet>
      <dgm:spPr/>
    </dgm:pt>
    <dgm:pt modelId="{1222CD59-96E9-4B4C-BCFE-B566633DB5E1}" type="pres">
      <dgm:prSet presAssocID="{C97B9D7E-4D17-45C9-8F82-880D814EED73}" presName="childText" presStyleLbl="revTx" presStyleIdx="0" presStyleCnt="1">
        <dgm:presLayoutVars>
          <dgm:bulletEnabled val="1"/>
        </dgm:presLayoutVars>
      </dgm:prSet>
      <dgm:spPr/>
    </dgm:pt>
    <dgm:pt modelId="{7DE91CAF-36A2-495F-AABD-0803CE079DEC}" type="pres">
      <dgm:prSet presAssocID="{287DF65A-C039-441B-9304-B4CA4A2FB384}" presName="parentText" presStyleLbl="node1" presStyleIdx="2" presStyleCnt="4">
        <dgm:presLayoutVars>
          <dgm:chMax val="0"/>
          <dgm:bulletEnabled val="1"/>
        </dgm:presLayoutVars>
      </dgm:prSet>
      <dgm:spPr/>
    </dgm:pt>
    <dgm:pt modelId="{2F733345-636F-4C7D-ADB2-2E0485B2DEAC}" type="pres">
      <dgm:prSet presAssocID="{E9647D0F-5AE9-4A14-ABF2-2EF1C41B9668}" presName="spacer" presStyleCnt="0"/>
      <dgm:spPr/>
    </dgm:pt>
    <dgm:pt modelId="{58914D7F-C396-4BE2-A443-2627AB303E40}" type="pres">
      <dgm:prSet presAssocID="{1CC6A406-B973-4558-AD60-423891E86620}" presName="parentText" presStyleLbl="node1" presStyleIdx="3" presStyleCnt="4">
        <dgm:presLayoutVars>
          <dgm:chMax val="0"/>
          <dgm:bulletEnabled val="1"/>
        </dgm:presLayoutVars>
      </dgm:prSet>
      <dgm:spPr/>
    </dgm:pt>
  </dgm:ptLst>
  <dgm:cxnLst>
    <dgm:cxn modelId="{82995F03-452B-4DE4-83BC-8FAF56A152ED}" srcId="{5C23791B-6FCE-4A79-9E98-52352CF03B6A}" destId="{287DF65A-C039-441B-9304-B4CA4A2FB384}" srcOrd="2" destOrd="0" parTransId="{01ECD2BD-2CAA-4DF5-AC7F-DFFB59F5EC4C}" sibTransId="{E9647D0F-5AE9-4A14-ABF2-2EF1C41B9668}"/>
    <dgm:cxn modelId="{E38B921C-AF47-4386-A4D4-495DAE657694}" type="presOf" srcId="{C97B9D7E-4D17-45C9-8F82-880D814EED73}" destId="{6E53022B-0565-49B6-A919-11FF54422726}" srcOrd="0" destOrd="0" presId="urn:microsoft.com/office/officeart/2005/8/layout/vList2"/>
    <dgm:cxn modelId="{DFF5C83F-FD67-4940-97C1-ABF45B5869A2}" srcId="{C97B9D7E-4D17-45C9-8F82-880D814EED73}" destId="{A3A22D57-3E6B-478B-8DF3-041984FB2C93}" srcOrd="0" destOrd="0" parTransId="{4C74DDA5-C2A1-44FA-BC5D-7EBC17737D0F}" sibTransId="{120D7BB1-0DE8-447E-B526-21C2F0924D19}"/>
    <dgm:cxn modelId="{7B905660-D638-4AAB-9C7D-041CACC07833}" type="presOf" srcId="{287DF65A-C039-441B-9304-B4CA4A2FB384}" destId="{7DE91CAF-36A2-495F-AABD-0803CE079DEC}" srcOrd="0" destOrd="0" presId="urn:microsoft.com/office/officeart/2005/8/layout/vList2"/>
    <dgm:cxn modelId="{5BAC3F63-86F1-4BB8-BBBE-2DCFEF4CD43B}" type="presOf" srcId="{1CC6A406-B973-4558-AD60-423891E86620}" destId="{58914D7F-C396-4BE2-A443-2627AB303E40}" srcOrd="0" destOrd="0" presId="urn:microsoft.com/office/officeart/2005/8/layout/vList2"/>
    <dgm:cxn modelId="{C710AA4A-1462-4D5C-BE8B-75F99C616EF9}" srcId="{5C23791B-6FCE-4A79-9E98-52352CF03B6A}" destId="{FE8AD3B2-D23A-4033-AF75-5E5BCEE30821}" srcOrd="0" destOrd="0" parTransId="{80358B26-F679-4A7E-9D4A-1D812C0B752C}" sibTransId="{2A2CFE1F-B5FC-4AEC-A601-2AA2F0552D27}"/>
    <dgm:cxn modelId="{A451986B-C3C9-4363-9251-45BE4BADE11A}" type="presOf" srcId="{917AE794-76BB-4C83-A5C9-88B32A5016FE}" destId="{1222CD59-96E9-4B4C-BCFE-B566633DB5E1}" srcOrd="0" destOrd="2" presId="urn:microsoft.com/office/officeart/2005/8/layout/vList2"/>
    <dgm:cxn modelId="{76088D4D-3E0E-4FA7-9E82-FA4A91CFF028}" srcId="{C97B9D7E-4D17-45C9-8F82-880D814EED73}" destId="{1465125D-A3F6-4B60-8542-04DEAE3B7449}" srcOrd="1" destOrd="0" parTransId="{A25BF204-A5FF-4EA5-AFE5-169D781F0D92}" sibTransId="{B32455E0-2897-4A66-8F23-F298CBA2FD3D}"/>
    <dgm:cxn modelId="{29E7A870-EC20-4C02-8EC0-46E5AB237695}" srcId="{5C23791B-6FCE-4A79-9E98-52352CF03B6A}" destId="{1CC6A406-B973-4558-AD60-423891E86620}" srcOrd="3" destOrd="0" parTransId="{09A62C28-1723-458D-9DAC-33EA18FD74D9}" sibTransId="{FA7478E6-AC72-4EB0-9557-71310D073624}"/>
    <dgm:cxn modelId="{119C3584-5810-4857-B78A-8E6ACB6FE531}" srcId="{C97B9D7E-4D17-45C9-8F82-880D814EED73}" destId="{917AE794-76BB-4C83-A5C9-88B32A5016FE}" srcOrd="2" destOrd="0" parTransId="{A84769D0-AD2F-4996-8F34-B363621F5FA4}" sibTransId="{B3C1D69F-D332-4B0E-A1F5-A2D25692B2BB}"/>
    <dgm:cxn modelId="{5D428EA3-FCFA-4F60-B2EC-AE73637EEF7D}" type="presOf" srcId="{1465125D-A3F6-4B60-8542-04DEAE3B7449}" destId="{1222CD59-96E9-4B4C-BCFE-B566633DB5E1}" srcOrd="0" destOrd="1" presId="urn:microsoft.com/office/officeart/2005/8/layout/vList2"/>
    <dgm:cxn modelId="{C58981B1-BED9-4F4F-95EF-A9E556FC877E}" srcId="{5C23791B-6FCE-4A79-9E98-52352CF03B6A}" destId="{C97B9D7E-4D17-45C9-8F82-880D814EED73}" srcOrd="1" destOrd="0" parTransId="{48AC674B-6697-4A81-86F0-36A5F20B75FD}" sibTransId="{2F2C37A4-756E-402B-92F9-7AAF1DAA18C2}"/>
    <dgm:cxn modelId="{02D599B2-4A63-49BB-B9E2-15298B5CE459}" type="presOf" srcId="{A3A22D57-3E6B-478B-8DF3-041984FB2C93}" destId="{1222CD59-96E9-4B4C-BCFE-B566633DB5E1}" srcOrd="0" destOrd="0" presId="urn:microsoft.com/office/officeart/2005/8/layout/vList2"/>
    <dgm:cxn modelId="{5EC1CCB4-A773-42EB-9E65-E98021A782BB}" type="presOf" srcId="{FE8AD3B2-D23A-4033-AF75-5E5BCEE30821}" destId="{98A0744A-D98E-4D05-92E7-0EB8E0631439}" srcOrd="0" destOrd="0" presId="urn:microsoft.com/office/officeart/2005/8/layout/vList2"/>
    <dgm:cxn modelId="{5E7C72B8-78CA-49E3-857A-1615075C130E}" type="presOf" srcId="{5C23791B-6FCE-4A79-9E98-52352CF03B6A}" destId="{F29C7AA9-EF7D-4A2F-BA36-6063649FD6A4}" srcOrd="0" destOrd="0" presId="urn:microsoft.com/office/officeart/2005/8/layout/vList2"/>
    <dgm:cxn modelId="{A3E706C6-94DD-48C0-A98C-2967BC698058}" type="presParOf" srcId="{F29C7AA9-EF7D-4A2F-BA36-6063649FD6A4}" destId="{98A0744A-D98E-4D05-92E7-0EB8E0631439}" srcOrd="0" destOrd="0" presId="urn:microsoft.com/office/officeart/2005/8/layout/vList2"/>
    <dgm:cxn modelId="{398E2F00-4222-45E1-A514-2F32693C44D2}" type="presParOf" srcId="{F29C7AA9-EF7D-4A2F-BA36-6063649FD6A4}" destId="{F2670F6F-C341-44A2-BE5A-8F20802015F8}" srcOrd="1" destOrd="0" presId="urn:microsoft.com/office/officeart/2005/8/layout/vList2"/>
    <dgm:cxn modelId="{0AE34FE9-FF41-4C67-854C-3774AF46C1AD}" type="presParOf" srcId="{F29C7AA9-EF7D-4A2F-BA36-6063649FD6A4}" destId="{6E53022B-0565-49B6-A919-11FF54422726}" srcOrd="2" destOrd="0" presId="urn:microsoft.com/office/officeart/2005/8/layout/vList2"/>
    <dgm:cxn modelId="{812657BD-659B-4E8A-AA18-BCFDB3917EAA}" type="presParOf" srcId="{F29C7AA9-EF7D-4A2F-BA36-6063649FD6A4}" destId="{1222CD59-96E9-4B4C-BCFE-B566633DB5E1}" srcOrd="3" destOrd="0" presId="urn:microsoft.com/office/officeart/2005/8/layout/vList2"/>
    <dgm:cxn modelId="{3020C4A5-C457-4CFC-A166-C14173AE89BD}" type="presParOf" srcId="{F29C7AA9-EF7D-4A2F-BA36-6063649FD6A4}" destId="{7DE91CAF-36A2-495F-AABD-0803CE079DEC}" srcOrd="4" destOrd="0" presId="urn:microsoft.com/office/officeart/2005/8/layout/vList2"/>
    <dgm:cxn modelId="{B1064130-FB9D-4B88-892E-453806366D3A}" type="presParOf" srcId="{F29C7AA9-EF7D-4A2F-BA36-6063649FD6A4}" destId="{2F733345-636F-4C7D-ADB2-2E0485B2DEAC}" srcOrd="5" destOrd="0" presId="urn:microsoft.com/office/officeart/2005/8/layout/vList2"/>
    <dgm:cxn modelId="{89DD24C5-F81E-4741-8485-9B30A2EBF811}" type="presParOf" srcId="{F29C7AA9-EF7D-4A2F-BA36-6063649FD6A4}" destId="{58914D7F-C396-4BE2-A443-2627AB303E40}" srcOrd="6"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32848E-CD5D-41B4-B6F7-21F5C746F575}">
      <dsp:nvSpPr>
        <dsp:cNvPr id="0" name=""/>
        <dsp:cNvSpPr/>
      </dsp:nvSpPr>
      <dsp:spPr>
        <a:xfrm>
          <a:off x="0" y="1124492"/>
          <a:ext cx="11592400" cy="4158000"/>
        </a:xfrm>
        <a:prstGeom prst="rect">
          <a:avLst/>
        </a:prstGeom>
        <a:solidFill>
          <a:schemeClr val="lt1">
            <a:alpha val="90000"/>
            <a:hueOff val="0"/>
            <a:satOff val="0"/>
            <a:lumOff val="0"/>
            <a:alphaOff val="0"/>
          </a:schemeClr>
        </a:solidFill>
        <a:ln w="1079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99699" tIns="833120" rIns="899699" bIns="284480" numCol="1" spcCol="1270" anchor="t" anchorCtr="0">
          <a:noAutofit/>
        </a:bodyPr>
        <a:lstStyle/>
        <a:p>
          <a:pPr marL="285750" lvl="1" indent="-285750" algn="l" defTabSz="1778000">
            <a:lnSpc>
              <a:spcPct val="90000"/>
            </a:lnSpc>
            <a:spcBef>
              <a:spcPct val="0"/>
            </a:spcBef>
            <a:spcAft>
              <a:spcPct val="15000"/>
            </a:spcAft>
            <a:buChar char="•"/>
          </a:pPr>
          <a:r>
            <a:rPr lang="en-US" sz="4000" kern="1200"/>
            <a:t>Easy difficulty with slower reaction</a:t>
          </a:r>
        </a:p>
        <a:p>
          <a:pPr marL="285750" lvl="1" indent="-285750" algn="l" defTabSz="1778000">
            <a:lnSpc>
              <a:spcPct val="90000"/>
            </a:lnSpc>
            <a:spcBef>
              <a:spcPct val="0"/>
            </a:spcBef>
            <a:spcAft>
              <a:spcPct val="15000"/>
            </a:spcAft>
            <a:buChar char="•"/>
          </a:pPr>
          <a:r>
            <a:rPr lang="en-US" sz="4000" kern="1200"/>
            <a:t>Medium difficulty with average behavior</a:t>
          </a:r>
        </a:p>
        <a:p>
          <a:pPr marL="285750" lvl="1" indent="-285750" algn="l" defTabSz="1778000">
            <a:lnSpc>
              <a:spcPct val="90000"/>
            </a:lnSpc>
            <a:spcBef>
              <a:spcPct val="0"/>
            </a:spcBef>
            <a:spcAft>
              <a:spcPct val="15000"/>
            </a:spcAft>
            <a:buChar char="•"/>
          </a:pPr>
          <a:r>
            <a:rPr lang="en-US" sz="4000" kern="1200"/>
            <a:t>Hard difficulty with machine learning to implement reward and penalty system to guide AI learning</a:t>
          </a:r>
        </a:p>
      </dsp:txBody>
      <dsp:txXfrm>
        <a:off x="0" y="1124492"/>
        <a:ext cx="11592400" cy="4158000"/>
      </dsp:txXfrm>
    </dsp:sp>
    <dsp:sp modelId="{A40750E0-F1B6-48C7-83E1-6D6A05BAFD1D}">
      <dsp:nvSpPr>
        <dsp:cNvPr id="0" name=""/>
        <dsp:cNvSpPr/>
      </dsp:nvSpPr>
      <dsp:spPr>
        <a:xfrm>
          <a:off x="579620" y="534092"/>
          <a:ext cx="8114680" cy="118080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716" tIns="0" rIns="306716" bIns="0" numCol="1" spcCol="1270" anchor="ctr" anchorCtr="0">
          <a:noAutofit/>
        </a:bodyPr>
        <a:lstStyle/>
        <a:p>
          <a:pPr marL="0" lvl="0" indent="0" algn="l" defTabSz="1778000">
            <a:lnSpc>
              <a:spcPct val="90000"/>
            </a:lnSpc>
            <a:spcBef>
              <a:spcPct val="0"/>
            </a:spcBef>
            <a:spcAft>
              <a:spcPct val="35000"/>
            </a:spcAft>
            <a:buNone/>
          </a:pPr>
          <a:r>
            <a:rPr lang="en-US" sz="4000" kern="1200"/>
            <a:t>Three AI difficulty levels introduced</a:t>
          </a:r>
        </a:p>
      </dsp:txBody>
      <dsp:txXfrm>
        <a:off x="637262" y="591734"/>
        <a:ext cx="7999396" cy="1065516"/>
      </dsp:txXfrm>
    </dsp:sp>
    <dsp:sp modelId="{78186F11-9F4C-4FC8-B03C-841E09D9E67F}">
      <dsp:nvSpPr>
        <dsp:cNvPr id="0" name=""/>
        <dsp:cNvSpPr/>
      </dsp:nvSpPr>
      <dsp:spPr>
        <a:xfrm>
          <a:off x="0" y="6088893"/>
          <a:ext cx="11592400" cy="1008000"/>
        </a:xfrm>
        <a:prstGeom prst="rect">
          <a:avLst/>
        </a:prstGeom>
        <a:solidFill>
          <a:schemeClr val="lt1">
            <a:alpha val="90000"/>
            <a:hueOff val="0"/>
            <a:satOff val="0"/>
            <a:lumOff val="0"/>
            <a:alphaOff val="0"/>
          </a:schemeClr>
        </a:solidFill>
        <a:ln w="10795" cap="flat" cmpd="sng" algn="ctr">
          <a:solidFill>
            <a:schemeClr val="accent2">
              <a:hueOff val="1954454"/>
              <a:satOff val="-31534"/>
              <a:lumOff val="-5490"/>
              <a:alphaOff val="0"/>
            </a:schemeClr>
          </a:solidFill>
          <a:prstDash val="solid"/>
        </a:ln>
        <a:effectLst/>
      </dsp:spPr>
      <dsp:style>
        <a:lnRef idx="2">
          <a:scrgbClr r="0" g="0" b="0"/>
        </a:lnRef>
        <a:fillRef idx="1">
          <a:scrgbClr r="0" g="0" b="0"/>
        </a:fillRef>
        <a:effectRef idx="0">
          <a:scrgbClr r="0" g="0" b="0"/>
        </a:effectRef>
        <a:fontRef idx="minor"/>
      </dsp:style>
    </dsp:sp>
    <dsp:sp modelId="{3399E9C0-EA04-4D96-9EB8-3640228C14DD}">
      <dsp:nvSpPr>
        <dsp:cNvPr id="0" name=""/>
        <dsp:cNvSpPr/>
      </dsp:nvSpPr>
      <dsp:spPr>
        <a:xfrm>
          <a:off x="579620" y="5498493"/>
          <a:ext cx="8114680" cy="1180800"/>
        </a:xfrm>
        <a:prstGeom prst="roundRect">
          <a:avLst/>
        </a:prstGeom>
        <a:solidFill>
          <a:schemeClr val="accent2">
            <a:hueOff val="1954454"/>
            <a:satOff val="-31534"/>
            <a:lumOff val="-549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6716" tIns="0" rIns="306716" bIns="0" numCol="1" spcCol="1270" anchor="ctr" anchorCtr="0">
          <a:noAutofit/>
        </a:bodyPr>
        <a:lstStyle/>
        <a:p>
          <a:pPr marL="0" lvl="0" indent="0" algn="l" defTabSz="1778000">
            <a:lnSpc>
              <a:spcPct val="90000"/>
            </a:lnSpc>
            <a:spcBef>
              <a:spcPct val="0"/>
            </a:spcBef>
            <a:spcAft>
              <a:spcPct val="35000"/>
            </a:spcAft>
            <a:buNone/>
          </a:pPr>
          <a:r>
            <a:rPr lang="en-US" sz="4000" kern="1200"/>
            <a:t>Bug testing and resolution</a:t>
          </a:r>
        </a:p>
      </dsp:txBody>
      <dsp:txXfrm>
        <a:off x="637262" y="5556135"/>
        <a:ext cx="7999396" cy="10655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A0744A-D98E-4D05-92E7-0EB8E0631439}">
      <dsp:nvSpPr>
        <dsp:cNvPr id="0" name=""/>
        <dsp:cNvSpPr/>
      </dsp:nvSpPr>
      <dsp:spPr>
        <a:xfrm>
          <a:off x="0" y="50447"/>
          <a:ext cx="10766830" cy="111384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2D-fighting game focusing primarily on AI opponents and improving your general fighting game skills. </a:t>
          </a:r>
        </a:p>
      </dsp:txBody>
      <dsp:txXfrm>
        <a:off x="54373" y="104820"/>
        <a:ext cx="10658084" cy="1005094"/>
      </dsp:txXfrm>
    </dsp:sp>
    <dsp:sp modelId="{6E53022B-0565-49B6-A919-11FF54422726}">
      <dsp:nvSpPr>
        <dsp:cNvPr id="0" name=""/>
        <dsp:cNvSpPr/>
      </dsp:nvSpPr>
      <dsp:spPr>
        <a:xfrm>
          <a:off x="0" y="1244927"/>
          <a:ext cx="10766830" cy="111384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AI will scale appropriately based on selected skill level</a:t>
          </a:r>
        </a:p>
      </dsp:txBody>
      <dsp:txXfrm>
        <a:off x="54373" y="1299300"/>
        <a:ext cx="10658084" cy="1005094"/>
      </dsp:txXfrm>
    </dsp:sp>
    <dsp:sp modelId="{1222CD59-96E9-4B4C-BCFE-B566633DB5E1}">
      <dsp:nvSpPr>
        <dsp:cNvPr id="0" name=""/>
        <dsp:cNvSpPr/>
      </dsp:nvSpPr>
      <dsp:spPr>
        <a:xfrm>
          <a:off x="0" y="2358767"/>
          <a:ext cx="10766830" cy="11302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1847"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Easy : Mostly random or suboptimal moves</a:t>
          </a:r>
        </a:p>
        <a:p>
          <a:pPr marL="228600" lvl="1" indent="-228600" algn="l" defTabSz="977900">
            <a:lnSpc>
              <a:spcPct val="90000"/>
            </a:lnSpc>
            <a:spcBef>
              <a:spcPct val="0"/>
            </a:spcBef>
            <a:spcAft>
              <a:spcPct val="20000"/>
            </a:spcAft>
            <a:buChar char="•"/>
          </a:pPr>
          <a:r>
            <a:rPr lang="en-US" sz="2200" kern="1200"/>
            <a:t>Medium : Basic strategy with a little randomness</a:t>
          </a:r>
        </a:p>
        <a:p>
          <a:pPr marL="228600" lvl="1" indent="-228600" algn="l" defTabSz="977900">
            <a:lnSpc>
              <a:spcPct val="90000"/>
            </a:lnSpc>
            <a:spcBef>
              <a:spcPct val="0"/>
            </a:spcBef>
            <a:spcAft>
              <a:spcPct val="20000"/>
            </a:spcAft>
            <a:buChar char="•"/>
          </a:pPr>
          <a:r>
            <a:rPr lang="en-US" sz="2200" kern="1200"/>
            <a:t>Hard : Uses machine learning to adapt and respond</a:t>
          </a:r>
        </a:p>
      </dsp:txBody>
      <dsp:txXfrm>
        <a:off x="0" y="2358767"/>
        <a:ext cx="10766830" cy="1130220"/>
      </dsp:txXfrm>
    </dsp:sp>
    <dsp:sp modelId="{7DE91CAF-36A2-495F-AABD-0803CE079DEC}">
      <dsp:nvSpPr>
        <dsp:cNvPr id="0" name=""/>
        <dsp:cNvSpPr/>
      </dsp:nvSpPr>
      <dsp:spPr>
        <a:xfrm>
          <a:off x="0" y="3488987"/>
          <a:ext cx="10766830" cy="111384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Provide user-friendly interface for user entry</a:t>
          </a:r>
        </a:p>
      </dsp:txBody>
      <dsp:txXfrm>
        <a:off x="54373" y="3543360"/>
        <a:ext cx="10658084" cy="1005094"/>
      </dsp:txXfrm>
    </dsp:sp>
    <dsp:sp modelId="{58914D7F-C396-4BE2-A443-2627AB303E40}">
      <dsp:nvSpPr>
        <dsp:cNvPr id="0" name=""/>
        <dsp:cNvSpPr/>
      </dsp:nvSpPr>
      <dsp:spPr>
        <a:xfrm>
          <a:off x="0" y="4683467"/>
          <a:ext cx="10766830" cy="1113840"/>
        </a:xfrm>
        <a:prstGeom prst="roundRect">
          <a:avLst/>
        </a:prstGeom>
        <a:solidFill>
          <a:schemeClr val="accent1">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Tally up and output results of game</a:t>
          </a:r>
        </a:p>
      </dsp:txBody>
      <dsp:txXfrm>
        <a:off x="54373" y="4737840"/>
        <a:ext cx="10658084" cy="100509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1142999"/>
            <a:ext cx="13712429" cy="8001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905395" y="1142999"/>
            <a:ext cx="4387977" cy="800100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604772" y="1947672"/>
            <a:ext cx="10972800" cy="4882896"/>
          </a:xfrm>
        </p:spPr>
        <p:txBody>
          <a:bodyPr anchor="b">
            <a:normAutofit/>
          </a:bodyPr>
          <a:lstStyle>
            <a:lvl1pPr algn="l">
              <a:defRPr sz="10489" spc="-178"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650023" y="7005369"/>
            <a:ext cx="10972800" cy="1371600"/>
          </a:xfrm>
        </p:spPr>
        <p:txBody>
          <a:bodyPr anchor="t">
            <a:normAutofit/>
          </a:bodyPr>
          <a:lstStyle>
            <a:lvl1pPr marL="0" indent="0" algn="l">
              <a:buNone/>
              <a:defRPr sz="3911" cap="none" spc="0" baseline="0">
                <a:solidFill>
                  <a:schemeClr val="accent1">
                    <a:lumMod val="20000"/>
                    <a:lumOff val="80000"/>
                  </a:schemeClr>
                </a:solidFill>
              </a:defRPr>
            </a:lvl1pPr>
            <a:lvl2pPr marL="812810" indent="0" algn="ctr">
              <a:buNone/>
              <a:defRPr sz="3911"/>
            </a:lvl2pPr>
            <a:lvl3pPr marL="1625620" indent="0" algn="ctr">
              <a:buNone/>
              <a:defRPr sz="3911"/>
            </a:lvl3pPr>
            <a:lvl4pPr marL="2438430" indent="0" algn="ctr">
              <a:buNone/>
              <a:defRPr sz="3556"/>
            </a:lvl4pPr>
            <a:lvl5pPr marL="3251241" indent="0" algn="ctr">
              <a:buNone/>
              <a:defRPr sz="3556"/>
            </a:lvl5pPr>
            <a:lvl6pPr marL="4064051" indent="0" algn="ctr">
              <a:buNone/>
              <a:defRPr sz="3556"/>
            </a:lvl6pPr>
            <a:lvl7pPr marL="4876861" indent="0" algn="ctr">
              <a:buNone/>
              <a:defRPr sz="3556"/>
            </a:lvl7pPr>
            <a:lvl8pPr marL="5689671" indent="0" algn="ctr">
              <a:buNone/>
              <a:defRPr sz="3556"/>
            </a:lvl8pPr>
            <a:lvl9pPr marL="6502481" indent="0" algn="ctr">
              <a:buNone/>
              <a:defRPr sz="3556"/>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901606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dirty="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5883687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801868" y="1947672"/>
            <a:ext cx="10972800" cy="4882896"/>
          </a:xfrm>
        </p:spPr>
        <p:txBody>
          <a:bodyPr anchor="b">
            <a:normAutofit/>
          </a:bodyPr>
          <a:lstStyle>
            <a:lvl1pPr>
              <a:defRPr sz="10489" b="0" spc="-178" baseline="0">
                <a:solidFill>
                  <a:schemeClr val="tx1">
                    <a:lumMod val="65000"/>
                    <a:lumOff val="35000"/>
                  </a:schemeClr>
                </a:solidFill>
              </a:defRPr>
            </a:lvl1pPr>
          </a:lstStyle>
          <a:p>
            <a:r>
              <a:rPr lang="en-US"/>
              <a:t>Click to edit Master title style</a:t>
            </a:r>
          </a:p>
        </p:txBody>
      </p:sp>
      <p:sp>
        <p:nvSpPr>
          <p:cNvPr id="3" name="Text Placeholder 2"/>
          <p:cNvSpPr>
            <a:spLocks noGrp="1"/>
          </p:cNvSpPr>
          <p:nvPr>
            <p:ph type="body" idx="1"/>
          </p:nvPr>
        </p:nvSpPr>
        <p:spPr>
          <a:xfrm>
            <a:off x="5829300" y="7008876"/>
            <a:ext cx="10972800" cy="1371600"/>
          </a:xfrm>
        </p:spPr>
        <p:txBody>
          <a:bodyPr anchor="t">
            <a:normAutofit/>
          </a:bodyPr>
          <a:lstStyle>
            <a:lvl1pPr marL="0" indent="0">
              <a:buNone/>
              <a:defRPr sz="3911" cap="none" spc="0" baseline="0">
                <a:solidFill>
                  <a:schemeClr val="tx1">
                    <a:lumMod val="65000"/>
                    <a:lumOff val="3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5806617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801868" y="1303020"/>
            <a:ext cx="521208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1727180" y="1303020"/>
            <a:ext cx="521208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fld id="{5586B75A-687E-405C-8A0B-8D00578BA2C3}" type="datetimeFigureOut">
              <a:rPr lang="en-US" dirty="0"/>
              <a:pPr/>
              <a:t>5/9/2026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12398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5801868" y="1535379"/>
            <a:ext cx="5212080" cy="1211580"/>
          </a:xfrm>
        </p:spPr>
        <p:txBody>
          <a:bodyPr anchor="b">
            <a:normAutofit/>
          </a:bodyPr>
          <a:lstStyle>
            <a:lvl1pPr marL="0" indent="0">
              <a:spcBef>
                <a:spcPts val="0"/>
              </a:spcBef>
              <a:buNone/>
              <a:defRPr sz="3556" b="1">
                <a:solidFill>
                  <a:schemeClr val="tx1">
                    <a:lumMod val="65000"/>
                    <a:lumOff val="35000"/>
                  </a:schemeClr>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p:cNvSpPr>
            <a:spLocks noGrp="1"/>
          </p:cNvSpPr>
          <p:nvPr>
            <p:ph sz="half" idx="2"/>
          </p:nvPr>
        </p:nvSpPr>
        <p:spPr>
          <a:xfrm>
            <a:off x="5801868" y="2896404"/>
            <a:ext cx="5212080" cy="603504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1727695" y="1535380"/>
            <a:ext cx="5212080" cy="1219757"/>
          </a:xfrm>
        </p:spPr>
        <p:txBody>
          <a:bodyPr anchor="b">
            <a:normAutofit/>
          </a:bodyPr>
          <a:lstStyle>
            <a:lvl1pPr marL="0" indent="0">
              <a:spcBef>
                <a:spcPts val="0"/>
              </a:spcBef>
              <a:buNone/>
              <a:defRPr sz="3556" b="1">
                <a:solidFill>
                  <a:schemeClr val="tx1">
                    <a:lumMod val="65000"/>
                    <a:lumOff val="35000"/>
                  </a:schemeClr>
                </a:solidFill>
              </a:defRPr>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p:cNvSpPr>
            <a:spLocks noGrp="1"/>
          </p:cNvSpPr>
          <p:nvPr>
            <p:ph sz="quarter" idx="4"/>
          </p:nvPr>
        </p:nvSpPr>
        <p:spPr>
          <a:xfrm>
            <a:off x="11727695" y="2896404"/>
            <a:ext cx="5212080" cy="603504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0"/>
          </p:nvPr>
        </p:nvSpPr>
        <p:spPr/>
        <p:txBody>
          <a:bodyPr/>
          <a:lstStyle/>
          <a:p>
            <a:fld id="{5586B75A-687E-405C-8A0B-8D00578BA2C3}" type="datetimeFigureOut">
              <a:rPr lang="en-US" dirty="0"/>
              <a:pPr/>
              <a:t>5/9/2026</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849470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2" name="Date Placeholder 1"/>
          <p:cNvSpPr>
            <a:spLocks noGrp="1"/>
          </p:cNvSpPr>
          <p:nvPr>
            <p:ph type="dt" sz="half" idx="10"/>
          </p:nvPr>
        </p:nvSpPr>
        <p:spPr/>
        <p:txBody>
          <a:bodyPr/>
          <a:lstStyle/>
          <a:p>
            <a:fld id="{5586B75A-687E-405C-8A0B-8D00578BA2C3}" type="datetimeFigureOut">
              <a:rPr lang="en-US" dirty="0"/>
              <a:pPr/>
              <a:t>5/9/2026</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60765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1595385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4048" y="1714500"/>
            <a:ext cx="4251960" cy="3566160"/>
          </a:xfrm>
        </p:spPr>
        <p:txBody>
          <a:bodyPr anchor="b">
            <a:normAutofit/>
          </a:bodyPr>
          <a:lstStyle>
            <a:lvl1pPr>
              <a:defRPr sz="5689" b="0" baseline="0"/>
            </a:lvl1pPr>
          </a:lstStyle>
          <a:p>
            <a:r>
              <a:rPr lang="en-US"/>
              <a:t>Click to edit Master title style</a:t>
            </a:r>
          </a:p>
        </p:txBody>
      </p:sp>
      <p:sp>
        <p:nvSpPr>
          <p:cNvPr id="3" name="Content Placeholder 2"/>
          <p:cNvSpPr>
            <a:spLocks noGrp="1"/>
          </p:cNvSpPr>
          <p:nvPr>
            <p:ph idx="1"/>
          </p:nvPr>
        </p:nvSpPr>
        <p:spPr>
          <a:xfrm>
            <a:off x="5801868" y="1303020"/>
            <a:ext cx="10972800" cy="7680960"/>
          </a:xfrm>
        </p:spPr>
        <p:txBody>
          <a:bodyPr/>
          <a:lstStyle>
            <a:lvl1pPr>
              <a:defRPr sz="3556"/>
            </a:lvl1pPr>
            <a:lvl2pPr>
              <a:defRPr sz="3200"/>
            </a:lvl2pPr>
            <a:lvl3pPr>
              <a:defRPr sz="2844"/>
            </a:lvl3pPr>
            <a:lvl4pPr>
              <a:defRPr sz="2489"/>
            </a:lvl4pPr>
            <a:lvl5pPr>
              <a:defRPr sz="2489"/>
            </a:lvl5pPr>
            <a:lvl6pPr>
              <a:defRPr sz="2489"/>
            </a:lvl6pPr>
            <a:lvl7pPr>
              <a:defRPr sz="2489"/>
            </a:lvl7pPr>
            <a:lvl8pPr>
              <a:defRPr sz="2489"/>
            </a:lvl8pPr>
            <a:lvl9pPr>
              <a:defRPr sz="248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4048" y="5241264"/>
            <a:ext cx="4251960" cy="3482985"/>
          </a:xfrm>
        </p:spPr>
        <p:txBody>
          <a:bodyPr anchor="t">
            <a:normAutofit/>
          </a:bodyPr>
          <a:lstStyle>
            <a:lvl1pPr marL="0" indent="0">
              <a:lnSpc>
                <a:spcPct val="100000"/>
              </a:lnSpc>
              <a:buNone/>
              <a:defRPr sz="2489">
                <a:solidFill>
                  <a:srgbClr val="FFFFFF"/>
                </a:solidFill>
              </a:defRPr>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5/9/2026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486603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4048" y="1714500"/>
            <a:ext cx="4251960" cy="3566160"/>
          </a:xfrm>
        </p:spPr>
        <p:txBody>
          <a:bodyPr anchor="b">
            <a:normAutofit/>
          </a:bodyPr>
          <a:lstStyle>
            <a:lvl1pPr>
              <a:defRPr sz="5689" b="0"/>
            </a:lvl1pPr>
          </a:lstStyle>
          <a:p>
            <a:r>
              <a:rPr lang="en-US"/>
              <a:t>Click to edit Master title style</a:t>
            </a:r>
          </a:p>
        </p:txBody>
      </p:sp>
      <p:sp>
        <p:nvSpPr>
          <p:cNvPr id="3" name="Picture Placeholder 2"/>
          <p:cNvSpPr>
            <a:spLocks noGrp="1" noChangeAspect="1"/>
          </p:cNvSpPr>
          <p:nvPr>
            <p:ph type="pic" idx="1"/>
          </p:nvPr>
        </p:nvSpPr>
        <p:spPr>
          <a:xfrm>
            <a:off x="5355966" y="1151129"/>
            <a:ext cx="12172845" cy="7996428"/>
          </a:xfrm>
          <a:solidFill>
            <a:schemeClr val="bg1">
              <a:lumMod val="75000"/>
            </a:schemeClr>
          </a:solidFill>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lang="en-US"/>
          </a:p>
        </p:txBody>
      </p:sp>
      <p:sp>
        <p:nvSpPr>
          <p:cNvPr id="4" name="Text Placeholder 3"/>
          <p:cNvSpPr>
            <a:spLocks noGrp="1"/>
          </p:cNvSpPr>
          <p:nvPr>
            <p:ph type="body" sz="half" idx="2"/>
          </p:nvPr>
        </p:nvSpPr>
        <p:spPr>
          <a:xfrm>
            <a:off x="384048" y="5239512"/>
            <a:ext cx="4251960" cy="3483864"/>
          </a:xfrm>
        </p:spPr>
        <p:txBody>
          <a:bodyPr anchor="t">
            <a:normAutofit/>
          </a:bodyPr>
          <a:lstStyle>
            <a:lvl1pPr marL="0" indent="0">
              <a:lnSpc>
                <a:spcPct val="100000"/>
              </a:lnSpc>
              <a:buNone/>
              <a:defRPr sz="2489">
                <a:solidFill>
                  <a:srgbClr val="FFFFFF"/>
                </a:solidFill>
              </a:defRPr>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5/9/2026</a:t>
            </a:fld>
            <a:endParaRPr lang="en-US"/>
          </a:p>
        </p:txBody>
      </p:sp>
      <p:sp>
        <p:nvSpPr>
          <p:cNvPr id="9" name="Footer Placeholder 8"/>
          <p:cNvSpPr>
            <a:spLocks noGrp="1"/>
          </p:cNvSpPr>
          <p:nvPr>
            <p:ph type="ftr" sz="quarter" idx="11"/>
          </p:nvPr>
        </p:nvSpPr>
        <p:spPr>
          <a:xfrm>
            <a:off x="5248652" y="9534526"/>
            <a:ext cx="8867276" cy="547688"/>
          </a:xfrm>
        </p:spPr>
        <p:txBody>
          <a:bodyPr/>
          <a:lstStyle/>
          <a:p>
            <a:endParaRPr lang="en-US"/>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951346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019995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71500" y="1485900"/>
            <a:ext cx="4229100" cy="74295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801868" y="1303020"/>
            <a:ext cx="10972800" cy="768096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86B75A-687E-405C-8A0B-8D00578BA2C3}" type="datetimeFigureOut">
              <a:rPr lang="en-US" dirty="0"/>
              <a:pPr/>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220363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 y="1138428"/>
            <a:ext cx="5165385" cy="7996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379379" y="1685756"/>
            <a:ext cx="4421223" cy="6901775"/>
          </a:xfrm>
          <a:prstGeom prst="rect">
            <a:avLst/>
          </a:prstGeom>
        </p:spPr>
        <p:txBody>
          <a:bodyPr vert="horz" lIns="91440" tIns="45720" rIns="91440" bIns="45720" rtlCol="0" anchor="ctr">
            <a:normAutofit/>
          </a:bodyPr>
          <a:lstStyle/>
          <a:p>
            <a:r>
              <a:rPr lang="en-US"/>
              <a:t>Click to edit Master title style</a:t>
            </a:r>
          </a:p>
        </p:txBody>
      </p:sp>
      <p:sp>
        <p:nvSpPr>
          <p:cNvPr id="38" name="Rectangle 37"/>
          <p:cNvSpPr/>
          <p:nvPr/>
        </p:nvSpPr>
        <p:spPr>
          <a:xfrm>
            <a:off x="17723796" y="1138428"/>
            <a:ext cx="576072" cy="799642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5803902" y="1296162"/>
            <a:ext cx="10972800" cy="768096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93698" y="9534526"/>
            <a:ext cx="4114800" cy="547688"/>
          </a:xfrm>
          <a:prstGeom prst="rect">
            <a:avLst/>
          </a:prstGeom>
        </p:spPr>
        <p:txBody>
          <a:bodyPr vert="horz" lIns="91440" tIns="45720" rIns="91440" bIns="45720" rtlCol="0" anchor="ctr"/>
          <a:lstStyle>
            <a:lvl1pPr algn="l">
              <a:defRPr sz="1956">
                <a:solidFill>
                  <a:schemeClr val="tx1">
                    <a:lumMod val="50000"/>
                    <a:lumOff val="50000"/>
                  </a:schemeClr>
                </a:solidFill>
              </a:defRPr>
            </a:lvl1pPr>
          </a:lstStyle>
          <a:p>
            <a:fld id="{5586B75A-687E-405C-8A0B-8D00578BA2C3}" type="datetimeFigureOut">
              <a:rPr lang="en-US" dirty="0"/>
              <a:pPr/>
              <a:t>5/9/2026</a:t>
            </a:fld>
            <a:endParaRPr lang="en-US"/>
          </a:p>
        </p:txBody>
      </p:sp>
      <p:sp>
        <p:nvSpPr>
          <p:cNvPr id="5" name="Footer Placeholder 4"/>
          <p:cNvSpPr>
            <a:spLocks noGrp="1"/>
          </p:cNvSpPr>
          <p:nvPr>
            <p:ph type="ftr" sz="quarter" idx="3"/>
          </p:nvPr>
        </p:nvSpPr>
        <p:spPr>
          <a:xfrm>
            <a:off x="5803903" y="9534526"/>
            <a:ext cx="8867276" cy="547688"/>
          </a:xfrm>
          <a:prstGeom prst="rect">
            <a:avLst/>
          </a:prstGeom>
        </p:spPr>
        <p:txBody>
          <a:bodyPr vert="horz" lIns="91440" tIns="45720" rIns="91440" bIns="45720" rtlCol="0" anchor="ctr"/>
          <a:lstStyle>
            <a:lvl1pPr algn="l">
              <a:defRPr sz="1956">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5951203" y="9534526"/>
            <a:ext cx="2296391" cy="547688"/>
          </a:xfrm>
          <a:prstGeom prst="rect">
            <a:avLst/>
          </a:prstGeom>
        </p:spPr>
        <p:txBody>
          <a:bodyPr vert="horz" lIns="91440" tIns="45720" rIns="91440" bIns="45720" rtlCol="0" anchor="ctr"/>
          <a:lstStyle>
            <a:lvl1pPr algn="r">
              <a:defRPr sz="2133" b="1">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55127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0.png"/><Relationship Id="rId7" Type="http://schemas.openxmlformats.org/officeDocument/2006/relationships/diagramColors" Target="../diagrams/colors2.xm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microsoft.com/office/2018/10/relationships/comments" Target="../comments/modernComment_137_B3DA0F5D.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microsoft.com/office/2018/10/relationships/comments" Target="../comments/modernComment_10D_BE1FAFA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https://jhbrayman.itch.io/adaptive-arena" TargetMode="External"/><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hyperlink" Target="https://github.com/htmw/2026SA-%20QuestKeeper/wiki" TargetMode="Externa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8" name="Group 2">
            <a:extLst>
              <a:ext uri="{FF2B5EF4-FFF2-40B4-BE49-F238E27FC236}">
                <a16:creationId xmlns:a16="http://schemas.microsoft.com/office/drawing/2014/main" id="{46D749FA-1244-A2EC-3527-CE85392A3310}"/>
              </a:ext>
            </a:extLst>
          </p:cNvPr>
          <p:cNvGrpSpPr/>
          <p:nvPr/>
        </p:nvGrpSpPr>
        <p:grpSpPr>
          <a:xfrm>
            <a:off x="14389452" y="7404041"/>
            <a:ext cx="9561986" cy="8028675"/>
            <a:chOff x="-231428" y="-5786"/>
            <a:chExt cx="968028" cy="812800"/>
          </a:xfrm>
        </p:grpSpPr>
        <p:sp>
          <p:nvSpPr>
            <p:cNvPr id="15" name="Freeform 3">
              <a:extLst>
                <a:ext uri="{FF2B5EF4-FFF2-40B4-BE49-F238E27FC236}">
                  <a16:creationId xmlns:a16="http://schemas.microsoft.com/office/drawing/2014/main" id="{E6F14679-09D0-5A69-DFB8-9119813D40F7}"/>
                </a:ext>
              </a:extLst>
            </p:cNvPr>
            <p:cNvSpPr/>
            <p:nvPr/>
          </p:nvSpPr>
          <p:spPr>
            <a:xfrm>
              <a:off x="-231428" y="-5786"/>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16" name="TextBox 4">
              <a:extLst>
                <a:ext uri="{FF2B5EF4-FFF2-40B4-BE49-F238E27FC236}">
                  <a16:creationId xmlns:a16="http://schemas.microsoft.com/office/drawing/2014/main" id="{89093EA2-9522-1FA0-DA6B-2BB68D7B7E5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157767" y="6034445"/>
            <a:ext cx="8638620" cy="2020425"/>
          </a:xfrm>
          <a:prstGeom prst="rect">
            <a:avLst/>
          </a:prstGeom>
        </p:spPr>
        <p:txBody>
          <a:bodyPr wrap="square" lIns="0" tIns="0" rIns="0" bIns="0" rtlCol="0" anchor="t">
            <a:spAutoFit/>
          </a:bodyPr>
          <a:lstStyle/>
          <a:p>
            <a:pPr algn="ctr">
              <a:lnSpc>
                <a:spcPts val="17500"/>
              </a:lnSpc>
            </a:pPr>
            <a:r>
              <a:rPr lang="en-US" sz="9600" b="1">
                <a:solidFill>
                  <a:srgbClr val="627484"/>
                </a:solidFill>
                <a:latin typeface="Nirand Bold"/>
                <a:ea typeface="Nirand Bold"/>
                <a:cs typeface="Nirand Bold"/>
                <a:sym typeface="Nirand Bold"/>
              </a:rPr>
              <a:t>Sprint 3</a:t>
            </a:r>
            <a:endParaRPr lang="en-US" sz="9600"/>
          </a:p>
        </p:txBody>
      </p:sp>
      <p:grpSp>
        <p:nvGrpSpPr>
          <p:cNvPr id="7" name="Group 7"/>
          <p:cNvGrpSpPr/>
          <p:nvPr/>
        </p:nvGrpSpPr>
        <p:grpSpPr>
          <a:xfrm>
            <a:off x="16588155" y="-423511"/>
            <a:ext cx="3045748" cy="2770255"/>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0" name="AutoShape 10"/>
          <p:cNvSpPr/>
          <p:nvPr/>
        </p:nvSpPr>
        <p:spPr>
          <a:xfrm>
            <a:off x="-1700579" y="1028700"/>
            <a:ext cx="7733905" cy="0"/>
          </a:xfrm>
          <a:prstGeom prst="line">
            <a:avLst/>
          </a:prstGeom>
          <a:ln w="38100" cap="flat">
            <a:solidFill>
              <a:srgbClr val="2E3A44"/>
            </a:solidFill>
            <a:prstDash val="solid"/>
            <a:headEnd type="none" w="sm" len="sm"/>
            <a:tailEnd type="oval" w="lg" len="lg"/>
          </a:ln>
        </p:spPr>
        <p:txBody>
          <a:bodyPr/>
          <a:lstStyle/>
          <a:p>
            <a:endParaRPr lang="en-US"/>
          </a:p>
        </p:txBody>
      </p:sp>
      <p:sp>
        <p:nvSpPr>
          <p:cNvPr id="11" name="AutoShape 11"/>
          <p:cNvSpPr/>
          <p:nvPr/>
        </p:nvSpPr>
        <p:spPr>
          <a:xfrm>
            <a:off x="11230885" y="9258300"/>
            <a:ext cx="7770392" cy="0"/>
          </a:xfrm>
          <a:prstGeom prst="line">
            <a:avLst/>
          </a:prstGeom>
          <a:ln w="38100" cap="flat">
            <a:solidFill>
              <a:srgbClr val="2E3A44"/>
            </a:solidFill>
            <a:prstDash val="solid"/>
            <a:headEnd type="oval" w="lg" len="lg"/>
            <a:tailEnd type="none" w="sm" len="sm"/>
          </a:ln>
        </p:spPr>
        <p:txBody>
          <a:bodyPr/>
          <a:lstStyle/>
          <a:p>
            <a:endParaRPr lang="en-US"/>
          </a:p>
        </p:txBody>
      </p:sp>
      <p:grpSp>
        <p:nvGrpSpPr>
          <p:cNvPr id="12" name="Group 12"/>
          <p:cNvGrpSpPr/>
          <p:nvPr/>
        </p:nvGrpSpPr>
        <p:grpSpPr>
          <a:xfrm>
            <a:off x="15116811" y="-635977"/>
            <a:ext cx="1586288" cy="158628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3" name="TextBox 5">
            <a:extLst>
              <a:ext uri="{FF2B5EF4-FFF2-40B4-BE49-F238E27FC236}">
                <a16:creationId xmlns:a16="http://schemas.microsoft.com/office/drawing/2014/main" id="{B853E554-A2AE-8533-4602-BC5D8BBA9F33}"/>
              </a:ext>
            </a:extLst>
          </p:cNvPr>
          <p:cNvSpPr txBox="1"/>
          <p:nvPr/>
        </p:nvSpPr>
        <p:spPr>
          <a:xfrm>
            <a:off x="5157767" y="1659514"/>
            <a:ext cx="8638620" cy="4366516"/>
          </a:xfrm>
          <a:prstGeom prst="rect">
            <a:avLst/>
          </a:prstGeom>
        </p:spPr>
        <p:txBody>
          <a:bodyPr wrap="square" lIns="0" tIns="0" rIns="0" bIns="0" rtlCol="0" anchor="t">
            <a:spAutoFit/>
          </a:bodyPr>
          <a:lstStyle/>
          <a:p>
            <a:pPr algn="ctr">
              <a:lnSpc>
                <a:spcPts val="17500"/>
              </a:lnSpc>
            </a:pPr>
            <a:r>
              <a:rPr lang="en-US" sz="12500" b="1">
                <a:solidFill>
                  <a:srgbClr val="627484"/>
                </a:solidFill>
                <a:latin typeface="Nirand Bold"/>
                <a:cs typeface="Nirand Bold"/>
                <a:sym typeface="Nirand Bold"/>
              </a:rPr>
              <a:t>Adaptive Arena</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327946" y="7090348"/>
            <a:ext cx="2569421" cy="219248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5834183" y="8017466"/>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334507" y="-5303"/>
            <a:ext cx="8807832" cy="1276247"/>
          </a:xfrm>
          <a:prstGeom prst="rect">
            <a:avLst/>
          </a:prstGeom>
        </p:spPr>
        <p:txBody>
          <a:bodyPr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Meet The Team</a:t>
            </a:r>
            <a:endParaRPr lang="en-US"/>
          </a:p>
        </p:txBody>
      </p:sp>
      <p:sp>
        <p:nvSpPr>
          <p:cNvPr id="15" name="TextBox 15"/>
          <p:cNvSpPr txBox="1"/>
          <p:nvPr/>
        </p:nvSpPr>
        <p:spPr>
          <a:xfrm>
            <a:off x="7488378" y="4567353"/>
            <a:ext cx="3477832" cy="646331"/>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Shariah Allen</a:t>
            </a:r>
          </a:p>
        </p:txBody>
      </p:sp>
      <p:sp>
        <p:nvSpPr>
          <p:cNvPr id="18" name="TextBox 18"/>
          <p:cNvSpPr txBox="1"/>
          <p:nvPr/>
        </p:nvSpPr>
        <p:spPr>
          <a:xfrm>
            <a:off x="-146543" y="4561215"/>
            <a:ext cx="3937903" cy="661720"/>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Inna Ivashchenko</a:t>
            </a:r>
          </a:p>
        </p:txBody>
      </p:sp>
      <p:sp>
        <p:nvSpPr>
          <p:cNvPr id="21" name="TextBox 21"/>
          <p:cNvSpPr txBox="1"/>
          <p:nvPr/>
        </p:nvSpPr>
        <p:spPr>
          <a:xfrm>
            <a:off x="7154449" y="9050562"/>
            <a:ext cx="3937903" cy="646331"/>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Gabrielle Schwan</a:t>
            </a:r>
          </a:p>
        </p:txBody>
      </p:sp>
      <p:sp>
        <p:nvSpPr>
          <p:cNvPr id="24" name="TextBox 24"/>
          <p:cNvSpPr txBox="1"/>
          <p:nvPr/>
        </p:nvSpPr>
        <p:spPr>
          <a:xfrm>
            <a:off x="3627475" y="4555774"/>
            <a:ext cx="3937903" cy="661720"/>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Johnhenry Brayman</a:t>
            </a:r>
          </a:p>
        </p:txBody>
      </p:sp>
      <p:sp>
        <p:nvSpPr>
          <p:cNvPr id="43" name="TextBox 24">
            <a:extLst>
              <a:ext uri="{FF2B5EF4-FFF2-40B4-BE49-F238E27FC236}">
                <a16:creationId xmlns:a16="http://schemas.microsoft.com/office/drawing/2014/main" id="{43C53F06-94EA-8F13-7E20-020A2610D5AF}"/>
              </a:ext>
            </a:extLst>
          </p:cNvPr>
          <p:cNvSpPr txBox="1"/>
          <p:nvPr/>
        </p:nvSpPr>
        <p:spPr>
          <a:xfrm>
            <a:off x="3793799" y="8956613"/>
            <a:ext cx="2967055" cy="646331"/>
          </a:xfrm>
          <a:prstGeom prst="rect">
            <a:avLst/>
          </a:prstGeom>
        </p:spPr>
        <p:txBody>
          <a:bodyPr wrap="square" lIns="0" tIns="0" rIns="0" bIns="0" rtlCol="0" anchor="t">
            <a:spAutoFit/>
          </a:bodyPr>
          <a:lstStyle/>
          <a:p>
            <a:pPr algn="ctr">
              <a:lnSpc>
                <a:spcPts val="5599"/>
              </a:lnSpc>
            </a:pPr>
            <a:r>
              <a:rPr lang="en-US" sz="2800">
                <a:solidFill>
                  <a:srgbClr val="2E3A44"/>
                </a:solidFill>
                <a:latin typeface="Nunito"/>
                <a:ea typeface="Nunito"/>
                <a:cs typeface="Nunito"/>
                <a:sym typeface="Nunito"/>
              </a:rPr>
              <a:t>Anthony Piombino</a:t>
            </a:r>
          </a:p>
        </p:txBody>
      </p:sp>
      <p:sp>
        <p:nvSpPr>
          <p:cNvPr id="17" name="TextBox 24">
            <a:extLst>
              <a:ext uri="{FF2B5EF4-FFF2-40B4-BE49-F238E27FC236}">
                <a16:creationId xmlns:a16="http://schemas.microsoft.com/office/drawing/2014/main" id="{69228922-54D7-E72F-506B-7D0D1EF9C5AB}"/>
              </a:ext>
            </a:extLst>
          </p:cNvPr>
          <p:cNvSpPr txBox="1"/>
          <p:nvPr/>
        </p:nvSpPr>
        <p:spPr>
          <a:xfrm>
            <a:off x="3466117" y="9601380"/>
            <a:ext cx="3729055" cy="307777"/>
          </a:xfrm>
          <a:prstGeom prst="rect">
            <a:avLst/>
          </a:prstGeom>
        </p:spPr>
        <p:txBody>
          <a:bodyPr wrap="square" lIns="0" tIns="0" rIns="0" bIns="0" rtlCol="0" anchor="t">
            <a:spAutoFit/>
          </a:bodyPr>
          <a:lstStyle/>
          <a:p>
            <a:pPr algn="ctr"/>
            <a:r>
              <a:rPr lang="en-US" sz="2000">
                <a:solidFill>
                  <a:srgbClr val="2E3A44"/>
                </a:solidFill>
                <a:latin typeface="Nunito"/>
                <a:ea typeface="Nunito"/>
                <a:cs typeface="Nunito"/>
              </a:rPr>
              <a:t>Project Manager / QA Engineer</a:t>
            </a:r>
            <a:endParaRPr lang="en-US" sz="2000"/>
          </a:p>
        </p:txBody>
      </p:sp>
      <p:pic>
        <p:nvPicPr>
          <p:cNvPr id="19" name="Picture 18" descr="A person with long hair wearing glasses&#10;&#10;AI-generated content may be incorrect.">
            <a:extLst>
              <a:ext uri="{FF2B5EF4-FFF2-40B4-BE49-F238E27FC236}">
                <a16:creationId xmlns:a16="http://schemas.microsoft.com/office/drawing/2014/main" id="{86213ECD-0983-9541-F537-C10A59A0DCA7}"/>
              </a:ext>
            </a:extLst>
          </p:cNvPr>
          <p:cNvPicPr>
            <a:picLocks noChangeAspect="1"/>
          </p:cNvPicPr>
          <p:nvPr/>
        </p:nvPicPr>
        <p:blipFill>
          <a:blip r:embed="rId2"/>
          <a:stretch>
            <a:fillRect/>
          </a:stretch>
        </p:blipFill>
        <p:spPr>
          <a:xfrm>
            <a:off x="275178" y="1420624"/>
            <a:ext cx="3087653" cy="3128084"/>
          </a:xfrm>
          <a:prstGeom prst="rect">
            <a:avLst/>
          </a:prstGeom>
        </p:spPr>
      </p:pic>
      <p:sp>
        <p:nvSpPr>
          <p:cNvPr id="20" name="TextBox 24">
            <a:extLst>
              <a:ext uri="{FF2B5EF4-FFF2-40B4-BE49-F238E27FC236}">
                <a16:creationId xmlns:a16="http://schemas.microsoft.com/office/drawing/2014/main" id="{011E45C0-3C14-3223-5D38-7A95F91A5AC8}"/>
              </a:ext>
            </a:extLst>
          </p:cNvPr>
          <p:cNvSpPr txBox="1"/>
          <p:nvPr/>
        </p:nvSpPr>
        <p:spPr>
          <a:xfrm>
            <a:off x="74470" y="5149057"/>
            <a:ext cx="3590209" cy="307777"/>
          </a:xfrm>
          <a:prstGeom prst="rect">
            <a:avLst/>
          </a:prstGeom>
        </p:spPr>
        <p:txBody>
          <a:bodyPr wrap="square" lIns="0" tIns="0" rIns="0" bIns="0" rtlCol="0" anchor="t">
            <a:spAutoFit/>
          </a:bodyPr>
          <a:lstStyle/>
          <a:p>
            <a:pPr algn="ctr"/>
            <a:r>
              <a:rPr lang="en-US" sz="2000">
                <a:solidFill>
                  <a:srgbClr val="2E3A44"/>
                </a:solidFill>
                <a:latin typeface="Nunito"/>
                <a:ea typeface="Nunito"/>
                <a:cs typeface="Nunito"/>
              </a:rPr>
              <a:t>Project Manager / Developer</a:t>
            </a:r>
            <a:endParaRPr lang="en-US" sz="2000"/>
          </a:p>
        </p:txBody>
      </p:sp>
      <p:sp>
        <p:nvSpPr>
          <p:cNvPr id="22" name="TextBox 24">
            <a:extLst>
              <a:ext uri="{FF2B5EF4-FFF2-40B4-BE49-F238E27FC236}">
                <a16:creationId xmlns:a16="http://schemas.microsoft.com/office/drawing/2014/main" id="{7CBC2C4B-9795-3CC7-B95E-2A6CF87DD8F0}"/>
              </a:ext>
            </a:extLst>
          </p:cNvPr>
          <p:cNvSpPr txBox="1"/>
          <p:nvPr/>
        </p:nvSpPr>
        <p:spPr>
          <a:xfrm>
            <a:off x="3836540" y="5141675"/>
            <a:ext cx="3318747" cy="307777"/>
          </a:xfrm>
          <a:prstGeom prst="rect">
            <a:avLst/>
          </a:prstGeom>
        </p:spPr>
        <p:txBody>
          <a:bodyPr wrap="square" lIns="0" tIns="0" rIns="0" bIns="0" rtlCol="0" anchor="t">
            <a:spAutoFit/>
          </a:bodyPr>
          <a:lstStyle/>
          <a:p>
            <a:pPr algn="ctr"/>
            <a:r>
              <a:rPr lang="en-US" sz="2000">
                <a:solidFill>
                  <a:srgbClr val="2E3A44"/>
                </a:solidFill>
                <a:latin typeface="Nunito"/>
              </a:rPr>
              <a:t>Lead Game Developer</a:t>
            </a:r>
            <a:endParaRPr lang="en-US" sz="2000">
              <a:latin typeface="Nunito"/>
            </a:endParaRPr>
          </a:p>
        </p:txBody>
      </p:sp>
      <p:sp>
        <p:nvSpPr>
          <p:cNvPr id="23" name="TextBox 24">
            <a:extLst>
              <a:ext uri="{FF2B5EF4-FFF2-40B4-BE49-F238E27FC236}">
                <a16:creationId xmlns:a16="http://schemas.microsoft.com/office/drawing/2014/main" id="{7D23995F-CDB1-3036-47B2-BC1665D609EC}"/>
              </a:ext>
            </a:extLst>
          </p:cNvPr>
          <p:cNvSpPr txBox="1"/>
          <p:nvPr/>
        </p:nvSpPr>
        <p:spPr>
          <a:xfrm>
            <a:off x="7484446" y="5142750"/>
            <a:ext cx="3490197" cy="307777"/>
          </a:xfrm>
          <a:prstGeom prst="rect">
            <a:avLst/>
          </a:prstGeom>
        </p:spPr>
        <p:txBody>
          <a:bodyPr wrap="square" lIns="0" tIns="0" rIns="0" bIns="0" rtlCol="0" anchor="t">
            <a:spAutoFit/>
          </a:bodyPr>
          <a:lstStyle/>
          <a:p>
            <a:pPr algn="ctr"/>
            <a:r>
              <a:rPr lang="en-US" sz="2000">
                <a:solidFill>
                  <a:srgbClr val="2E3A44"/>
                </a:solidFill>
                <a:latin typeface="Nunito"/>
              </a:rPr>
              <a:t>Game Developer / AI Engineer</a:t>
            </a:r>
            <a:endParaRPr lang="en-US" sz="2000">
              <a:latin typeface="Nunito"/>
            </a:endParaRPr>
          </a:p>
        </p:txBody>
      </p:sp>
      <p:pic>
        <p:nvPicPr>
          <p:cNvPr id="14" name="Picture 13" descr="A person taking a selfie&#10;&#10;AI-generated content may be incorrect.">
            <a:extLst>
              <a:ext uri="{FF2B5EF4-FFF2-40B4-BE49-F238E27FC236}">
                <a16:creationId xmlns:a16="http://schemas.microsoft.com/office/drawing/2014/main" id="{DB24AC70-A5D9-6852-04B2-AEB38E4463C8}"/>
              </a:ext>
            </a:extLst>
          </p:cNvPr>
          <p:cNvPicPr>
            <a:picLocks noChangeAspect="1"/>
          </p:cNvPicPr>
          <p:nvPr/>
        </p:nvPicPr>
        <p:blipFill>
          <a:blip r:embed="rId3"/>
          <a:srcRect l="4693" r="12595" b="-500"/>
          <a:stretch>
            <a:fillRect/>
          </a:stretch>
        </p:blipFill>
        <p:spPr>
          <a:xfrm>
            <a:off x="7430910" y="1427507"/>
            <a:ext cx="3090708" cy="3132957"/>
          </a:xfrm>
          <a:prstGeom prst="rect">
            <a:avLst/>
          </a:prstGeom>
        </p:spPr>
      </p:pic>
      <p:pic>
        <p:nvPicPr>
          <p:cNvPr id="16" name="Picture 15" descr="A person in a black jacket and beanie standing in front of a building&#10;&#10;AI-generated content may be incorrect.">
            <a:extLst>
              <a:ext uri="{FF2B5EF4-FFF2-40B4-BE49-F238E27FC236}">
                <a16:creationId xmlns:a16="http://schemas.microsoft.com/office/drawing/2014/main" id="{230016D9-8DAA-C07D-483D-303FDE7F02E4}"/>
              </a:ext>
            </a:extLst>
          </p:cNvPr>
          <p:cNvPicPr>
            <a:picLocks noChangeAspect="1"/>
          </p:cNvPicPr>
          <p:nvPr/>
        </p:nvPicPr>
        <p:blipFill>
          <a:blip r:embed="rId4"/>
          <a:srcRect l="11796" t="26695" r="-268" b="24444"/>
          <a:stretch>
            <a:fillRect/>
          </a:stretch>
        </p:blipFill>
        <p:spPr>
          <a:xfrm>
            <a:off x="3876914" y="1429446"/>
            <a:ext cx="3088518" cy="3123117"/>
          </a:xfrm>
          <a:prstGeom prst="rect">
            <a:avLst/>
          </a:prstGeom>
        </p:spPr>
      </p:pic>
      <p:pic>
        <p:nvPicPr>
          <p:cNvPr id="13" name="Picture 12" descr="A person taking a selfie&#10;&#10;AI-generated content may be incorrect.">
            <a:extLst>
              <a:ext uri="{FF2B5EF4-FFF2-40B4-BE49-F238E27FC236}">
                <a16:creationId xmlns:a16="http://schemas.microsoft.com/office/drawing/2014/main" id="{2FB49CD8-6301-DC80-4AE5-EFAF3D8BC900}"/>
              </a:ext>
            </a:extLst>
          </p:cNvPr>
          <p:cNvPicPr>
            <a:picLocks noChangeAspect="1"/>
          </p:cNvPicPr>
          <p:nvPr/>
        </p:nvPicPr>
        <p:blipFill>
          <a:blip r:embed="rId5"/>
          <a:srcRect t="19444" b="20833"/>
          <a:stretch>
            <a:fillRect/>
          </a:stretch>
        </p:blipFill>
        <p:spPr>
          <a:xfrm>
            <a:off x="3841758" y="5831853"/>
            <a:ext cx="2979996" cy="3126039"/>
          </a:xfrm>
          <a:prstGeom prst="rect">
            <a:avLst/>
          </a:prstGeom>
        </p:spPr>
      </p:pic>
      <p:sp>
        <p:nvSpPr>
          <p:cNvPr id="25" name="TextBox 24">
            <a:extLst>
              <a:ext uri="{FF2B5EF4-FFF2-40B4-BE49-F238E27FC236}">
                <a16:creationId xmlns:a16="http://schemas.microsoft.com/office/drawing/2014/main" id="{CEC134CD-40C2-7511-8770-B3FFF30D2E9E}"/>
              </a:ext>
            </a:extLst>
          </p:cNvPr>
          <p:cNvSpPr txBox="1"/>
          <p:nvPr/>
        </p:nvSpPr>
        <p:spPr>
          <a:xfrm>
            <a:off x="7428085" y="9623159"/>
            <a:ext cx="3318747" cy="307777"/>
          </a:xfrm>
          <a:prstGeom prst="rect">
            <a:avLst/>
          </a:prstGeom>
        </p:spPr>
        <p:txBody>
          <a:bodyPr wrap="square" lIns="0" tIns="0" rIns="0" bIns="0" rtlCol="0" anchor="t">
            <a:spAutoFit/>
          </a:bodyPr>
          <a:lstStyle/>
          <a:p>
            <a:pPr algn="ctr"/>
            <a:r>
              <a:rPr lang="en-US" sz="2000">
                <a:solidFill>
                  <a:srgbClr val="2E3A44"/>
                </a:solidFill>
                <a:latin typeface="Nunito"/>
              </a:rPr>
              <a:t>UI/UX Developer</a:t>
            </a:r>
            <a:endParaRPr lang="en-US" sz="2000"/>
          </a:p>
        </p:txBody>
      </p:sp>
      <p:pic>
        <p:nvPicPr>
          <p:cNvPr id="26" name="Picture 25" descr="A person with red hair wearing a black jacket&#10;&#10;AI-generated content may be incorrect.">
            <a:extLst>
              <a:ext uri="{FF2B5EF4-FFF2-40B4-BE49-F238E27FC236}">
                <a16:creationId xmlns:a16="http://schemas.microsoft.com/office/drawing/2014/main" id="{BEE044C9-766A-96BB-D307-7E182C1210C3}"/>
              </a:ext>
            </a:extLst>
          </p:cNvPr>
          <p:cNvPicPr>
            <a:picLocks noChangeAspect="1"/>
          </p:cNvPicPr>
          <p:nvPr/>
        </p:nvPicPr>
        <p:blipFill>
          <a:blip r:embed="rId6"/>
          <a:stretch>
            <a:fillRect/>
          </a:stretch>
        </p:blipFill>
        <p:spPr>
          <a:xfrm>
            <a:off x="7867373" y="5930125"/>
            <a:ext cx="2487647" cy="3125546"/>
          </a:xfrm>
          <a:prstGeom prst="rect">
            <a:avLst/>
          </a:prstGeom>
        </p:spPr>
      </p:pic>
      <p:pic>
        <p:nvPicPr>
          <p:cNvPr id="28" name="Picture 27" descr="A logo with swords and shield&#10;&#10;AI-generated content may be incorrect.">
            <a:extLst>
              <a:ext uri="{FF2B5EF4-FFF2-40B4-BE49-F238E27FC236}">
                <a16:creationId xmlns:a16="http://schemas.microsoft.com/office/drawing/2014/main" id="{5AC348A4-DEFA-6AE4-FA18-65055C888A17}"/>
              </a:ext>
            </a:extLst>
          </p:cNvPr>
          <p:cNvPicPr>
            <a:picLocks noChangeAspect="1"/>
          </p:cNvPicPr>
          <p:nvPr/>
        </p:nvPicPr>
        <p:blipFill>
          <a:blip r:embed="rId7"/>
          <a:srcRect l="12592" r="12884" b="4505"/>
          <a:stretch>
            <a:fillRect/>
          </a:stretch>
        </p:blipFill>
        <p:spPr>
          <a:xfrm>
            <a:off x="11277764" y="-154700"/>
            <a:ext cx="6138930" cy="5177659"/>
          </a:xfrm>
          <a:prstGeom prst="rect">
            <a:avLst/>
          </a:prstGeom>
        </p:spPr>
      </p:pic>
      <p:pic>
        <p:nvPicPr>
          <p:cNvPr id="2" name="Picture 1" descr="A person in a blue shirt&#10;&#10;AI-generated content may be incorrect.">
            <a:extLst>
              <a:ext uri="{FF2B5EF4-FFF2-40B4-BE49-F238E27FC236}">
                <a16:creationId xmlns:a16="http://schemas.microsoft.com/office/drawing/2014/main" id="{9AA6AE30-B942-B69A-636E-A6B28B3857FD}"/>
              </a:ext>
            </a:extLst>
          </p:cNvPr>
          <p:cNvPicPr>
            <a:picLocks noChangeAspect="1"/>
          </p:cNvPicPr>
          <p:nvPr/>
        </p:nvPicPr>
        <p:blipFill>
          <a:blip r:embed="rId8"/>
          <a:stretch>
            <a:fillRect/>
          </a:stretch>
        </p:blipFill>
        <p:spPr>
          <a:xfrm>
            <a:off x="11565416" y="5926157"/>
            <a:ext cx="3075542" cy="3116855"/>
          </a:xfrm>
          <a:prstGeom prst="rect">
            <a:avLst/>
          </a:prstGeom>
        </p:spPr>
      </p:pic>
      <p:sp>
        <p:nvSpPr>
          <p:cNvPr id="3" name="TextBox 21">
            <a:extLst>
              <a:ext uri="{FF2B5EF4-FFF2-40B4-BE49-F238E27FC236}">
                <a16:creationId xmlns:a16="http://schemas.microsoft.com/office/drawing/2014/main" id="{ECF6E691-AF13-20A1-8E36-87EEDB0C6D06}"/>
              </a:ext>
            </a:extLst>
          </p:cNvPr>
          <p:cNvSpPr txBox="1"/>
          <p:nvPr/>
        </p:nvSpPr>
        <p:spPr>
          <a:xfrm>
            <a:off x="11272002" y="9050561"/>
            <a:ext cx="3937903" cy="646331"/>
          </a:xfrm>
          <a:prstGeom prst="rect">
            <a:avLst/>
          </a:prstGeom>
        </p:spPr>
        <p:txBody>
          <a:bodyPr wrap="square" lIns="0" tIns="0" rIns="0" bIns="0" rtlCol="0" anchor="t">
            <a:spAutoFit/>
          </a:bodyPr>
          <a:lstStyle>
            <a:defPPr>
              <a:defRPr lang="en-US"/>
            </a:defPPr>
            <a:lvl1pPr algn="ctr">
              <a:lnSpc>
                <a:spcPts val="5599"/>
              </a:lnSpc>
              <a:defRPr sz="2800">
                <a:solidFill>
                  <a:srgbClr val="2E3A44"/>
                </a:solidFill>
                <a:latin typeface="Nunito"/>
                <a:ea typeface="Nunito"/>
                <a:cs typeface="Nunito"/>
              </a:defRPr>
            </a:lvl1pPr>
          </a:lstStyle>
          <a:p>
            <a:r>
              <a:rPr lang="en-US">
                <a:sym typeface="Nunito"/>
              </a:rPr>
              <a:t>Henry Wong</a:t>
            </a:r>
          </a:p>
        </p:txBody>
      </p:sp>
      <p:sp>
        <p:nvSpPr>
          <p:cNvPr id="4" name="TextBox 3">
            <a:extLst>
              <a:ext uri="{FF2B5EF4-FFF2-40B4-BE49-F238E27FC236}">
                <a16:creationId xmlns:a16="http://schemas.microsoft.com/office/drawing/2014/main" id="{EEC60918-5253-784E-5DBA-10F2C2DFF341}"/>
              </a:ext>
            </a:extLst>
          </p:cNvPr>
          <p:cNvSpPr txBox="1"/>
          <p:nvPr/>
        </p:nvSpPr>
        <p:spPr>
          <a:xfrm>
            <a:off x="11435469" y="9623158"/>
            <a:ext cx="3318747" cy="307777"/>
          </a:xfrm>
          <a:prstGeom prst="rect">
            <a:avLst/>
          </a:prstGeom>
        </p:spPr>
        <p:txBody>
          <a:bodyPr wrap="square" lIns="0" tIns="0" rIns="0" bIns="0" rtlCol="0" anchor="t">
            <a:spAutoFit/>
          </a:bodyPr>
          <a:lstStyle/>
          <a:p>
            <a:pPr algn="ctr"/>
            <a:r>
              <a:rPr lang="en-US" sz="2000">
                <a:solidFill>
                  <a:srgbClr val="2E3A44"/>
                </a:solidFill>
                <a:latin typeface="Nunito"/>
              </a:rPr>
              <a:t>AL/ML Advisor / Consultant</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iagram of a diagram&#10;&#10;AI-generated content may be incorrect.">
            <a:extLst>
              <a:ext uri="{FF2B5EF4-FFF2-40B4-BE49-F238E27FC236}">
                <a16:creationId xmlns:a16="http://schemas.microsoft.com/office/drawing/2014/main" id="{5891740E-FCF7-2FDE-AB72-995D07D28E36}"/>
              </a:ext>
            </a:extLst>
          </p:cNvPr>
          <p:cNvPicPr>
            <a:picLocks noChangeAspect="1"/>
          </p:cNvPicPr>
          <p:nvPr/>
        </p:nvPicPr>
        <p:blipFill>
          <a:blip r:embed="rId2"/>
          <a:srcRect l="3524" t="29" r="370" b="2088"/>
          <a:stretch>
            <a:fillRect/>
          </a:stretch>
        </p:blipFill>
        <p:spPr>
          <a:xfrm>
            <a:off x="604534" y="1004538"/>
            <a:ext cx="2214346" cy="7010670"/>
          </a:xfrm>
          <a:prstGeom prst="rect">
            <a:avLst/>
          </a:prstGeom>
        </p:spPr>
      </p:pic>
      <p:grpSp>
        <p:nvGrpSpPr>
          <p:cNvPr id="2" name="Group 2"/>
          <p:cNvGrpSpPr/>
          <p:nvPr/>
        </p:nvGrpSpPr>
        <p:grpSpPr>
          <a:xfrm>
            <a:off x="12417448" y="7372841"/>
            <a:ext cx="8028675" cy="802867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AutoShape 5"/>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6" name="Group 6"/>
          <p:cNvGrpSpPr/>
          <p:nvPr/>
        </p:nvGrpSpPr>
        <p:grpSpPr>
          <a:xfrm>
            <a:off x="322039" y="-1115181"/>
            <a:ext cx="2230365" cy="2230365"/>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TextBox 9"/>
          <p:cNvSpPr txBox="1"/>
          <p:nvPr/>
        </p:nvSpPr>
        <p:spPr>
          <a:xfrm>
            <a:off x="11245422" y="3867254"/>
            <a:ext cx="4572000"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Agenda</a:t>
            </a:r>
          </a:p>
        </p:txBody>
      </p:sp>
      <p:sp>
        <p:nvSpPr>
          <p:cNvPr id="14" name="TextBox 14"/>
          <p:cNvSpPr txBox="1"/>
          <p:nvPr/>
        </p:nvSpPr>
        <p:spPr>
          <a:xfrm>
            <a:off x="2971835" y="1468755"/>
            <a:ext cx="11248221" cy="6435736"/>
          </a:xfrm>
          <a:prstGeom prst="rect">
            <a:avLst/>
          </a:prstGeom>
        </p:spPr>
        <p:txBody>
          <a:bodyPr wrap="square" lIns="0" tIns="0" rIns="0" bIns="0" rtlCol="0" anchor="t">
            <a:spAutoFit/>
          </a:bodyPr>
          <a:lstStyle/>
          <a:p>
            <a:pPr>
              <a:lnSpc>
                <a:spcPts val="5599"/>
              </a:lnSpc>
            </a:pPr>
            <a:r>
              <a:rPr lang="en-US" sz="3950" b="1">
                <a:solidFill>
                  <a:srgbClr val="2E3A44"/>
                </a:solidFill>
                <a:latin typeface="Nunito Bold"/>
                <a:sym typeface="Nunito Bold"/>
              </a:rPr>
              <a:t>Recap sprint 2</a:t>
            </a:r>
            <a:endParaRPr lang="en-US">
              <a:solidFill>
                <a:srgbClr val="000000"/>
              </a:solidFill>
              <a:latin typeface="Corbel" panose="020B0503020204020204"/>
              <a:sym typeface="Nunito Bold"/>
            </a:endParaRPr>
          </a:p>
          <a:p>
            <a:pPr>
              <a:lnSpc>
                <a:spcPts val="5599"/>
              </a:lnSpc>
            </a:pPr>
            <a:r>
              <a:rPr lang="en-US" sz="4000" b="1">
                <a:solidFill>
                  <a:srgbClr val="2E3A44"/>
                </a:solidFill>
                <a:latin typeface="Nunito Bold"/>
                <a:sym typeface="Nunito Bold"/>
              </a:rPr>
              <a:t>Project</a:t>
            </a:r>
            <a:r>
              <a:rPr lang="en-US" sz="4000" b="1">
                <a:solidFill>
                  <a:srgbClr val="2E3A44"/>
                </a:solidFill>
                <a:latin typeface="Nunito Bold"/>
              </a:rPr>
              <a:t> Description</a:t>
            </a:r>
            <a:endParaRPr lang="en-US"/>
          </a:p>
          <a:p>
            <a:pPr>
              <a:lnSpc>
                <a:spcPts val="5599"/>
              </a:lnSpc>
            </a:pPr>
            <a:r>
              <a:rPr lang="en-US" sz="3950" b="1">
                <a:solidFill>
                  <a:srgbClr val="2E3A44"/>
                </a:solidFill>
                <a:latin typeface="Nunito Bold"/>
                <a:ea typeface="Nunito Bold"/>
                <a:cs typeface="Nunito Bold"/>
              </a:rPr>
              <a:t>Team Working Agreement</a:t>
            </a:r>
          </a:p>
          <a:p>
            <a:pPr>
              <a:lnSpc>
                <a:spcPts val="5599"/>
              </a:lnSpc>
            </a:pPr>
            <a:r>
              <a:rPr lang="en-US" sz="3950" b="1">
                <a:solidFill>
                  <a:srgbClr val="2E3A44"/>
                </a:solidFill>
                <a:latin typeface="Nunito Bold"/>
                <a:ea typeface="Nunito Bold"/>
                <a:cs typeface="Nunito Bold"/>
                <a:sym typeface="Nunito Bold"/>
              </a:rPr>
              <a:t>User Personas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MVP / Tech / Algorithms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Diagrams</a:t>
            </a:r>
            <a:endParaRPr lang="en-US" sz="3950"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Product Backlog / User Stories</a:t>
            </a:r>
            <a:endParaRPr lang="en-US" sz="3999"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sym typeface="Nunito Bold"/>
              </a:rPr>
              <a:t>Team Velocity / Burndown</a:t>
            </a:r>
            <a:endParaRPr lang="en-US" sz="3999" b="1">
              <a:solidFill>
                <a:srgbClr val="2E3A44"/>
              </a:solidFill>
              <a:latin typeface="Nunito Bold"/>
              <a:ea typeface="Nunito Bold"/>
              <a:cs typeface="Nunito Bold"/>
            </a:endParaRPr>
          </a:p>
          <a:p>
            <a:pPr>
              <a:lnSpc>
                <a:spcPts val="5599"/>
              </a:lnSpc>
            </a:pPr>
            <a:r>
              <a:rPr lang="en-US" sz="3950" b="1">
                <a:solidFill>
                  <a:srgbClr val="2E3A44"/>
                </a:solidFill>
                <a:latin typeface="Nunito Bold"/>
                <a:ea typeface="Nunito Bold"/>
                <a:cs typeface="Nunito Bold"/>
              </a:rPr>
              <a:t>Demo</a:t>
            </a:r>
            <a:endParaRPr lang="en-US" sz="3999" b="1">
              <a:solidFill>
                <a:srgbClr val="2E3A44"/>
              </a:solidFill>
              <a:latin typeface="Nunito Bold"/>
              <a:ea typeface="Nunito Bold"/>
              <a:cs typeface="Nunito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84F2E7-7E5E-D281-B12D-D6B2258E97B5}"/>
            </a:ext>
          </a:extLst>
        </p:cNvPr>
        <p:cNvGrpSpPr/>
        <p:nvPr/>
      </p:nvGrpSpPr>
      <p:grpSpPr>
        <a:xfrm>
          <a:off x="0" y="0"/>
          <a:ext cx="0" cy="0"/>
          <a:chOff x="0" y="0"/>
          <a:chExt cx="0" cy="0"/>
        </a:xfrm>
      </p:grpSpPr>
      <p:sp>
        <p:nvSpPr>
          <p:cNvPr id="54" name="Rectangle 53">
            <a:extLst>
              <a:ext uri="{FF2B5EF4-FFF2-40B4-BE49-F238E27FC236}">
                <a16:creationId xmlns:a16="http://schemas.microsoft.com/office/drawing/2014/main" id="{845DB188-4006-4207-A473-B4B569C5B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138428"/>
            <a:ext cx="5165385" cy="799642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5" name="Rectangle 54">
            <a:extLst>
              <a:ext uri="{FF2B5EF4-FFF2-40B4-BE49-F238E27FC236}">
                <a16:creationId xmlns:a16="http://schemas.microsoft.com/office/drawing/2014/main" id="{BAB4522D-D095-4687-BFB3-976E665AD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723796" y="1138428"/>
            <a:ext cx="576072" cy="799642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Box 13">
            <a:extLst>
              <a:ext uri="{FF2B5EF4-FFF2-40B4-BE49-F238E27FC236}">
                <a16:creationId xmlns:a16="http://schemas.microsoft.com/office/drawing/2014/main" id="{D014526A-6D85-4C27-EB88-A54ADAE839B7}"/>
              </a:ext>
            </a:extLst>
          </p:cNvPr>
          <p:cNvSpPr txBox="1"/>
          <p:nvPr/>
        </p:nvSpPr>
        <p:spPr>
          <a:xfrm>
            <a:off x="379378" y="1685755"/>
            <a:ext cx="4421223" cy="6901775"/>
          </a:xfrm>
          <a:prstGeom prst="rect">
            <a:avLst/>
          </a:prstGeom>
        </p:spPr>
        <p:txBody>
          <a:bodyPr rot="0" spcFirstLastPara="0" vert="horz" lIns="91440" tIns="45720" rIns="91440" bIns="45720" numCol="1" spcCol="0" rtlCol="0" fromWordArt="0" anchor="ctr" anchorCtr="0" forceAA="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3600" spc="-60">
                <a:solidFill>
                  <a:srgbClr val="FFFFFF"/>
                </a:solidFill>
                <a:latin typeface="+mj-lt"/>
                <a:ea typeface="+mj-ea"/>
                <a:cs typeface="+mj-cs"/>
              </a:rPr>
              <a:t>Sprint 2 Recap</a:t>
            </a:r>
          </a:p>
        </p:txBody>
      </p:sp>
      <p:graphicFrame>
        <p:nvGraphicFramePr>
          <p:cNvPr id="56" name="TextBox 12">
            <a:extLst>
              <a:ext uri="{FF2B5EF4-FFF2-40B4-BE49-F238E27FC236}">
                <a16:creationId xmlns:a16="http://schemas.microsoft.com/office/drawing/2014/main" id="{4A0CBE56-E914-AC0C-E03C-2751DDCBB0DE}"/>
              </a:ext>
            </a:extLst>
          </p:cNvPr>
          <p:cNvGraphicFramePr/>
          <p:nvPr>
            <p:extLst>
              <p:ext uri="{D42A27DB-BD31-4B8C-83A1-F6EECF244321}">
                <p14:modId xmlns:p14="http://schemas.microsoft.com/office/powerpoint/2010/main" val="2326845347"/>
              </p:ext>
            </p:extLst>
          </p:nvPr>
        </p:nvGraphicFramePr>
        <p:xfrm>
          <a:off x="5639844" y="1328188"/>
          <a:ext cx="11592400" cy="76309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2915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68F69-7691-6EB5-C386-EBE10171811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2EDCC38-9E8F-430E-3D29-A5A97D2AEB1E}"/>
              </a:ext>
            </a:extLst>
          </p:cNvPr>
          <p:cNvGrpSpPr/>
          <p:nvPr/>
        </p:nvGrpSpPr>
        <p:grpSpPr>
          <a:xfrm>
            <a:off x="11833089" y="2578678"/>
            <a:ext cx="9965284" cy="8866245"/>
            <a:chOff x="0" y="0"/>
            <a:chExt cx="812800" cy="812800"/>
          </a:xfrm>
        </p:grpSpPr>
        <p:sp>
          <p:nvSpPr>
            <p:cNvPr id="3" name="Freeform 3">
              <a:extLst>
                <a:ext uri="{FF2B5EF4-FFF2-40B4-BE49-F238E27FC236}">
                  <a16:creationId xmlns:a16="http://schemas.microsoft.com/office/drawing/2014/main" id="{DDF9FF84-D64C-E3FA-0522-CBEBAC5726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84FBEB3-B235-6A81-F6D1-CAA561BA120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1C4DDB9-A819-CFE1-CD77-E259500B836C}"/>
              </a:ext>
            </a:extLst>
          </p:cNvPr>
          <p:cNvGrpSpPr/>
          <p:nvPr/>
        </p:nvGrpSpPr>
        <p:grpSpPr>
          <a:xfrm>
            <a:off x="-1971674" y="8256875"/>
            <a:ext cx="3517329" cy="3517329"/>
            <a:chOff x="0" y="0"/>
            <a:chExt cx="812800" cy="812800"/>
          </a:xfrm>
        </p:grpSpPr>
        <p:sp>
          <p:nvSpPr>
            <p:cNvPr id="6" name="Freeform 6">
              <a:extLst>
                <a:ext uri="{FF2B5EF4-FFF2-40B4-BE49-F238E27FC236}">
                  <a16:creationId xmlns:a16="http://schemas.microsoft.com/office/drawing/2014/main" id="{49372DE4-0B56-E8DF-5C7D-9E1568AEEF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180D613A-3254-377C-E6D0-BD93BCC0438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3CA324F-0936-2887-A79E-5ECB1995415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078BBE9-BE13-7599-923F-85B551D7A994}"/>
              </a:ext>
            </a:extLst>
          </p:cNvPr>
          <p:cNvGrpSpPr/>
          <p:nvPr/>
        </p:nvGrpSpPr>
        <p:grpSpPr>
          <a:xfrm>
            <a:off x="1567884" y="9711877"/>
            <a:ext cx="1586288" cy="1586288"/>
            <a:chOff x="0" y="0"/>
            <a:chExt cx="812800" cy="812800"/>
          </a:xfrm>
        </p:grpSpPr>
        <p:sp>
          <p:nvSpPr>
            <p:cNvPr id="10" name="Freeform 10">
              <a:extLst>
                <a:ext uri="{FF2B5EF4-FFF2-40B4-BE49-F238E27FC236}">
                  <a16:creationId xmlns:a16="http://schemas.microsoft.com/office/drawing/2014/main" id="{D054B138-B917-3122-9897-F4063429C77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52755AC-6704-EDD1-C3DA-0855AB15820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BC417CF5-D98C-A2F2-3AD7-972948ECB643}"/>
              </a:ext>
            </a:extLst>
          </p:cNvPr>
          <p:cNvSpPr txBox="1"/>
          <p:nvPr/>
        </p:nvSpPr>
        <p:spPr>
          <a:xfrm>
            <a:off x="-3573" y="33338"/>
            <a:ext cx="9509523"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Project Description</a:t>
            </a:r>
          </a:p>
        </p:txBody>
      </p:sp>
      <p:pic>
        <p:nvPicPr>
          <p:cNvPr id="16" name="Picture 15" descr="A video game screen with a person fighting on a dock&#10;&#10;AI-generated content may be incorrect.">
            <a:extLst>
              <a:ext uri="{FF2B5EF4-FFF2-40B4-BE49-F238E27FC236}">
                <a16:creationId xmlns:a16="http://schemas.microsoft.com/office/drawing/2014/main" id="{4DFDFAA6-D859-D9F7-1A33-DDE88CDA2DB3}"/>
              </a:ext>
            </a:extLst>
          </p:cNvPr>
          <p:cNvPicPr>
            <a:picLocks noChangeAspect="1"/>
          </p:cNvPicPr>
          <p:nvPr/>
        </p:nvPicPr>
        <p:blipFill>
          <a:blip r:embed="rId2"/>
          <a:srcRect t="8940" r="248" b="7616"/>
          <a:stretch>
            <a:fillRect/>
          </a:stretch>
        </p:blipFill>
        <p:spPr>
          <a:xfrm>
            <a:off x="11510963" y="671512"/>
            <a:ext cx="4795853" cy="4471997"/>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pic>
        <p:nvPicPr>
          <p:cNvPr id="17" name="Picture 16" descr="A video game screen with cartoon characters&#10;&#10;AI-generated content may be incorrect.">
            <a:extLst>
              <a:ext uri="{FF2B5EF4-FFF2-40B4-BE49-F238E27FC236}">
                <a16:creationId xmlns:a16="http://schemas.microsoft.com/office/drawing/2014/main" id="{EBB96E04-1218-6130-3B44-AF92330DFF4E}"/>
              </a:ext>
            </a:extLst>
          </p:cNvPr>
          <p:cNvPicPr>
            <a:picLocks noChangeAspect="1"/>
          </p:cNvPicPr>
          <p:nvPr/>
        </p:nvPicPr>
        <p:blipFill>
          <a:blip r:embed="rId3"/>
          <a:stretch>
            <a:fillRect/>
          </a:stretch>
        </p:blipFill>
        <p:spPr>
          <a:xfrm>
            <a:off x="12715875" y="4214813"/>
            <a:ext cx="5057776" cy="4843463"/>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graphicFrame>
        <p:nvGraphicFramePr>
          <p:cNvPr id="19" name="TextBox 13">
            <a:extLst>
              <a:ext uri="{FF2B5EF4-FFF2-40B4-BE49-F238E27FC236}">
                <a16:creationId xmlns:a16="http://schemas.microsoft.com/office/drawing/2014/main" id="{5D22E773-4285-AFE9-30BF-0291CEF59808}"/>
              </a:ext>
            </a:extLst>
          </p:cNvPr>
          <p:cNvGraphicFramePr/>
          <p:nvPr/>
        </p:nvGraphicFramePr>
        <p:xfrm>
          <a:off x="752861" y="1663414"/>
          <a:ext cx="10766830" cy="58477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69547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6" y="-1345627"/>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430074" y="4157765"/>
            <a:ext cx="8030478" cy="7282501"/>
            <a:chOff x="-226086" y="38100"/>
            <a:chExt cx="962686" cy="908357"/>
          </a:xfrm>
        </p:grpSpPr>
        <p:sp>
          <p:nvSpPr>
            <p:cNvPr id="6" name="Freeform 6"/>
            <p:cNvSpPr/>
            <p:nvPr/>
          </p:nvSpPr>
          <p:spPr>
            <a:xfrm>
              <a:off x="-226086" y="133657"/>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p:cNvGrpSpPr/>
          <p:nvPr/>
        </p:nvGrpSpPr>
        <p:grpSpPr>
          <a:xfrm>
            <a:off x="17259300" y="3262131"/>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04952" y="176118"/>
            <a:ext cx="14311290"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Team Working Agreement</a:t>
            </a:r>
            <a:endParaRPr lang="en-US"/>
          </a:p>
        </p:txBody>
      </p:sp>
      <p:sp>
        <p:nvSpPr>
          <p:cNvPr id="19" name="Content Placeholder 18">
            <a:extLst>
              <a:ext uri="{FF2B5EF4-FFF2-40B4-BE49-F238E27FC236}">
                <a16:creationId xmlns:a16="http://schemas.microsoft.com/office/drawing/2014/main" id="{1C66B37F-0AEF-2827-531D-64EE2E39C096}"/>
              </a:ext>
            </a:extLst>
          </p:cNvPr>
          <p:cNvSpPr>
            <a:spLocks noGrp="1"/>
          </p:cNvSpPr>
          <p:nvPr>
            <p:ph idx="4294967295"/>
          </p:nvPr>
        </p:nvSpPr>
        <p:spPr>
          <a:xfrm>
            <a:off x="1253183" y="1639888"/>
            <a:ext cx="8654620" cy="7138666"/>
          </a:xfrm>
        </p:spPr>
        <p:txBody>
          <a:bodyPr vert="horz" lIns="91440" tIns="45720" rIns="91440" bIns="45720" rtlCol="0" anchor="t">
            <a:noAutofit/>
          </a:bodyPr>
          <a:lstStyle/>
          <a:p>
            <a:pPr marL="0" indent="0">
              <a:buNone/>
            </a:pPr>
            <a:r>
              <a:rPr lang="en-US" sz="3200" b="1" u="sng">
                <a:latin typeface="Nunito Bold"/>
                <a:cs typeface="Times New Roman"/>
              </a:rPr>
              <a:t>Communication And Responsibilities:</a:t>
            </a:r>
            <a:endParaRPr lang="en-US" sz="3200" b="1" u="sng">
              <a:latin typeface="Nunito Bold"/>
              <a:ea typeface="Calibri"/>
              <a:cs typeface="Calibri"/>
            </a:endParaRPr>
          </a:p>
          <a:p>
            <a:r>
              <a:rPr lang="en-US" sz="2800">
                <a:latin typeface="Nunito"/>
                <a:cs typeface="Times New Roman"/>
              </a:rPr>
              <a:t> Communication through WhatsApp, Slack, Zoom.</a:t>
            </a:r>
          </a:p>
          <a:p>
            <a:pPr marL="342265" indent="-342265"/>
            <a:r>
              <a:rPr lang="en-US" sz="2800">
                <a:latin typeface="Nunito"/>
                <a:cs typeface="Times New Roman"/>
              </a:rPr>
              <a:t>All team members must respect each other and have the right to contribute their ideas to the project.</a:t>
            </a:r>
          </a:p>
          <a:p>
            <a:pPr marL="342265" indent="-342265"/>
            <a:r>
              <a:rPr lang="en-US" sz="2800">
                <a:latin typeface="Nunito"/>
                <a:cs typeface="Times New Roman"/>
              </a:rPr>
              <a:t>All ideas, vision and changes discussed together, and final decisions are up to most of the team, except urgent situations.</a:t>
            </a:r>
          </a:p>
          <a:p>
            <a:pPr marL="342265" indent="-342265"/>
            <a:r>
              <a:rPr lang="en-US" sz="2800">
                <a:latin typeface="Nunito"/>
                <a:cs typeface="Times New Roman"/>
              </a:rPr>
              <a:t>Each person works within the boundaries established before the start of work. </a:t>
            </a:r>
          </a:p>
          <a:p>
            <a:pPr marL="342265" indent="-342265"/>
            <a:r>
              <a:rPr lang="en-US" sz="2800">
                <a:latin typeface="Nunito"/>
                <a:cs typeface="Times New Roman"/>
              </a:rPr>
              <a:t>Everyone is responsible for their own part.</a:t>
            </a:r>
            <a:endParaRPr lang="en-US" sz="2800">
              <a:latin typeface="Nunito"/>
              <a:ea typeface="Calibri"/>
              <a:cs typeface="Calibri"/>
            </a:endParaRPr>
          </a:p>
          <a:p>
            <a:pPr marL="342265" indent="-342265"/>
            <a:r>
              <a:rPr lang="en-US" sz="2800">
                <a:latin typeface="Nunito"/>
                <a:cs typeface="Times New Roman"/>
              </a:rPr>
              <a:t>All conflicts should first be resolved between the people involved. If that is not possible the issue should be brought to the Team Lead.</a:t>
            </a:r>
            <a:endParaRPr lang="en-US" sz="2800">
              <a:latin typeface="Nunito"/>
              <a:ea typeface="Calibri"/>
              <a:cs typeface="Calibri"/>
            </a:endParaRPr>
          </a:p>
          <a:p>
            <a:pPr marL="342265" indent="-342265"/>
            <a:r>
              <a:rPr lang="en-US" sz="2800">
                <a:latin typeface="Nunito"/>
                <a:cs typeface="Times New Roman"/>
              </a:rPr>
              <a:t>Each member must inform the team about any changes or improvements they make.</a:t>
            </a:r>
          </a:p>
          <a:p>
            <a:pPr marL="342265" indent="-342265"/>
            <a:endParaRPr lang="en-US">
              <a:solidFill>
                <a:schemeClr val="tx1"/>
              </a:solidFill>
              <a:latin typeface="Nirand Bold"/>
              <a:ea typeface="Calibri"/>
              <a:cs typeface="Calibri"/>
            </a:endParaRPr>
          </a:p>
        </p:txBody>
      </p:sp>
      <p:sp>
        <p:nvSpPr>
          <p:cNvPr id="20" name="Content Placeholder 18">
            <a:extLst>
              <a:ext uri="{FF2B5EF4-FFF2-40B4-BE49-F238E27FC236}">
                <a16:creationId xmlns:a16="http://schemas.microsoft.com/office/drawing/2014/main" id="{424B3E56-8744-D5FB-851D-08D18CE48D51}"/>
              </a:ext>
            </a:extLst>
          </p:cNvPr>
          <p:cNvSpPr txBox="1">
            <a:spLocks/>
          </p:cNvSpPr>
          <p:nvPr/>
        </p:nvSpPr>
        <p:spPr>
          <a:xfrm>
            <a:off x="10426159" y="1643484"/>
            <a:ext cx="6013231" cy="7124737"/>
          </a:xfrm>
          <a:prstGeom prst="rect">
            <a:avLst/>
          </a:prstGeom>
        </p:spPr>
        <p:txBody>
          <a:bodyPr vert="horz" lIns="91440" tIns="45720" rIns="91440" bIns="45720" rtlCol="0" anchor="t">
            <a:noAutofit/>
          </a:bodyPr>
          <a:lst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a:buNone/>
            </a:pPr>
            <a:r>
              <a:rPr lang="en-US" sz="3200" b="1" u="sng">
                <a:latin typeface="Nunito Bold"/>
                <a:cs typeface="Times New Roman"/>
              </a:rPr>
              <a:t>Meetings:</a:t>
            </a:r>
            <a:endParaRPr lang="en-US" sz="3200" b="1" u="sng">
              <a:latin typeface="Nunito Bold"/>
              <a:cs typeface="Nirand Bold"/>
            </a:endParaRPr>
          </a:p>
          <a:p>
            <a:pPr>
              <a:buFont typeface="Wingdings 2"/>
            </a:pPr>
            <a:r>
              <a:rPr lang="en-US" sz="2800">
                <a:latin typeface="Nunito"/>
                <a:cs typeface="Times New Roman"/>
              </a:rPr>
              <a:t>Meeting happens through Zoom, Slack </a:t>
            </a:r>
          </a:p>
          <a:p>
            <a:pPr>
              <a:buFont typeface="Wingdings 2"/>
            </a:pPr>
            <a:r>
              <a:rPr lang="en-US" sz="2800">
                <a:latin typeface="Nunito"/>
                <a:cs typeface="Times New Roman"/>
              </a:rPr>
              <a:t>The team must have Scrum meetings two times in a week and check WhatsApp, Slack daily to avoid missing any project information. </a:t>
            </a:r>
            <a:endParaRPr lang="en-US" sz="2800">
              <a:latin typeface="Nunito"/>
              <a:cs typeface="Nirand Bold"/>
            </a:endParaRPr>
          </a:p>
          <a:p>
            <a:pPr>
              <a:buFont typeface="Wingdings 2"/>
            </a:pPr>
            <a:r>
              <a:rPr lang="en-US" sz="2800">
                <a:latin typeface="Nunito"/>
                <a:cs typeface="Times New Roman"/>
              </a:rPr>
              <a:t>Schedule of a Scrum meeting : Tuesday at 8pm  and Friday at 9.15pm</a:t>
            </a:r>
          </a:p>
          <a:p>
            <a:pPr>
              <a:buFont typeface="Wingdings 2"/>
            </a:pPr>
            <a:r>
              <a:rPr lang="en-US" sz="2800">
                <a:latin typeface="Nunito"/>
                <a:cs typeface="Times New Roman"/>
              </a:rPr>
              <a:t>Each team member should participate in at least one meeting per week unless they have an important reason.  </a:t>
            </a:r>
            <a:endParaRPr lang="en-US" sz="2800">
              <a:latin typeface="Nunito"/>
              <a:cs typeface="Nirand Bold"/>
            </a:endParaRPr>
          </a:p>
          <a:p>
            <a:pPr marL="0" indent="0">
              <a:buNone/>
            </a:pPr>
            <a:endParaRPr lang="en-US" sz="2800" b="1">
              <a:solidFill>
                <a:schemeClr val="tx1"/>
              </a:solidFill>
              <a:latin typeface="Nirand Bold"/>
              <a:ea typeface="Calibri"/>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05D1A-5A50-F40A-8753-057742D8A5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94CB49D-323D-22F7-92E6-0E107BBC50B7}"/>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1ECE1D8E-3AF0-EED6-0552-1CD29218CE1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3A5D7FB7-4F9C-7476-A32A-026DDF64FA2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D0143A1A-E3EA-5EA7-61BD-198B35616C94}"/>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858766FC-4AB4-FB61-03D2-E58B8752791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E061E547-5031-F3E6-3E68-50B1E24AC86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DAC6002-8334-5F93-55CC-D785BDEAF55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4776F0D1-36A5-7292-4A73-DEEA7D4A3F65}"/>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3EB8C899-FD04-E861-1CFC-EFFB55578C5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752EB665-6796-EB1F-4EDA-E75DD622C3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DA53B6FE-D798-A61E-F74A-519CAB9BF1FF}"/>
              </a:ext>
            </a:extLst>
          </p:cNvPr>
          <p:cNvSpPr txBox="1"/>
          <p:nvPr/>
        </p:nvSpPr>
        <p:spPr>
          <a:xfrm>
            <a:off x="266430" y="184436"/>
            <a:ext cx="14821170" cy="1220719"/>
          </a:xfrm>
          <a:prstGeom prst="rect">
            <a:avLst/>
          </a:prstGeom>
        </p:spPr>
        <p:txBody>
          <a:bodyPr wrap="square" lIns="0" tIns="0" rIns="0" bIns="0" rtlCol="0" anchor="t">
            <a:spAutoFit/>
          </a:bodyPr>
          <a:lstStyle/>
          <a:p>
            <a:pPr>
              <a:lnSpc>
                <a:spcPts val="10500"/>
              </a:lnSpc>
            </a:pPr>
            <a:r>
              <a:rPr lang="en-US" sz="6000" b="1">
                <a:solidFill>
                  <a:srgbClr val="2E3A44"/>
                </a:solidFill>
                <a:latin typeface="Nirand Bold"/>
                <a:cs typeface="Nirand Bold"/>
                <a:sym typeface="Nirand Bold"/>
              </a:rPr>
              <a:t>User Personas: The Competitive Gamer</a:t>
            </a:r>
            <a:endParaRPr lang="en-US" sz="1200"/>
          </a:p>
        </p:txBody>
      </p:sp>
      <p:pic>
        <p:nvPicPr>
          <p:cNvPr id="1026" name="Picture 2" descr="young  playing game online at home. Gamer  controlling joystick for video game. Teenage girls leisure game in neon light room at home.">
            <a:extLst>
              <a:ext uri="{FF2B5EF4-FFF2-40B4-BE49-F238E27FC236}">
                <a16:creationId xmlns:a16="http://schemas.microsoft.com/office/drawing/2014/main" id="{4E72B9B5-A7A5-ABD1-16CB-CFA9D58D41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7000" y="2263480"/>
            <a:ext cx="7132320" cy="475725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104553BC-665A-B119-579B-9FDC056B0789}"/>
              </a:ext>
            </a:extLst>
          </p:cNvPr>
          <p:cNvSpPr txBox="1"/>
          <p:nvPr/>
        </p:nvSpPr>
        <p:spPr>
          <a:xfrm>
            <a:off x="374890" y="1841953"/>
            <a:ext cx="9763396" cy="6494085"/>
          </a:xfrm>
          <a:prstGeom prst="rect">
            <a:avLst/>
          </a:prstGeom>
          <a:noFill/>
        </p:spPr>
        <p:txBody>
          <a:bodyPr wrap="square" rtlCol="0">
            <a:spAutoFit/>
          </a:bodyPr>
          <a:lstStyle/>
          <a:p>
            <a:r>
              <a:rPr lang="en-US" sz="2000" b="1"/>
              <a:t>Name: </a:t>
            </a:r>
            <a:r>
              <a:rPr lang="en-US" sz="2000"/>
              <a:t>Anna Grace</a:t>
            </a:r>
          </a:p>
          <a:p>
            <a:r>
              <a:rPr lang="en-US" sz="2000" b="1"/>
              <a:t>Age: </a:t>
            </a:r>
            <a:r>
              <a:rPr lang="en-US" sz="2000"/>
              <a:t>28 </a:t>
            </a:r>
          </a:p>
          <a:p>
            <a:r>
              <a:rPr lang="en-US" sz="2000" b="1"/>
              <a:t>Gender: </a:t>
            </a:r>
            <a:r>
              <a:rPr lang="en-US" sz="2000"/>
              <a:t>Female</a:t>
            </a:r>
          </a:p>
          <a:p>
            <a:r>
              <a:rPr lang="en-US" sz="2000" b="1"/>
              <a:t>Occupation: </a:t>
            </a:r>
            <a:r>
              <a:rPr lang="en-US" sz="2000"/>
              <a:t>Game Developer &amp; Twitch Streamer</a:t>
            </a:r>
          </a:p>
          <a:p>
            <a:r>
              <a:rPr lang="en-US" sz="2000"/>
              <a:t>Anna is a season game developer with a solid fan base, that enjoys playing games in her free time, specifically fighting, first-person shooters (FPS), and racing games. She’s often searching for new and exciting games that have varying difficult levels and unique features that keeps players engaged. </a:t>
            </a:r>
          </a:p>
          <a:p>
            <a:endParaRPr lang="en-US" sz="2000"/>
          </a:p>
          <a:p>
            <a:r>
              <a:rPr lang="en-US" sz="2000" b="1"/>
              <a:t>Challenges:</a:t>
            </a:r>
          </a:p>
          <a:p>
            <a:pPr marL="285750" indent="-285750">
              <a:buFont typeface="Arial" panose="020B0604020202020204" pitchFamily="34" charset="0"/>
              <a:buChar char="•"/>
            </a:pPr>
            <a:r>
              <a:rPr lang="en-US" sz="2000"/>
              <a:t>Tired of playing the same popular titles, with reoccurring characters and stories </a:t>
            </a:r>
          </a:p>
          <a:p>
            <a:pPr marL="285750" indent="-285750">
              <a:buFont typeface="Arial" panose="020B0604020202020204" pitchFamily="34" charset="0"/>
              <a:buChar char="•"/>
            </a:pPr>
            <a:r>
              <a:rPr lang="en-US" sz="2000"/>
              <a:t>Wants to find new games developed by small teams to stream for her community</a:t>
            </a:r>
          </a:p>
          <a:p>
            <a:endParaRPr lang="en-US" sz="2000"/>
          </a:p>
          <a:p>
            <a:r>
              <a:rPr lang="en-US" sz="2000" b="1"/>
              <a:t>Goals:</a:t>
            </a:r>
          </a:p>
          <a:p>
            <a:pPr marL="285750" indent="-285750">
              <a:buFont typeface="Arial" panose="020B0604020202020204" pitchFamily="34" charset="0"/>
              <a:buChar char="•"/>
            </a:pPr>
            <a:r>
              <a:rPr lang="en-US" sz="2000"/>
              <a:t>She enjoys playing games and learning different mechanics</a:t>
            </a:r>
          </a:p>
          <a:p>
            <a:pPr marL="285750" indent="-285750">
              <a:buFont typeface="Arial" panose="020B0604020202020204" pitchFamily="34" charset="0"/>
              <a:buChar char="•"/>
            </a:pPr>
            <a:r>
              <a:rPr lang="en-US" sz="2000"/>
              <a:t>Wants to explore new games with AI elements</a:t>
            </a:r>
          </a:p>
          <a:p>
            <a:pPr marL="285750" indent="-285750">
              <a:buFont typeface="Arial" panose="020B0604020202020204" pitchFamily="34" charset="0"/>
              <a:buChar char="•"/>
            </a:pPr>
            <a:r>
              <a:rPr lang="en-US" sz="2000"/>
              <a:t>Seeks a game that can be replayed several times</a:t>
            </a:r>
          </a:p>
          <a:p>
            <a:endParaRPr lang="en-US"/>
          </a:p>
          <a:p>
            <a:r>
              <a:rPr lang="en-US" sz="2000" b="1"/>
              <a:t>Quote:</a:t>
            </a:r>
          </a:p>
          <a:p>
            <a:pPr algn="ctr"/>
            <a:r>
              <a:rPr lang="en-US" b="1"/>
              <a:t>“ I just want to entertain my community and learn new skills; I love a good challenge!”</a:t>
            </a:r>
          </a:p>
          <a:p>
            <a:endParaRPr lang="en-US"/>
          </a:p>
        </p:txBody>
      </p:sp>
    </p:spTree>
    <p:extLst>
      <p:ext uri="{BB962C8B-B14F-4D97-AF65-F5344CB8AC3E}">
        <p14:creationId xmlns:p14="http://schemas.microsoft.com/office/powerpoint/2010/main" val="2274133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F11B0-51B1-3385-7B9A-DB55B8B920D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ABE0109-F030-C433-41A0-E1DBF3C9C3BB}"/>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F43E80DB-F600-03D0-3B7F-8E770E61584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130B6767-AE7E-EAA0-054D-703AA0E556D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C978C32-A305-82EA-5A5F-DA14976463EB}"/>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39821939-6B92-6B2D-F1ED-FB17D26A2D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6C4EC1EE-1155-A5F0-A2F0-044E5ED861A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D1E0DB7B-52FD-0324-C076-23A2258523D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7A64622-120D-9095-74D1-BD81BCF6BA2D}"/>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B5B22FFA-4EA1-32FF-F33D-514031915AE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B13DA58-D448-6AC8-C4F5-B4949AC32CE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507DE265-3B2C-57D2-4FB9-DC2978F33EAA}"/>
              </a:ext>
            </a:extLst>
          </p:cNvPr>
          <p:cNvSpPr txBox="1"/>
          <p:nvPr/>
        </p:nvSpPr>
        <p:spPr>
          <a:xfrm>
            <a:off x="266430" y="184436"/>
            <a:ext cx="15964170" cy="1241750"/>
          </a:xfrm>
          <a:prstGeom prst="rect">
            <a:avLst/>
          </a:prstGeom>
        </p:spPr>
        <p:txBody>
          <a:bodyPr wrap="square" lIns="0" tIns="0" rIns="0" bIns="0" rtlCol="0" anchor="t">
            <a:spAutoFit/>
          </a:bodyPr>
          <a:lstStyle/>
          <a:p>
            <a:pPr>
              <a:lnSpc>
                <a:spcPts val="10500"/>
              </a:lnSpc>
            </a:pPr>
            <a:r>
              <a:rPr lang="en-US" sz="6600" b="1">
                <a:solidFill>
                  <a:srgbClr val="2E3A44"/>
                </a:solidFill>
                <a:latin typeface="Nirand Bold"/>
                <a:cs typeface="Nirand Bold"/>
                <a:sym typeface="Nirand Bold"/>
              </a:rPr>
              <a:t>User Personas: The Button Smasher</a:t>
            </a:r>
            <a:endParaRPr lang="en-US" sz="1400"/>
          </a:p>
        </p:txBody>
      </p:sp>
      <p:sp>
        <p:nvSpPr>
          <p:cNvPr id="15" name="TextBox 14">
            <a:extLst>
              <a:ext uri="{FF2B5EF4-FFF2-40B4-BE49-F238E27FC236}">
                <a16:creationId xmlns:a16="http://schemas.microsoft.com/office/drawing/2014/main" id="{3A337FDC-4F45-586A-7EF5-7C5429A76B52}"/>
              </a:ext>
            </a:extLst>
          </p:cNvPr>
          <p:cNvSpPr txBox="1"/>
          <p:nvPr/>
        </p:nvSpPr>
        <p:spPr>
          <a:xfrm>
            <a:off x="295004" y="2354173"/>
            <a:ext cx="9763396" cy="6832640"/>
          </a:xfrm>
          <a:prstGeom prst="rect">
            <a:avLst/>
          </a:prstGeom>
          <a:noFill/>
        </p:spPr>
        <p:txBody>
          <a:bodyPr wrap="square" rtlCol="0">
            <a:spAutoFit/>
          </a:bodyPr>
          <a:lstStyle/>
          <a:p>
            <a:r>
              <a:rPr lang="en-US" sz="2000" b="1"/>
              <a:t>Name: </a:t>
            </a:r>
            <a:r>
              <a:rPr lang="en-US" sz="2000"/>
              <a:t>Jordan Carter</a:t>
            </a:r>
          </a:p>
          <a:p>
            <a:r>
              <a:rPr lang="en-US" sz="2000" b="1"/>
              <a:t>Age: </a:t>
            </a:r>
            <a:r>
              <a:rPr lang="en-US" sz="2000"/>
              <a:t>19</a:t>
            </a:r>
          </a:p>
          <a:p>
            <a:r>
              <a:rPr lang="en-US" sz="2000" b="1"/>
              <a:t>Gender: </a:t>
            </a:r>
            <a:r>
              <a:rPr lang="en-US" sz="2000"/>
              <a:t>Male</a:t>
            </a:r>
          </a:p>
          <a:p>
            <a:r>
              <a:rPr lang="en-US" sz="2000" b="1"/>
              <a:t>Occupation: </a:t>
            </a:r>
            <a:r>
              <a:rPr lang="en-US" sz="2000"/>
              <a:t>Undergraduate Student and Student Athlete</a:t>
            </a:r>
            <a:endParaRPr lang="en-US" sz="2000" b="1"/>
          </a:p>
          <a:p>
            <a:endParaRPr lang="en-US" sz="2000" b="1"/>
          </a:p>
          <a:p>
            <a:r>
              <a:rPr lang="en-US" sz="2000"/>
              <a:t>Jordan is a busy student athlete studying animation, that loves to play games on his free time on the weekends or while hanging out with friends. He loves playing games with lots of action, unique characters, and prefers to not memorize combos but just plays for fun, not to win. </a:t>
            </a:r>
          </a:p>
          <a:p>
            <a:endParaRPr lang="en-US" sz="2000"/>
          </a:p>
          <a:p>
            <a:r>
              <a:rPr lang="en-US" sz="2000" b="1"/>
              <a:t>Challenges:</a:t>
            </a:r>
          </a:p>
          <a:p>
            <a:pPr marL="285750" indent="-285750">
              <a:buFont typeface="Arial" panose="020B0604020202020204" pitchFamily="34" charset="0"/>
              <a:buChar char="•"/>
            </a:pPr>
            <a:r>
              <a:rPr lang="en-US" sz="2000"/>
              <a:t>Complex inputs and combinations makes gameplay frustrating</a:t>
            </a:r>
          </a:p>
          <a:p>
            <a:pPr marL="285750" indent="-285750">
              <a:buFont typeface="Arial" panose="020B0604020202020204" pitchFamily="34" charset="0"/>
              <a:buChar char="•"/>
            </a:pPr>
            <a:r>
              <a:rPr lang="en-US" sz="2000"/>
              <a:t>Long or vague tutorials</a:t>
            </a:r>
          </a:p>
          <a:p>
            <a:endParaRPr lang="en-US" sz="2000" b="1"/>
          </a:p>
          <a:p>
            <a:r>
              <a:rPr lang="en-US" sz="2000" b="1"/>
              <a:t>Goals:</a:t>
            </a:r>
          </a:p>
          <a:p>
            <a:pPr marL="285750" indent="-285750">
              <a:buFont typeface="Arial" panose="020B0604020202020204" pitchFamily="34" charset="0"/>
              <a:buChar char="•"/>
            </a:pPr>
            <a:r>
              <a:rPr lang="en-US" sz="2000"/>
              <a:t>Have fun solo or with friends</a:t>
            </a:r>
          </a:p>
          <a:p>
            <a:pPr marL="285750" indent="-285750">
              <a:buFont typeface="Arial" panose="020B0604020202020204" pitchFamily="34" charset="0"/>
              <a:buChar char="•"/>
            </a:pPr>
            <a:r>
              <a:rPr lang="en-US" sz="2000"/>
              <a:t>Win occasionally, or access to varying difficulties</a:t>
            </a:r>
          </a:p>
          <a:p>
            <a:pPr marL="285750" indent="-285750">
              <a:buFont typeface="Arial" panose="020B0604020202020204" pitchFamily="34" charset="0"/>
              <a:buChar char="•"/>
            </a:pPr>
            <a:endParaRPr lang="en-US" sz="2000"/>
          </a:p>
          <a:p>
            <a:r>
              <a:rPr lang="en-US" sz="2000" b="1"/>
              <a:t>Quote:</a:t>
            </a:r>
          </a:p>
          <a:p>
            <a:pPr algn="ctr"/>
            <a:r>
              <a:rPr lang="en-US" sz="2000" b="1"/>
              <a:t>“ I skip tutorials, I just want to have mindless fun!”</a:t>
            </a:r>
          </a:p>
          <a:p>
            <a:endParaRPr lang="en-US" sz="2000"/>
          </a:p>
          <a:p>
            <a:endParaRPr lang="en-US"/>
          </a:p>
        </p:txBody>
      </p:sp>
      <p:pic>
        <p:nvPicPr>
          <p:cNvPr id="2050" name="Picture 2" descr="Young adult winning online video games tournament on pc, streaming action gameplay with multiple players on internet. Male gamer playing shooting competition and feeling happy about win.">
            <a:extLst>
              <a:ext uri="{FF2B5EF4-FFF2-40B4-BE49-F238E27FC236}">
                <a16:creationId xmlns:a16="http://schemas.microsoft.com/office/drawing/2014/main" id="{3C0531D9-E40C-107C-7B06-D2638D2F6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45313" y="2823050"/>
            <a:ext cx="6862702" cy="4577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0777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909BFF-AB49-12DE-5405-326ACA15C91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FD8CBF-4428-5C9E-5263-1FAFA9FF5374}"/>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0C27F73D-C36B-6EE8-957C-52118B4886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48AE9BB3-C6B4-9FDE-8457-84EC7DD9A2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4FDC122-6107-01F4-0512-142A4D4A7434}"/>
              </a:ext>
            </a:extLst>
          </p:cNvPr>
          <p:cNvGrpSpPr/>
          <p:nvPr/>
        </p:nvGrpSpPr>
        <p:grpSpPr>
          <a:xfrm>
            <a:off x="-4437604" y="3967038"/>
            <a:ext cx="8028675" cy="8028675"/>
            <a:chOff x="0" y="0"/>
            <a:chExt cx="812800" cy="812800"/>
          </a:xfrm>
        </p:grpSpPr>
        <p:sp>
          <p:nvSpPr>
            <p:cNvPr id="6" name="Freeform 6">
              <a:extLst>
                <a:ext uri="{FF2B5EF4-FFF2-40B4-BE49-F238E27FC236}">
                  <a16:creationId xmlns:a16="http://schemas.microsoft.com/office/drawing/2014/main" id="{8D75D60D-3BC6-118F-E0AC-303A14510CC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9A8A23E5-73A4-B89D-910E-F2D3FCEBFCE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2DA5728-64AE-7781-FE9E-7D7E8FD4269E}"/>
              </a:ext>
            </a:extLst>
          </p:cNvPr>
          <p:cNvSpPr/>
          <p:nvPr/>
        </p:nvSpPr>
        <p:spPr>
          <a:xfrm>
            <a:off x="1028700" y="91821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0F1CA2E3-8E70-6D0C-D31A-0D4ABD927527}"/>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47C1A4C8-9599-9C48-4496-9BC5C21A8D6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7A3C499-FE66-F2BF-FFC6-B22002036D1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8">
            <a:extLst>
              <a:ext uri="{FF2B5EF4-FFF2-40B4-BE49-F238E27FC236}">
                <a16:creationId xmlns:a16="http://schemas.microsoft.com/office/drawing/2014/main" id="{62A67D40-D6C1-D9CA-359A-E91163EB3DDA}"/>
              </a:ext>
            </a:extLst>
          </p:cNvPr>
          <p:cNvSpPr txBox="1"/>
          <p:nvPr/>
        </p:nvSpPr>
        <p:spPr>
          <a:xfrm>
            <a:off x="266430" y="184436"/>
            <a:ext cx="14821170" cy="1220719"/>
          </a:xfrm>
          <a:prstGeom prst="rect">
            <a:avLst/>
          </a:prstGeom>
        </p:spPr>
        <p:txBody>
          <a:bodyPr wrap="square" lIns="0" tIns="0" rIns="0" bIns="0" rtlCol="0" anchor="t">
            <a:spAutoFit/>
          </a:bodyPr>
          <a:lstStyle/>
          <a:p>
            <a:pPr>
              <a:lnSpc>
                <a:spcPts val="10500"/>
              </a:lnSpc>
            </a:pPr>
            <a:r>
              <a:rPr lang="en-US" sz="6000" b="1">
                <a:solidFill>
                  <a:srgbClr val="2E3A44"/>
                </a:solidFill>
                <a:latin typeface="Nirand Bold"/>
                <a:cs typeface="Nirand Bold"/>
                <a:sym typeface="Nirand Bold"/>
              </a:rPr>
              <a:t>User Personas: The Lore Explorer</a:t>
            </a:r>
            <a:endParaRPr lang="en-US" sz="1200"/>
          </a:p>
        </p:txBody>
      </p:sp>
      <p:sp>
        <p:nvSpPr>
          <p:cNvPr id="15" name="TextBox 14">
            <a:extLst>
              <a:ext uri="{FF2B5EF4-FFF2-40B4-BE49-F238E27FC236}">
                <a16:creationId xmlns:a16="http://schemas.microsoft.com/office/drawing/2014/main" id="{1BD504FD-24AE-86FA-6E36-09A287B2D0CD}"/>
              </a:ext>
            </a:extLst>
          </p:cNvPr>
          <p:cNvSpPr txBox="1"/>
          <p:nvPr/>
        </p:nvSpPr>
        <p:spPr>
          <a:xfrm>
            <a:off x="419155" y="2019568"/>
            <a:ext cx="9763396" cy="6247864"/>
          </a:xfrm>
          <a:prstGeom prst="rect">
            <a:avLst/>
          </a:prstGeom>
          <a:noFill/>
        </p:spPr>
        <p:txBody>
          <a:bodyPr wrap="square" rtlCol="0">
            <a:spAutoFit/>
          </a:bodyPr>
          <a:lstStyle/>
          <a:p>
            <a:r>
              <a:rPr lang="en-US" sz="2000" b="1"/>
              <a:t>Name: </a:t>
            </a:r>
            <a:r>
              <a:rPr lang="en-US" sz="2000"/>
              <a:t>Dylan Taylor</a:t>
            </a:r>
          </a:p>
          <a:p>
            <a:r>
              <a:rPr lang="en-US" sz="2000" b="1"/>
              <a:t>Age: </a:t>
            </a:r>
            <a:r>
              <a:rPr lang="en-US" sz="2000"/>
              <a:t>12</a:t>
            </a:r>
          </a:p>
          <a:p>
            <a:r>
              <a:rPr lang="en-US" sz="2000" b="1"/>
              <a:t>Gender: </a:t>
            </a:r>
            <a:r>
              <a:rPr lang="en-US" sz="2000"/>
              <a:t>Male</a:t>
            </a:r>
          </a:p>
          <a:p>
            <a:r>
              <a:rPr lang="en-US" sz="2000" b="1"/>
              <a:t>Occupation: </a:t>
            </a:r>
            <a:r>
              <a:rPr lang="en-US" sz="2000"/>
              <a:t>Middle School Student</a:t>
            </a:r>
          </a:p>
          <a:p>
            <a:endParaRPr lang="en-US" sz="2000"/>
          </a:p>
          <a:p>
            <a:r>
              <a:rPr lang="en-US" sz="2000"/>
              <a:t>Dylan enjoys playing games after school with friends, family, or by himself, and specifically enjoys games that are action-packed. He seeks out games that provide a good challenge, has lots of enemies, and visual stimulation. He aspires to be a game developer and enjoys learning how to make 2D games during his video game club meetings.</a:t>
            </a:r>
          </a:p>
          <a:p>
            <a:endParaRPr lang="en-US" sz="2000"/>
          </a:p>
          <a:p>
            <a:r>
              <a:rPr lang="en-US" sz="2000" b="1"/>
              <a:t>Challenges:</a:t>
            </a:r>
          </a:p>
          <a:p>
            <a:pPr marL="342900" indent="-342900">
              <a:buFont typeface="Arial" panose="020B0604020202020204" pitchFamily="34" charset="0"/>
              <a:buChar char="•"/>
            </a:pPr>
            <a:r>
              <a:rPr lang="en-US" sz="2000"/>
              <a:t>Hard to find action games that are age appropriate</a:t>
            </a:r>
          </a:p>
          <a:p>
            <a:pPr marL="342900" indent="-342900">
              <a:buFont typeface="Arial" panose="020B0604020202020204" pitchFamily="34" charset="0"/>
              <a:buChar char="•"/>
            </a:pPr>
            <a:r>
              <a:rPr lang="en-US" sz="2000"/>
              <a:t>Wants games with unique enemies</a:t>
            </a:r>
          </a:p>
          <a:p>
            <a:pPr marL="342900" indent="-342900">
              <a:buFont typeface="Arial" panose="020B0604020202020204" pitchFamily="34" charset="0"/>
              <a:buChar char="•"/>
            </a:pPr>
            <a:r>
              <a:rPr lang="en-US" sz="2000"/>
              <a:t>Prefers 2D games</a:t>
            </a:r>
          </a:p>
          <a:p>
            <a:r>
              <a:rPr lang="en-US" sz="2000" b="1"/>
              <a:t>Goals:</a:t>
            </a:r>
          </a:p>
          <a:p>
            <a:pPr marL="285750" indent="-285750">
              <a:buFont typeface="Arial" panose="020B0604020202020204" pitchFamily="34" charset="0"/>
              <a:buChar char="•"/>
            </a:pPr>
            <a:r>
              <a:rPr lang="en-US" sz="2000"/>
              <a:t>Wants to explore new action games</a:t>
            </a:r>
          </a:p>
          <a:p>
            <a:pPr marL="285750" indent="-285750">
              <a:buFont typeface="Arial" panose="020B0604020202020204" pitchFamily="34" charset="0"/>
              <a:buChar char="•"/>
            </a:pPr>
            <a:r>
              <a:rPr lang="en-US" sz="2000"/>
              <a:t>Age-appropriate game with visual stimulation</a:t>
            </a:r>
          </a:p>
          <a:p>
            <a:pPr marL="285750" indent="-285750">
              <a:buFont typeface="Arial" panose="020B0604020202020204" pitchFamily="34" charset="0"/>
              <a:buChar char="•"/>
            </a:pPr>
            <a:endParaRPr lang="en-US" sz="2000"/>
          </a:p>
          <a:p>
            <a:r>
              <a:rPr lang="en-US" sz="2000" b="1"/>
              <a:t>Quote:</a:t>
            </a:r>
          </a:p>
          <a:p>
            <a:pPr algn="ctr"/>
            <a:r>
              <a:rPr lang="en-US" sz="2000" b="1"/>
              <a:t>“ Games are fun when they have a lot of action!”</a:t>
            </a:r>
          </a:p>
        </p:txBody>
      </p:sp>
      <p:pic>
        <p:nvPicPr>
          <p:cNvPr id="3074" name="Picture 2" descr="Professional gamer with headset playing or streaming online video games on computer. Children addicted to entertainment industry.">
            <a:extLst>
              <a:ext uri="{FF2B5EF4-FFF2-40B4-BE49-F238E27FC236}">
                <a16:creationId xmlns:a16="http://schemas.microsoft.com/office/drawing/2014/main" id="{A09595E6-52B8-6FB9-CAE7-D1DC6521F0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7825" y="2596586"/>
            <a:ext cx="6306201" cy="4206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349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2E536-5B31-CBB1-20DB-7E0E253898A5}"/>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22E164C6-EEE4-0E74-28E6-02F7F9A9E93B}"/>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7AB6A474-A361-4ABA-3756-3527DC77AB7E}"/>
              </a:ext>
            </a:extLst>
          </p:cNvPr>
          <p:cNvSpPr txBox="1"/>
          <p:nvPr/>
        </p:nvSpPr>
        <p:spPr>
          <a:xfrm>
            <a:off x="278402" y="2571826"/>
            <a:ext cx="8869772" cy="2569934"/>
          </a:xfrm>
          <a:prstGeom prst="rect">
            <a:avLst/>
          </a:prstGeom>
        </p:spPr>
        <p:txBody>
          <a:bodyPr wrap="square" lIns="0" tIns="0" rIns="0" bIns="0" rtlCol="0" anchor="t">
            <a:spAutoFit/>
          </a:bodyPr>
          <a:lstStyle/>
          <a:p>
            <a:pPr marL="560705" lvl="1" indent="-280035">
              <a:lnSpc>
                <a:spcPct val="150000"/>
              </a:lnSpc>
              <a:buFont typeface="Arial"/>
              <a:buChar char="•"/>
            </a:pPr>
            <a:r>
              <a:rPr lang="en-US" sz="2600">
                <a:solidFill>
                  <a:srgbClr val="2E3A44"/>
                </a:solidFill>
                <a:latin typeface="Nunito"/>
                <a:sym typeface="Nunito"/>
              </a:rPr>
              <a:t>Move Forward: Player advances toward the opponent in the right direction using the "D" or "Right" arrow keys</a:t>
            </a:r>
            <a:endParaRPr lang="en-US"/>
          </a:p>
          <a:p>
            <a:pPr marL="280670" lvl="1">
              <a:lnSpc>
                <a:spcPts val="3640"/>
              </a:lnSpc>
            </a:pPr>
            <a:endParaRPr lang="en-US" sz="2600">
              <a:solidFill>
                <a:srgbClr val="2E3A44"/>
              </a:solidFill>
              <a:latin typeface="Nunito"/>
            </a:endParaRPr>
          </a:p>
          <a:p>
            <a:pPr marL="560705" lvl="1" indent="-280035">
              <a:lnSpc>
                <a:spcPts val="3640"/>
              </a:lnSpc>
              <a:buFont typeface="Arial"/>
              <a:buChar char="•"/>
            </a:pPr>
            <a:r>
              <a:rPr lang="en-US" sz="2600">
                <a:solidFill>
                  <a:srgbClr val="2E3A44"/>
                </a:solidFill>
                <a:latin typeface="Nunito"/>
              </a:rPr>
              <a:t>More Backward: Player retreats from opponent towards the left direction using the "A" or "Left" arrow keys</a:t>
            </a:r>
          </a:p>
        </p:txBody>
      </p:sp>
      <p:sp>
        <p:nvSpPr>
          <p:cNvPr id="14" name="TextBox 14">
            <a:extLst>
              <a:ext uri="{FF2B5EF4-FFF2-40B4-BE49-F238E27FC236}">
                <a16:creationId xmlns:a16="http://schemas.microsoft.com/office/drawing/2014/main" id="{904B2C38-1953-CDCC-FA6D-0EAD55339F07}"/>
              </a:ext>
            </a:extLst>
          </p:cNvPr>
          <p:cNvSpPr txBox="1"/>
          <p:nvPr/>
        </p:nvSpPr>
        <p:spPr>
          <a:xfrm>
            <a:off x="3278777" y="6286563"/>
            <a:ext cx="12498796" cy="1150315"/>
          </a:xfrm>
          <a:prstGeom prst="rect">
            <a:avLst/>
          </a:prstGeom>
        </p:spPr>
        <p:txBody>
          <a:bodyPr wrap="square" lIns="0" tIns="0" rIns="0" bIns="0" rtlCol="0" anchor="t">
            <a:spAutoFit/>
          </a:bodyPr>
          <a:lstStyle/>
          <a:p>
            <a:pPr marL="560705" lvl="1" indent="-280035">
              <a:lnSpc>
                <a:spcPct val="150000"/>
              </a:lnSpc>
              <a:buFont typeface="Arial"/>
              <a:buChar char="•"/>
            </a:pPr>
            <a:r>
              <a:rPr lang="en-US" sz="2600">
                <a:solidFill>
                  <a:srgbClr val="2E3A44"/>
                </a:solidFill>
                <a:latin typeface="Nunito"/>
              </a:rPr>
              <a:t>Defensive action intended to reduce or prevent incoming damage from attacks</a:t>
            </a:r>
            <a:endParaRPr lang="en-US"/>
          </a:p>
          <a:p>
            <a:pPr marL="560705" lvl="1" indent="-280035">
              <a:lnSpc>
                <a:spcPct val="150000"/>
              </a:lnSpc>
              <a:buFont typeface="Arial"/>
              <a:buChar char="•"/>
            </a:pPr>
            <a:r>
              <a:rPr lang="en-US" sz="2600">
                <a:solidFill>
                  <a:srgbClr val="2E3A44"/>
                </a:solidFill>
                <a:latin typeface="Nunito"/>
              </a:rPr>
              <a:t>Use the Right Mouse Button (RMB) to block attacks</a:t>
            </a:r>
          </a:p>
        </p:txBody>
      </p:sp>
      <p:sp>
        <p:nvSpPr>
          <p:cNvPr id="15" name="TextBox 15">
            <a:extLst>
              <a:ext uri="{FF2B5EF4-FFF2-40B4-BE49-F238E27FC236}">
                <a16:creationId xmlns:a16="http://schemas.microsoft.com/office/drawing/2014/main" id="{C1F1DFBF-61CB-8570-3EA0-4AD8F7F400FB}"/>
              </a:ext>
            </a:extLst>
          </p:cNvPr>
          <p:cNvSpPr txBox="1"/>
          <p:nvPr/>
        </p:nvSpPr>
        <p:spPr>
          <a:xfrm>
            <a:off x="9525590" y="2571826"/>
            <a:ext cx="8112535" cy="2350643"/>
          </a:xfrm>
          <a:prstGeom prst="rect">
            <a:avLst/>
          </a:prstGeom>
        </p:spPr>
        <p:txBody>
          <a:bodyPr wrap="square" lIns="0" tIns="0" rIns="0" bIns="0" rtlCol="0" anchor="t">
            <a:spAutoFit/>
          </a:bodyPr>
          <a:lstStyle/>
          <a:p>
            <a:pPr marL="560705" lvl="1" indent="-280035">
              <a:lnSpc>
                <a:spcPct val="150000"/>
              </a:lnSpc>
              <a:buFont typeface="Arial"/>
              <a:buChar char="•"/>
            </a:pPr>
            <a:r>
              <a:rPr lang="en-US" sz="2600">
                <a:solidFill>
                  <a:srgbClr val="2E3A44"/>
                </a:solidFill>
                <a:latin typeface="Nunito"/>
              </a:rPr>
              <a:t>Player can do a single or double jump mid-air to evade their opponent's attacks</a:t>
            </a:r>
            <a:endParaRPr lang="en-US"/>
          </a:p>
          <a:p>
            <a:pPr marL="560705" lvl="1" indent="-280035">
              <a:lnSpc>
                <a:spcPct val="150000"/>
              </a:lnSpc>
              <a:buFont typeface="Arial"/>
              <a:buChar char="•"/>
            </a:pPr>
            <a:r>
              <a:rPr lang="en-US" sz="2600">
                <a:solidFill>
                  <a:srgbClr val="2E3A44"/>
                </a:solidFill>
                <a:latin typeface="Nunito"/>
              </a:rPr>
              <a:t>Uses the spacebar to do single or double jumps</a:t>
            </a:r>
          </a:p>
          <a:p>
            <a:pPr marL="1017905" lvl="2" indent="-280035">
              <a:lnSpc>
                <a:spcPct val="150000"/>
              </a:lnSpc>
              <a:buFont typeface="Wingdings"/>
              <a:buChar char="§"/>
            </a:pPr>
            <a:r>
              <a:rPr lang="en-US" sz="2600">
                <a:solidFill>
                  <a:srgbClr val="2E3A44"/>
                </a:solidFill>
                <a:latin typeface="Nunito"/>
              </a:rPr>
              <a:t>Double tap the spacebar to do a double jump</a:t>
            </a:r>
          </a:p>
        </p:txBody>
      </p:sp>
      <p:sp>
        <p:nvSpPr>
          <p:cNvPr id="18" name="TextBox 18">
            <a:extLst>
              <a:ext uri="{FF2B5EF4-FFF2-40B4-BE49-F238E27FC236}">
                <a16:creationId xmlns:a16="http://schemas.microsoft.com/office/drawing/2014/main" id="{29D0C35B-E2C3-1CB1-2C7A-06943AB4A76E}"/>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Inputs </a:t>
            </a:r>
            <a:endParaRPr lang="en-US"/>
          </a:p>
        </p:txBody>
      </p:sp>
      <p:sp>
        <p:nvSpPr>
          <p:cNvPr id="19" name="TextBox 18">
            <a:extLst>
              <a:ext uri="{FF2B5EF4-FFF2-40B4-BE49-F238E27FC236}">
                <a16:creationId xmlns:a16="http://schemas.microsoft.com/office/drawing/2014/main" id="{090DA2AB-6579-89D0-E85A-5A21D25F1F94}"/>
              </a:ext>
            </a:extLst>
          </p:cNvPr>
          <p:cNvSpPr txBox="1"/>
          <p:nvPr/>
        </p:nvSpPr>
        <p:spPr>
          <a:xfrm>
            <a:off x="2443161" y="16859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Horizontal Movement:</a:t>
            </a:r>
            <a:endParaRPr lang="en-US"/>
          </a:p>
        </p:txBody>
      </p:sp>
      <p:sp>
        <p:nvSpPr>
          <p:cNvPr id="21" name="TextBox 20">
            <a:extLst>
              <a:ext uri="{FF2B5EF4-FFF2-40B4-BE49-F238E27FC236}">
                <a16:creationId xmlns:a16="http://schemas.microsoft.com/office/drawing/2014/main" id="{7A5CB7EC-7444-AC36-A91F-F9A924040372}"/>
              </a:ext>
            </a:extLst>
          </p:cNvPr>
          <p:cNvSpPr txBox="1"/>
          <p:nvPr/>
        </p:nvSpPr>
        <p:spPr>
          <a:xfrm>
            <a:off x="10915648" y="16859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algn="ctr"/>
            <a:r>
              <a:rPr lang="en-US" sz="3200" b="1">
                <a:solidFill>
                  <a:schemeClr val="tx1">
                    <a:lumMod val="65000"/>
                    <a:lumOff val="35000"/>
                  </a:schemeClr>
                </a:solidFill>
                <a:latin typeface="Nirand Bold"/>
                <a:cs typeface="Nirand Bold"/>
              </a:rPr>
              <a:t>Vertical Movement:</a:t>
            </a:r>
            <a:endParaRPr lang="en-US"/>
          </a:p>
        </p:txBody>
      </p:sp>
      <p:sp>
        <p:nvSpPr>
          <p:cNvPr id="22" name="TextBox 21">
            <a:extLst>
              <a:ext uri="{FF2B5EF4-FFF2-40B4-BE49-F238E27FC236}">
                <a16:creationId xmlns:a16="http://schemas.microsoft.com/office/drawing/2014/main" id="{46B55350-F271-AA85-A7FB-5A09B4C17267}"/>
              </a:ext>
            </a:extLst>
          </p:cNvPr>
          <p:cNvSpPr txBox="1"/>
          <p:nvPr/>
        </p:nvSpPr>
        <p:spPr>
          <a:xfrm>
            <a:off x="6757985" y="574357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Blocking:</a:t>
            </a:r>
          </a:p>
        </p:txBody>
      </p:sp>
      <p:grpSp>
        <p:nvGrpSpPr>
          <p:cNvPr id="26" name="Group 5">
            <a:extLst>
              <a:ext uri="{FF2B5EF4-FFF2-40B4-BE49-F238E27FC236}">
                <a16:creationId xmlns:a16="http://schemas.microsoft.com/office/drawing/2014/main" id="{05B9DBCA-4C31-4E1C-B70F-9E1CCAB391E2}"/>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7106B5AC-9D9D-DE47-DFE5-656D3A93849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D81F3E74-841D-1264-EE61-38E329A683C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9A271EA2-9535-E9C7-C1DD-48863F803B5C}"/>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8D89B9DA-5729-E59B-374E-88F089B08E2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89B0114E-5667-111F-E93A-454267462A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164374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5007A-86EA-9249-C635-729A014359B7}"/>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7084D24F-AB26-7F1D-107B-00C23AA3634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1BA21CAC-4FEE-BD1E-712C-9463E7C3FBBC}"/>
              </a:ext>
            </a:extLst>
          </p:cNvPr>
          <p:cNvSpPr txBox="1"/>
          <p:nvPr/>
        </p:nvSpPr>
        <p:spPr>
          <a:xfrm>
            <a:off x="1207089" y="2714701"/>
            <a:ext cx="7855360" cy="1750479"/>
          </a:xfrm>
          <a:prstGeom prst="rect">
            <a:avLst/>
          </a:prstGeom>
        </p:spPr>
        <p:txBody>
          <a:bodyPr wrap="square" lIns="0" tIns="0" rIns="0" bIns="0" rtlCol="0" anchor="t">
            <a:spAutoFit/>
          </a:bodyPr>
          <a:lstStyle/>
          <a:p>
            <a:pPr marL="560705" lvl="1" indent="-280035">
              <a:lnSpc>
                <a:spcPct val="150000"/>
              </a:lnSpc>
              <a:buFont typeface="Arial"/>
              <a:buChar char="•"/>
            </a:pPr>
            <a:r>
              <a:rPr lang="en-US" sz="2600">
                <a:solidFill>
                  <a:srgbClr val="2E3A44"/>
                </a:solidFill>
                <a:latin typeface="Nunito"/>
                <a:sym typeface="Nunito"/>
              </a:rPr>
              <a:t>A lower body attack that deals 10 damage when the player's hitbox collides with the opponent</a:t>
            </a:r>
            <a:endParaRPr lang="en-US" sz="2600">
              <a:solidFill>
                <a:srgbClr val="2E3A44"/>
              </a:solidFill>
              <a:latin typeface="Nunito"/>
            </a:endParaRPr>
          </a:p>
          <a:p>
            <a:pPr marL="560705" lvl="1" indent="-280035">
              <a:lnSpc>
                <a:spcPct val="150000"/>
              </a:lnSpc>
              <a:buFont typeface="Arial"/>
              <a:buChar char="•"/>
            </a:pPr>
            <a:r>
              <a:rPr lang="en-US" sz="2600">
                <a:solidFill>
                  <a:srgbClr val="2E3A44"/>
                </a:solidFill>
                <a:latin typeface="Nunito"/>
              </a:rPr>
              <a:t>Press "K" to kick</a:t>
            </a:r>
          </a:p>
        </p:txBody>
      </p:sp>
      <p:sp>
        <p:nvSpPr>
          <p:cNvPr id="14" name="TextBox 14">
            <a:extLst>
              <a:ext uri="{FF2B5EF4-FFF2-40B4-BE49-F238E27FC236}">
                <a16:creationId xmlns:a16="http://schemas.microsoft.com/office/drawing/2014/main" id="{383F91CD-023B-8752-E03E-C12B1B61078D}"/>
              </a:ext>
            </a:extLst>
          </p:cNvPr>
          <p:cNvSpPr txBox="1"/>
          <p:nvPr/>
        </p:nvSpPr>
        <p:spPr>
          <a:xfrm>
            <a:off x="10205915" y="2412844"/>
            <a:ext cx="7855360" cy="2350643"/>
          </a:xfrm>
          <a:prstGeom prst="rect">
            <a:avLst/>
          </a:prstGeom>
        </p:spPr>
        <p:txBody>
          <a:bodyPr wrap="square" lIns="0" tIns="0" rIns="0" bIns="0" rtlCol="0" anchor="t">
            <a:spAutoFit/>
          </a:bodyPr>
          <a:lstStyle/>
          <a:p>
            <a:pPr marL="560705" lvl="1" indent="-280035">
              <a:lnSpc>
                <a:spcPct val="150000"/>
              </a:lnSpc>
              <a:buFont typeface="Arial"/>
              <a:buChar char="•"/>
            </a:pPr>
            <a:r>
              <a:rPr lang="en-US" sz="2600">
                <a:solidFill>
                  <a:srgbClr val="2E3A44"/>
                </a:solidFill>
                <a:latin typeface="Nunito"/>
              </a:rPr>
              <a:t>A defensive crouch that prevents movement while active</a:t>
            </a:r>
            <a:endParaRPr lang="en-US"/>
          </a:p>
          <a:p>
            <a:pPr marL="560705" lvl="1" indent="-280035">
              <a:lnSpc>
                <a:spcPct val="150000"/>
              </a:lnSpc>
              <a:buFont typeface="Arial"/>
              <a:buChar char="•"/>
            </a:pPr>
            <a:r>
              <a:rPr lang="en-US" sz="2600">
                <a:solidFill>
                  <a:srgbClr val="2E3A44"/>
                </a:solidFill>
                <a:latin typeface="Nunito"/>
              </a:rPr>
              <a:t>Cannot be performed while jumping or attacking</a:t>
            </a:r>
          </a:p>
          <a:p>
            <a:pPr marL="560705" lvl="1" indent="-280035">
              <a:lnSpc>
                <a:spcPct val="150000"/>
              </a:lnSpc>
              <a:buFont typeface="Arial"/>
              <a:buChar char="•"/>
            </a:pPr>
            <a:r>
              <a:rPr lang="en-US" sz="2600">
                <a:solidFill>
                  <a:srgbClr val="2E3A44"/>
                </a:solidFill>
                <a:latin typeface="Nunito"/>
              </a:rPr>
              <a:t>Hold C to duck, release to stand</a:t>
            </a:r>
          </a:p>
        </p:txBody>
      </p:sp>
      <p:sp>
        <p:nvSpPr>
          <p:cNvPr id="16" name="TextBox 16">
            <a:extLst>
              <a:ext uri="{FF2B5EF4-FFF2-40B4-BE49-F238E27FC236}">
                <a16:creationId xmlns:a16="http://schemas.microsoft.com/office/drawing/2014/main" id="{E7A1757F-8E5F-F520-8CBC-AB7FF9D0559E}"/>
              </a:ext>
            </a:extLst>
          </p:cNvPr>
          <p:cNvSpPr txBox="1"/>
          <p:nvPr/>
        </p:nvSpPr>
        <p:spPr>
          <a:xfrm>
            <a:off x="3277027" y="5805550"/>
            <a:ext cx="11722673" cy="1646605"/>
          </a:xfrm>
          <a:prstGeom prst="rect">
            <a:avLst/>
          </a:prstGeom>
        </p:spPr>
        <p:txBody>
          <a:bodyPr wrap="square" lIns="0" tIns="0" rIns="0" bIns="0" rtlCol="0" anchor="t">
            <a:spAutoFit/>
          </a:bodyPr>
          <a:lstStyle/>
          <a:p>
            <a:pPr marL="560705" lvl="1" indent="-280035">
              <a:lnSpc>
                <a:spcPct val="150000"/>
              </a:lnSpc>
              <a:buFont typeface="Arial"/>
              <a:buChar char="•"/>
            </a:pPr>
            <a:r>
              <a:rPr lang="en-US" sz="2600">
                <a:solidFill>
                  <a:srgbClr val="2E3A44"/>
                </a:solidFill>
                <a:latin typeface="Nunito"/>
                <a:sym typeface="Nunito"/>
              </a:rPr>
              <a:t>Basic melee attack that deals damage when the player's hitbox collides with the opponent</a:t>
            </a:r>
            <a:endParaRPr lang="en-US"/>
          </a:p>
          <a:p>
            <a:pPr marL="560705" lvl="1" indent="-280035">
              <a:lnSpc>
                <a:spcPts val="3640"/>
              </a:lnSpc>
              <a:buFont typeface="Arial"/>
              <a:buChar char="•"/>
            </a:pPr>
            <a:r>
              <a:rPr lang="en-US" sz="2600">
                <a:solidFill>
                  <a:srgbClr val="2E3A44"/>
                </a:solidFill>
                <a:latin typeface="Nunito"/>
              </a:rPr>
              <a:t>Use the Left Mouse Button (LMB) to throw a punch</a:t>
            </a:r>
          </a:p>
        </p:txBody>
      </p:sp>
      <p:sp>
        <p:nvSpPr>
          <p:cNvPr id="18" name="TextBox 18">
            <a:extLst>
              <a:ext uri="{FF2B5EF4-FFF2-40B4-BE49-F238E27FC236}">
                <a16:creationId xmlns:a16="http://schemas.microsoft.com/office/drawing/2014/main" id="{158D83BE-3722-FB69-DF24-0A000A60CDE1}"/>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Inputs</a:t>
            </a:r>
            <a:endParaRPr lang="en-US"/>
          </a:p>
        </p:txBody>
      </p:sp>
      <p:sp>
        <p:nvSpPr>
          <p:cNvPr id="19" name="TextBox 18">
            <a:extLst>
              <a:ext uri="{FF2B5EF4-FFF2-40B4-BE49-F238E27FC236}">
                <a16:creationId xmlns:a16="http://schemas.microsoft.com/office/drawing/2014/main" id="{45DDDD44-896C-F45C-CCD1-5C6E6CFF45E6}"/>
              </a:ext>
            </a:extLst>
          </p:cNvPr>
          <p:cNvSpPr txBox="1"/>
          <p:nvPr/>
        </p:nvSpPr>
        <p:spPr>
          <a:xfrm>
            <a:off x="2185986" y="1757363"/>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Attacks: Kick</a:t>
            </a:r>
            <a:endParaRPr lang="en-US">
              <a:solidFill>
                <a:schemeClr val="tx1">
                  <a:lumMod val="65000"/>
                  <a:lumOff val="35000"/>
                </a:schemeClr>
              </a:solidFill>
            </a:endParaRPr>
          </a:p>
        </p:txBody>
      </p:sp>
      <p:sp>
        <p:nvSpPr>
          <p:cNvPr id="20" name="TextBox 19">
            <a:extLst>
              <a:ext uri="{FF2B5EF4-FFF2-40B4-BE49-F238E27FC236}">
                <a16:creationId xmlns:a16="http://schemas.microsoft.com/office/drawing/2014/main" id="{131ABF07-EEEE-6062-C747-DD8F4F03A590}"/>
              </a:ext>
            </a:extLst>
          </p:cNvPr>
          <p:cNvSpPr txBox="1"/>
          <p:nvPr/>
        </p:nvSpPr>
        <p:spPr>
          <a:xfrm>
            <a:off x="7378424" y="5148755"/>
            <a:ext cx="3543301" cy="584775"/>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Attacks: Punch</a:t>
            </a:r>
          </a:p>
        </p:txBody>
      </p:sp>
      <p:sp>
        <p:nvSpPr>
          <p:cNvPr id="22" name="TextBox 21">
            <a:extLst>
              <a:ext uri="{FF2B5EF4-FFF2-40B4-BE49-F238E27FC236}">
                <a16:creationId xmlns:a16="http://schemas.microsoft.com/office/drawing/2014/main" id="{126F0AA1-9D54-1A32-969A-ACD1ADAF722E}"/>
              </a:ext>
            </a:extLst>
          </p:cNvPr>
          <p:cNvSpPr txBox="1"/>
          <p:nvPr/>
        </p:nvSpPr>
        <p:spPr>
          <a:xfrm>
            <a:off x="11737261" y="1757198"/>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Defensive: Duck</a:t>
            </a:r>
          </a:p>
        </p:txBody>
      </p:sp>
      <p:grpSp>
        <p:nvGrpSpPr>
          <p:cNvPr id="26" name="Group 5">
            <a:extLst>
              <a:ext uri="{FF2B5EF4-FFF2-40B4-BE49-F238E27FC236}">
                <a16:creationId xmlns:a16="http://schemas.microsoft.com/office/drawing/2014/main" id="{82DF12F8-ED14-48F9-A18B-D394D3BC2C61}"/>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7CD2C2FA-9397-F854-D60C-DB288EDD44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9171FE30-1728-988E-069E-896C7B35F40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89BAD0E6-D31B-7E01-265D-BF4941588979}"/>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505F0982-3D18-7812-3D58-6DC383142E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A9FC8D76-74A4-A7A5-1396-2135F2CCA9A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3959217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E61D5-CE57-D507-3360-3216A893D611}"/>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0BCE64DA-FD6D-5476-5EED-611015B0F59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9C5F6290-3789-3B39-A0FE-1B1FEA9B3E75}"/>
              </a:ext>
            </a:extLst>
          </p:cNvPr>
          <p:cNvSpPr txBox="1"/>
          <p:nvPr/>
        </p:nvSpPr>
        <p:spPr>
          <a:xfrm>
            <a:off x="1035639" y="2800426"/>
            <a:ext cx="7526748" cy="3100849"/>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sym typeface="Nunito"/>
              </a:rPr>
              <a:t>Triggered once an attack connects</a:t>
            </a:r>
            <a:endParaRPr lang="en-US" sz="2600">
              <a:solidFill>
                <a:srgbClr val="2E3A44"/>
              </a:solidFill>
              <a:latin typeface="Nunito"/>
            </a:endParaRPr>
          </a:p>
          <a:p>
            <a:pPr marL="560705" lvl="1" indent="-280035">
              <a:lnSpc>
                <a:spcPct val="200000"/>
              </a:lnSpc>
              <a:buFont typeface="Arial"/>
              <a:buChar char="•"/>
            </a:pPr>
            <a:r>
              <a:rPr lang="en-US" sz="2600">
                <a:solidFill>
                  <a:srgbClr val="2E3A44"/>
                </a:solidFill>
                <a:latin typeface="Nunito"/>
              </a:rPr>
              <a:t>Characters deals 10 damage to opponent</a:t>
            </a:r>
          </a:p>
          <a:p>
            <a:pPr marL="560705" lvl="1" indent="-280035">
              <a:lnSpc>
                <a:spcPct val="200000"/>
              </a:lnSpc>
              <a:buFont typeface="Arial"/>
              <a:buChar char="•"/>
            </a:pPr>
            <a:r>
              <a:rPr lang="en-US" sz="2600">
                <a:solidFill>
                  <a:srgbClr val="2E3A44"/>
                </a:solidFill>
                <a:latin typeface="Nunito"/>
              </a:rPr>
              <a:t>Opponent briefly enters a hit reaction state once hit</a:t>
            </a:r>
          </a:p>
        </p:txBody>
      </p:sp>
      <p:sp>
        <p:nvSpPr>
          <p:cNvPr id="15" name="TextBox 15">
            <a:extLst>
              <a:ext uri="{FF2B5EF4-FFF2-40B4-BE49-F238E27FC236}">
                <a16:creationId xmlns:a16="http://schemas.microsoft.com/office/drawing/2014/main" id="{F0F0A6C5-3C72-0086-CC0F-63B4EA8E9B8C}"/>
              </a:ext>
            </a:extLst>
          </p:cNvPr>
          <p:cNvSpPr txBox="1"/>
          <p:nvPr/>
        </p:nvSpPr>
        <p:spPr>
          <a:xfrm>
            <a:off x="9525590" y="2800426"/>
            <a:ext cx="7869648" cy="3100849"/>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rPr>
              <a:t>Triggered once an attack connects</a:t>
            </a:r>
            <a:endParaRPr lang="en-US"/>
          </a:p>
          <a:p>
            <a:pPr marL="560705" lvl="1" indent="-280035">
              <a:lnSpc>
                <a:spcPct val="200000"/>
              </a:lnSpc>
              <a:buFont typeface="Arial"/>
              <a:buChar char="•"/>
            </a:pPr>
            <a:r>
              <a:rPr lang="en-US" sz="2600">
                <a:solidFill>
                  <a:srgbClr val="2E3A44"/>
                </a:solidFill>
                <a:latin typeface="Nunito"/>
              </a:rPr>
              <a:t>Character deals 10 damage to opponent</a:t>
            </a:r>
          </a:p>
          <a:p>
            <a:pPr marL="560705" lvl="1" indent="-280035">
              <a:lnSpc>
                <a:spcPct val="200000"/>
              </a:lnSpc>
              <a:buFont typeface="Arial"/>
              <a:buChar char="•"/>
            </a:pPr>
            <a:r>
              <a:rPr lang="en-US" sz="2600">
                <a:solidFill>
                  <a:srgbClr val="2E3A44"/>
                </a:solidFill>
                <a:latin typeface="Nunito"/>
              </a:rPr>
              <a:t>Opponent briefly enters a hit reaction state once hit</a:t>
            </a:r>
          </a:p>
        </p:txBody>
      </p:sp>
      <p:sp>
        <p:nvSpPr>
          <p:cNvPr id="18" name="TextBox 18">
            <a:extLst>
              <a:ext uri="{FF2B5EF4-FFF2-40B4-BE49-F238E27FC236}">
                <a16:creationId xmlns:a16="http://schemas.microsoft.com/office/drawing/2014/main" id="{E8EA9F77-CBD3-CF20-B8C4-A9AB49A8F3E9}"/>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Attack Actions</a:t>
            </a:r>
            <a:endParaRPr lang="en-US"/>
          </a:p>
        </p:txBody>
      </p:sp>
      <p:sp>
        <p:nvSpPr>
          <p:cNvPr id="19" name="TextBox 18">
            <a:extLst>
              <a:ext uri="{FF2B5EF4-FFF2-40B4-BE49-F238E27FC236}">
                <a16:creationId xmlns:a16="http://schemas.microsoft.com/office/drawing/2014/main" id="{0EDC26EB-252D-C175-EF84-C7EBFEF34DED}"/>
              </a:ext>
            </a:extLst>
          </p:cNvPr>
          <p:cNvSpPr txBox="1"/>
          <p:nvPr/>
        </p:nvSpPr>
        <p:spPr>
          <a:xfrm>
            <a:off x="1943099" y="16859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Punching</a:t>
            </a:r>
            <a:endParaRPr lang="en-US"/>
          </a:p>
        </p:txBody>
      </p:sp>
      <p:sp>
        <p:nvSpPr>
          <p:cNvPr id="21" name="TextBox 20">
            <a:extLst>
              <a:ext uri="{FF2B5EF4-FFF2-40B4-BE49-F238E27FC236}">
                <a16:creationId xmlns:a16="http://schemas.microsoft.com/office/drawing/2014/main" id="{11C3CCC6-3FF3-8C44-DCAD-ACE0FEEF6604}"/>
              </a:ext>
            </a:extLst>
          </p:cNvPr>
          <p:cNvSpPr txBox="1"/>
          <p:nvPr/>
        </p:nvSpPr>
        <p:spPr>
          <a:xfrm>
            <a:off x="10844210" y="168592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Kicking</a:t>
            </a:r>
            <a:endParaRPr lang="en-US"/>
          </a:p>
        </p:txBody>
      </p:sp>
      <p:grpSp>
        <p:nvGrpSpPr>
          <p:cNvPr id="26" name="Group 5">
            <a:extLst>
              <a:ext uri="{FF2B5EF4-FFF2-40B4-BE49-F238E27FC236}">
                <a16:creationId xmlns:a16="http://schemas.microsoft.com/office/drawing/2014/main" id="{A6880E88-8C05-FE23-C075-BBAFEF294561}"/>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4C974807-03EF-F408-0AB4-1E49D7D5B8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E35247A9-7916-6031-A6E8-253EF085550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F5CA074E-A644-0D5C-4D8E-D247E276FB21}"/>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CB1B3CF3-C23A-677D-1A6D-CF70F359A85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4A42E584-B420-23A7-2F16-F93EC7092FE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5689487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5AB78-F0ED-FD23-4660-FF374E1133BD}"/>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0F469D80-8C04-C131-2D5E-F3E2566E138D}"/>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C63E006F-3FCB-A7FA-C5D1-359158925CD3}"/>
              </a:ext>
            </a:extLst>
          </p:cNvPr>
          <p:cNvSpPr txBox="1"/>
          <p:nvPr/>
        </p:nvSpPr>
        <p:spPr>
          <a:xfrm>
            <a:off x="578439" y="3100464"/>
            <a:ext cx="7526748" cy="2300630"/>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sym typeface="Nunito"/>
              </a:rPr>
              <a:t>Triggered when player holds block input</a:t>
            </a:r>
            <a:endParaRPr lang="en-US" sz="2600">
              <a:solidFill>
                <a:srgbClr val="2E3A44"/>
              </a:solidFill>
              <a:latin typeface="Nunito"/>
            </a:endParaRPr>
          </a:p>
          <a:p>
            <a:pPr marL="560705" lvl="1" indent="-280035">
              <a:lnSpc>
                <a:spcPct val="200000"/>
              </a:lnSpc>
              <a:buFont typeface="Arial"/>
              <a:buChar char="•"/>
            </a:pPr>
            <a:r>
              <a:rPr lang="en-US" sz="2600">
                <a:solidFill>
                  <a:srgbClr val="2E3A44"/>
                </a:solidFill>
                <a:latin typeface="Nunito"/>
              </a:rPr>
              <a:t>Negates incoming  damage from  attacks</a:t>
            </a:r>
          </a:p>
          <a:p>
            <a:pPr marL="560705" lvl="1" indent="-280035">
              <a:lnSpc>
                <a:spcPct val="200000"/>
              </a:lnSpc>
              <a:buFont typeface="Arial"/>
              <a:buChar char="•"/>
            </a:pPr>
            <a:r>
              <a:rPr lang="en-US" sz="2600">
                <a:solidFill>
                  <a:srgbClr val="2E3A44"/>
                </a:solidFill>
                <a:latin typeface="Nunito"/>
              </a:rPr>
              <a:t>Character enters blocking state</a:t>
            </a:r>
          </a:p>
        </p:txBody>
      </p:sp>
      <p:sp>
        <p:nvSpPr>
          <p:cNvPr id="15" name="TextBox 15">
            <a:extLst>
              <a:ext uri="{FF2B5EF4-FFF2-40B4-BE49-F238E27FC236}">
                <a16:creationId xmlns:a16="http://schemas.microsoft.com/office/drawing/2014/main" id="{77BFA8BD-CE3F-2A69-D5FA-79EEC1E1126A}"/>
              </a:ext>
            </a:extLst>
          </p:cNvPr>
          <p:cNvSpPr txBox="1"/>
          <p:nvPr/>
        </p:nvSpPr>
        <p:spPr>
          <a:xfrm>
            <a:off x="9139827" y="2886151"/>
            <a:ext cx="7869648" cy="3901068"/>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rPr>
              <a:t>Triggered when player holds duck input</a:t>
            </a:r>
          </a:p>
          <a:p>
            <a:pPr marL="560705" lvl="1" indent="-280035">
              <a:lnSpc>
                <a:spcPct val="200000"/>
              </a:lnSpc>
              <a:buFont typeface="Arial"/>
              <a:buChar char="•"/>
            </a:pPr>
            <a:r>
              <a:rPr lang="en-US" sz="2600">
                <a:solidFill>
                  <a:srgbClr val="2E3A44"/>
                </a:solidFill>
                <a:latin typeface="Nunito"/>
              </a:rPr>
              <a:t>Character enters ducking state</a:t>
            </a:r>
          </a:p>
          <a:p>
            <a:pPr marL="560705" lvl="1" indent="-280035">
              <a:lnSpc>
                <a:spcPct val="200000"/>
              </a:lnSpc>
              <a:buFont typeface="Arial"/>
              <a:buChar char="•"/>
            </a:pPr>
            <a:r>
              <a:rPr lang="en-US" sz="2600">
                <a:solidFill>
                  <a:srgbClr val="2E3A44"/>
                </a:solidFill>
                <a:latin typeface="Nunito"/>
              </a:rPr>
              <a:t>Prevents movement while active</a:t>
            </a:r>
          </a:p>
          <a:p>
            <a:pPr marL="560705" lvl="1" indent="-280035">
              <a:lnSpc>
                <a:spcPct val="200000"/>
              </a:lnSpc>
              <a:buFont typeface="Arial"/>
              <a:buChar char="•"/>
            </a:pPr>
            <a:r>
              <a:rPr lang="en-US" sz="2600">
                <a:solidFill>
                  <a:srgbClr val="2E3A44"/>
                </a:solidFill>
                <a:latin typeface="Nunito"/>
              </a:rPr>
              <a:t>Cannot be performed while jumping or attacking</a:t>
            </a:r>
          </a:p>
          <a:p>
            <a:pPr marL="560705" lvl="1" indent="-280035">
              <a:lnSpc>
                <a:spcPct val="200000"/>
              </a:lnSpc>
              <a:buFont typeface="Arial"/>
              <a:buChar char="•"/>
            </a:pPr>
            <a:endParaRPr lang="en-US" sz="2600">
              <a:solidFill>
                <a:srgbClr val="2E3A44"/>
              </a:solidFill>
              <a:latin typeface="Nunito"/>
            </a:endParaRPr>
          </a:p>
        </p:txBody>
      </p:sp>
      <p:sp>
        <p:nvSpPr>
          <p:cNvPr id="18" name="TextBox 18">
            <a:extLst>
              <a:ext uri="{FF2B5EF4-FFF2-40B4-BE49-F238E27FC236}">
                <a16:creationId xmlns:a16="http://schemas.microsoft.com/office/drawing/2014/main" id="{85BA89D2-C012-F2C3-D64C-F1484234B01A}"/>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Defensive Actions</a:t>
            </a:r>
            <a:endParaRPr lang="en-US"/>
          </a:p>
        </p:txBody>
      </p:sp>
      <p:sp>
        <p:nvSpPr>
          <p:cNvPr id="19" name="TextBox 18">
            <a:extLst>
              <a:ext uri="{FF2B5EF4-FFF2-40B4-BE49-F238E27FC236}">
                <a16:creationId xmlns:a16="http://schemas.microsoft.com/office/drawing/2014/main" id="{0FC1920F-E9D0-B13E-5BF0-34975D99E1C8}"/>
              </a:ext>
            </a:extLst>
          </p:cNvPr>
          <p:cNvSpPr txBox="1"/>
          <p:nvPr/>
        </p:nvSpPr>
        <p:spPr>
          <a:xfrm>
            <a:off x="1643061" y="1985963"/>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Blocking</a:t>
            </a:r>
            <a:endParaRPr lang="en-US"/>
          </a:p>
        </p:txBody>
      </p:sp>
      <p:sp>
        <p:nvSpPr>
          <p:cNvPr id="21" name="TextBox 20">
            <a:extLst>
              <a:ext uri="{FF2B5EF4-FFF2-40B4-BE49-F238E27FC236}">
                <a16:creationId xmlns:a16="http://schemas.microsoft.com/office/drawing/2014/main" id="{74591D8A-CAE9-9A0F-4C2A-C58DD82AE86F}"/>
              </a:ext>
            </a:extLst>
          </p:cNvPr>
          <p:cNvSpPr txBox="1"/>
          <p:nvPr/>
        </p:nvSpPr>
        <p:spPr>
          <a:xfrm>
            <a:off x="10801348" y="1985963"/>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Ducking</a:t>
            </a:r>
            <a:endParaRPr lang="en-US"/>
          </a:p>
        </p:txBody>
      </p:sp>
      <p:grpSp>
        <p:nvGrpSpPr>
          <p:cNvPr id="26" name="Group 5">
            <a:extLst>
              <a:ext uri="{FF2B5EF4-FFF2-40B4-BE49-F238E27FC236}">
                <a16:creationId xmlns:a16="http://schemas.microsoft.com/office/drawing/2014/main" id="{B7024B88-7BBE-EEE1-DB03-82A6E63D631F}"/>
              </a:ext>
            </a:extLst>
          </p:cNvPr>
          <p:cNvGrpSpPr/>
          <p:nvPr/>
        </p:nvGrpSpPr>
        <p:grpSpPr>
          <a:xfrm>
            <a:off x="16678401" y="3503623"/>
            <a:ext cx="7871513" cy="7957238"/>
            <a:chOff x="0" y="0"/>
            <a:chExt cx="812800" cy="812800"/>
          </a:xfrm>
        </p:grpSpPr>
        <p:sp>
          <p:nvSpPr>
            <p:cNvPr id="24" name="Freeform 6">
              <a:extLst>
                <a:ext uri="{FF2B5EF4-FFF2-40B4-BE49-F238E27FC236}">
                  <a16:creationId xmlns:a16="http://schemas.microsoft.com/office/drawing/2014/main" id="{0A6C85E8-487F-7809-5C9A-0E919681974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9018211A-B754-222F-ADDE-C29DAA605D6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E49081EC-7515-8483-6A40-6E643619F9DA}"/>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9CFED318-65BD-56E9-A8AA-E4FBE231A1C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CCB4C19F-DC0B-29A5-9D61-FF97DBB067C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3898620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3C2DD-21D0-9995-7C87-E2A127C90ED7}"/>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2087224F-2887-5196-3960-57523DFA4906}"/>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a:extLst>
              <a:ext uri="{FF2B5EF4-FFF2-40B4-BE49-F238E27FC236}">
                <a16:creationId xmlns:a16="http://schemas.microsoft.com/office/drawing/2014/main" id="{BAF363E7-BBEB-4A8F-DFB7-35185599749C}"/>
              </a:ext>
            </a:extLst>
          </p:cNvPr>
          <p:cNvSpPr txBox="1"/>
          <p:nvPr/>
        </p:nvSpPr>
        <p:spPr>
          <a:xfrm>
            <a:off x="1035639" y="2800426"/>
            <a:ext cx="7526748" cy="3900683"/>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sym typeface="Nunito"/>
              </a:rPr>
              <a:t>Triggered once an attack connects.</a:t>
            </a:r>
            <a:endParaRPr lang="en-US">
              <a:solidFill>
                <a:srgbClr val="000000"/>
              </a:solidFill>
              <a:latin typeface="Corbel" panose="020B0503020204020204"/>
            </a:endParaRPr>
          </a:p>
          <a:p>
            <a:pPr marL="560705" lvl="1" indent="-280035">
              <a:lnSpc>
                <a:spcPct val="200000"/>
              </a:lnSpc>
              <a:buFont typeface="Arial"/>
              <a:buChar char="•"/>
            </a:pPr>
            <a:r>
              <a:rPr lang="en-US" sz="2600">
                <a:solidFill>
                  <a:srgbClr val="2E3A44"/>
                </a:solidFill>
                <a:latin typeface="Nunito"/>
              </a:rPr>
              <a:t>Character takes damage </a:t>
            </a:r>
          </a:p>
          <a:p>
            <a:pPr marL="560705" lvl="1" indent="-280035">
              <a:lnSpc>
                <a:spcPct val="200000"/>
              </a:lnSpc>
              <a:buFont typeface="Arial"/>
              <a:buChar char="•"/>
            </a:pPr>
            <a:r>
              <a:rPr lang="en-US" sz="2600">
                <a:solidFill>
                  <a:srgbClr val="2E3A44"/>
                </a:solidFill>
                <a:latin typeface="Nunito"/>
              </a:rPr>
              <a:t>May briefly enter a hit reaction state once hit</a:t>
            </a:r>
            <a:endParaRPr lang="en-US"/>
          </a:p>
          <a:p>
            <a:pPr marL="1017905" lvl="2" indent="-280035">
              <a:lnSpc>
                <a:spcPct val="200000"/>
              </a:lnSpc>
              <a:buFont typeface="Wingdings"/>
              <a:buChar char="§"/>
            </a:pPr>
            <a:r>
              <a:rPr lang="en-US" sz="2600">
                <a:solidFill>
                  <a:srgbClr val="2E3A44"/>
                </a:solidFill>
                <a:latin typeface="Nunito"/>
              </a:rPr>
              <a:t>Each attack deals varying levels of damage</a:t>
            </a:r>
          </a:p>
          <a:p>
            <a:pPr marL="1475105" lvl="3" indent="-280035">
              <a:lnSpc>
                <a:spcPct val="200000"/>
              </a:lnSpc>
              <a:buFont typeface="Arial"/>
              <a:buChar char="•"/>
            </a:pPr>
            <a:r>
              <a:rPr lang="en-US" sz="2600">
                <a:solidFill>
                  <a:srgbClr val="2E3A44"/>
                </a:solidFill>
                <a:latin typeface="Nunito"/>
              </a:rPr>
              <a:t>Ex. Punch &amp; Kick deals 10 damage </a:t>
            </a:r>
          </a:p>
        </p:txBody>
      </p:sp>
      <p:sp>
        <p:nvSpPr>
          <p:cNvPr id="15" name="TextBox 15">
            <a:extLst>
              <a:ext uri="{FF2B5EF4-FFF2-40B4-BE49-F238E27FC236}">
                <a16:creationId xmlns:a16="http://schemas.microsoft.com/office/drawing/2014/main" id="{5D7EFA8D-0C03-8608-97BF-60714396651A}"/>
              </a:ext>
            </a:extLst>
          </p:cNvPr>
          <p:cNvSpPr txBox="1"/>
          <p:nvPr/>
        </p:nvSpPr>
        <p:spPr>
          <a:xfrm>
            <a:off x="9797052" y="2800426"/>
            <a:ext cx="7412448" cy="2300630"/>
          </a:xfrm>
          <a:prstGeom prst="rect">
            <a:avLst/>
          </a:prstGeom>
        </p:spPr>
        <p:txBody>
          <a:bodyPr wrap="square" lIns="0" tIns="0" rIns="0" bIns="0" rtlCol="0" anchor="t">
            <a:spAutoFit/>
          </a:bodyPr>
          <a:lstStyle/>
          <a:p>
            <a:pPr marL="560705" lvl="1" indent="-280035">
              <a:lnSpc>
                <a:spcPct val="200000"/>
              </a:lnSpc>
              <a:buFont typeface="Arial"/>
              <a:buChar char="•"/>
            </a:pPr>
            <a:r>
              <a:rPr lang="en-US" sz="2600">
                <a:solidFill>
                  <a:srgbClr val="2E3A44"/>
                </a:solidFill>
                <a:latin typeface="Nunito"/>
              </a:rPr>
              <a:t>Occurs once a fighter's health reaches 0</a:t>
            </a:r>
            <a:endParaRPr lang="en-US"/>
          </a:p>
          <a:p>
            <a:pPr marL="560705" lvl="1" indent="-280035">
              <a:lnSpc>
                <a:spcPct val="200000"/>
              </a:lnSpc>
              <a:buFont typeface="Arial"/>
              <a:buChar char="•"/>
            </a:pPr>
            <a:r>
              <a:rPr lang="en-US" sz="2600">
                <a:solidFill>
                  <a:srgbClr val="2E3A44"/>
                </a:solidFill>
                <a:latin typeface="Nunito"/>
              </a:rPr>
              <a:t>Ends Match</a:t>
            </a:r>
          </a:p>
          <a:p>
            <a:pPr marL="560705" lvl="1" indent="-280035">
              <a:lnSpc>
                <a:spcPct val="200000"/>
              </a:lnSpc>
              <a:buFont typeface="Arial"/>
              <a:buChar char="•"/>
            </a:pPr>
            <a:r>
              <a:rPr lang="en-US" sz="2600">
                <a:solidFill>
                  <a:srgbClr val="2E3A44"/>
                </a:solidFill>
                <a:latin typeface="Nunito"/>
              </a:rPr>
              <a:t>Game transitions to End-Game State</a:t>
            </a:r>
          </a:p>
        </p:txBody>
      </p:sp>
      <p:sp>
        <p:nvSpPr>
          <p:cNvPr id="18" name="TextBox 18">
            <a:extLst>
              <a:ext uri="{FF2B5EF4-FFF2-40B4-BE49-F238E27FC236}">
                <a16:creationId xmlns:a16="http://schemas.microsoft.com/office/drawing/2014/main" id="{DEA0CBEA-DEB2-E58A-00AA-DC8280933DEC}"/>
              </a:ext>
            </a:extLst>
          </p:cNvPr>
          <p:cNvSpPr txBox="1"/>
          <p:nvPr/>
        </p:nvSpPr>
        <p:spPr>
          <a:xfrm>
            <a:off x="1207235" y="184436"/>
            <a:ext cx="15872016"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Reactive Actions</a:t>
            </a:r>
            <a:endParaRPr lang="en-US"/>
          </a:p>
        </p:txBody>
      </p:sp>
      <p:sp>
        <p:nvSpPr>
          <p:cNvPr id="19" name="TextBox 18">
            <a:extLst>
              <a:ext uri="{FF2B5EF4-FFF2-40B4-BE49-F238E27FC236}">
                <a16:creationId xmlns:a16="http://schemas.microsoft.com/office/drawing/2014/main" id="{5EF3E32D-280E-08F0-66E0-FD8CFF9AB538}"/>
              </a:ext>
            </a:extLst>
          </p:cNvPr>
          <p:cNvSpPr txBox="1"/>
          <p:nvPr/>
        </p:nvSpPr>
        <p:spPr>
          <a:xfrm>
            <a:off x="2185986" y="1985963"/>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Being Hit</a:t>
            </a:r>
            <a:endParaRPr lang="en-US"/>
          </a:p>
        </p:txBody>
      </p:sp>
      <p:sp>
        <p:nvSpPr>
          <p:cNvPr id="21" name="TextBox 20">
            <a:extLst>
              <a:ext uri="{FF2B5EF4-FFF2-40B4-BE49-F238E27FC236}">
                <a16:creationId xmlns:a16="http://schemas.microsoft.com/office/drawing/2014/main" id="{851BB4D1-C672-6902-FD4C-5B5449A5A461}"/>
              </a:ext>
            </a:extLst>
          </p:cNvPr>
          <p:cNvSpPr txBox="1"/>
          <p:nvPr/>
        </p:nvSpPr>
        <p:spPr>
          <a:xfrm>
            <a:off x="10215560" y="1985963"/>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200" b="1">
                <a:solidFill>
                  <a:schemeClr val="tx1">
                    <a:lumMod val="65000"/>
                    <a:lumOff val="35000"/>
                  </a:schemeClr>
                </a:solidFill>
                <a:latin typeface="Nirand Bold"/>
                <a:cs typeface="Nirand Bold"/>
              </a:rPr>
              <a:t>Dying</a:t>
            </a:r>
            <a:endParaRPr lang="en-US">
              <a:solidFill>
                <a:schemeClr val="tx1">
                  <a:lumMod val="65000"/>
                  <a:lumOff val="35000"/>
                </a:schemeClr>
              </a:solidFill>
            </a:endParaRPr>
          </a:p>
        </p:txBody>
      </p:sp>
      <p:grpSp>
        <p:nvGrpSpPr>
          <p:cNvPr id="26" name="Group 5">
            <a:extLst>
              <a:ext uri="{FF2B5EF4-FFF2-40B4-BE49-F238E27FC236}">
                <a16:creationId xmlns:a16="http://schemas.microsoft.com/office/drawing/2014/main" id="{0198AB10-B7B0-C7A9-2E97-C6627E9F0C92}"/>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8A1FB4FE-9DC7-DE1D-7EC8-9E78C2103BF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86B94B56-9B94-69F4-8623-F093BF2DD72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30E60DAD-3B7B-3D08-A7DC-C54BD1409858}"/>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7DE0786F-62E2-1E6D-E8F8-A3E19AD6777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F4F486B7-72E8-6481-32D9-B7867743A54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2300040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5196" y="-1345627"/>
            <a:ext cx="3517329" cy="3517329"/>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428425" y="7667805"/>
            <a:ext cx="8028675" cy="802867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p:cNvGrpSpPr/>
          <p:nvPr/>
        </p:nvGrpSpPr>
        <p:grpSpPr>
          <a:xfrm>
            <a:off x="13276243" y="-767852"/>
            <a:ext cx="1586288" cy="1586288"/>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ea typeface="Nirand Bold"/>
                <a:cs typeface="Nirand Bold"/>
                <a:sym typeface="Nirand Bold"/>
              </a:rPr>
              <a:t>Technologies</a:t>
            </a:r>
            <a:endParaRPr lang="en-US"/>
          </a:p>
        </p:txBody>
      </p:sp>
      <p:pic>
        <p:nvPicPr>
          <p:cNvPr id="26" name="Picture 25" descr="A black and grey cube with white squares&#10;&#10;AI-generated content may be incorrect.">
            <a:extLst>
              <a:ext uri="{FF2B5EF4-FFF2-40B4-BE49-F238E27FC236}">
                <a16:creationId xmlns:a16="http://schemas.microsoft.com/office/drawing/2014/main" id="{8520616F-AC34-3F6C-4385-4954BB76D341}"/>
              </a:ext>
            </a:extLst>
          </p:cNvPr>
          <p:cNvPicPr>
            <a:picLocks noChangeAspect="1"/>
          </p:cNvPicPr>
          <p:nvPr/>
        </p:nvPicPr>
        <p:blipFill>
          <a:blip r:embed="rId2"/>
          <a:stretch>
            <a:fillRect/>
          </a:stretch>
        </p:blipFill>
        <p:spPr>
          <a:xfrm>
            <a:off x="814388" y="2000250"/>
            <a:ext cx="2500313" cy="2500313"/>
          </a:xfrm>
          <a:prstGeom prst="rect">
            <a:avLst/>
          </a:prstGeom>
        </p:spPr>
      </p:pic>
      <p:sp>
        <p:nvSpPr>
          <p:cNvPr id="27" name="TextBox 26">
            <a:extLst>
              <a:ext uri="{FF2B5EF4-FFF2-40B4-BE49-F238E27FC236}">
                <a16:creationId xmlns:a16="http://schemas.microsoft.com/office/drawing/2014/main" id="{9F0F08C9-19D0-7672-C176-28A17616F5C6}"/>
              </a:ext>
            </a:extLst>
          </p:cNvPr>
          <p:cNvSpPr txBox="1"/>
          <p:nvPr/>
        </p:nvSpPr>
        <p:spPr>
          <a:xfrm>
            <a:off x="3314700" y="2900361"/>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Unity 6.3 LTS</a:t>
            </a:r>
          </a:p>
        </p:txBody>
      </p:sp>
      <p:pic>
        <p:nvPicPr>
          <p:cNvPr id="28" name="Picture 27" descr="A logo of a company&#10;&#10;AI-generated content may be incorrect.">
            <a:extLst>
              <a:ext uri="{FF2B5EF4-FFF2-40B4-BE49-F238E27FC236}">
                <a16:creationId xmlns:a16="http://schemas.microsoft.com/office/drawing/2014/main" id="{9ABFAF19-8E80-9A3D-0DA7-06F90D543AD2}"/>
              </a:ext>
            </a:extLst>
          </p:cNvPr>
          <p:cNvPicPr>
            <a:picLocks noChangeAspect="1"/>
          </p:cNvPicPr>
          <p:nvPr/>
        </p:nvPicPr>
        <p:blipFill>
          <a:blip r:embed="rId3"/>
          <a:stretch>
            <a:fillRect/>
          </a:stretch>
        </p:blipFill>
        <p:spPr>
          <a:xfrm>
            <a:off x="1028700" y="4843463"/>
            <a:ext cx="2100264" cy="2271713"/>
          </a:xfrm>
          <a:prstGeom prst="rect">
            <a:avLst/>
          </a:prstGeom>
        </p:spPr>
      </p:pic>
      <p:sp>
        <p:nvSpPr>
          <p:cNvPr id="29" name="TextBox 28">
            <a:extLst>
              <a:ext uri="{FF2B5EF4-FFF2-40B4-BE49-F238E27FC236}">
                <a16:creationId xmlns:a16="http://schemas.microsoft.com/office/drawing/2014/main" id="{3245905D-36D1-234D-403B-4B0E735CE6E0}"/>
              </a:ext>
            </a:extLst>
          </p:cNvPr>
          <p:cNvSpPr txBox="1"/>
          <p:nvPr/>
        </p:nvSpPr>
        <p:spPr>
          <a:xfrm>
            <a:off x="3314700" y="5629274"/>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C# Programming</a:t>
            </a:r>
          </a:p>
        </p:txBody>
      </p:sp>
      <p:pic>
        <p:nvPicPr>
          <p:cNvPr id="31" name="Picture 30" descr="A red box with white stripe&#10;&#10;AI-generated content may be incorrect.">
            <a:extLst>
              <a:ext uri="{FF2B5EF4-FFF2-40B4-BE49-F238E27FC236}">
                <a16:creationId xmlns:a16="http://schemas.microsoft.com/office/drawing/2014/main" id="{0E3276A5-F7F8-3054-3088-10524DAF5E6B}"/>
              </a:ext>
            </a:extLst>
          </p:cNvPr>
          <p:cNvPicPr>
            <a:picLocks noChangeAspect="1"/>
          </p:cNvPicPr>
          <p:nvPr/>
        </p:nvPicPr>
        <p:blipFill>
          <a:blip r:embed="rId4"/>
          <a:srcRect l="7487" t="9172" r="6417" b="9091"/>
          <a:stretch>
            <a:fillRect/>
          </a:stretch>
        </p:blipFill>
        <p:spPr>
          <a:xfrm>
            <a:off x="8639175" y="2169098"/>
            <a:ext cx="2296188" cy="2179937"/>
          </a:xfrm>
          <a:prstGeom prst="rect">
            <a:avLst/>
          </a:prstGeom>
        </p:spPr>
      </p:pic>
      <p:sp>
        <p:nvSpPr>
          <p:cNvPr id="32" name="TextBox 31">
            <a:extLst>
              <a:ext uri="{FF2B5EF4-FFF2-40B4-BE49-F238E27FC236}">
                <a16:creationId xmlns:a16="http://schemas.microsoft.com/office/drawing/2014/main" id="{0C469A61-A82B-431D-8E70-903FCBE0D7E6}"/>
              </a:ext>
            </a:extLst>
          </p:cNvPr>
          <p:cNvSpPr txBox="1"/>
          <p:nvPr/>
        </p:nvSpPr>
        <p:spPr>
          <a:xfrm>
            <a:off x="11383617" y="2900361"/>
            <a:ext cx="645795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Git LFS Extension</a:t>
            </a:r>
          </a:p>
        </p:txBody>
      </p:sp>
      <p:sp>
        <p:nvSpPr>
          <p:cNvPr id="34" name="TextBox 33">
            <a:extLst>
              <a:ext uri="{FF2B5EF4-FFF2-40B4-BE49-F238E27FC236}">
                <a16:creationId xmlns:a16="http://schemas.microsoft.com/office/drawing/2014/main" id="{12A5C436-D7C1-02E5-4646-02A34822E487}"/>
              </a:ext>
            </a:extLst>
          </p:cNvPr>
          <p:cNvSpPr txBox="1"/>
          <p:nvPr/>
        </p:nvSpPr>
        <p:spPr>
          <a:xfrm>
            <a:off x="11201400" y="5629273"/>
            <a:ext cx="645795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chemeClr val="tx2"/>
                </a:solidFill>
                <a:latin typeface="Nirand Bold"/>
                <a:cs typeface="Nirand Bold"/>
              </a:rPr>
              <a:t>Python </a:t>
            </a:r>
            <a:r>
              <a:rPr lang="en-US" sz="3200">
                <a:solidFill>
                  <a:schemeClr val="tx2"/>
                </a:solidFill>
                <a:latin typeface="Nirand Bold"/>
                <a:cs typeface="Nirand Bold"/>
              </a:rPr>
              <a:t>(for Machine Learning)</a:t>
            </a:r>
          </a:p>
        </p:txBody>
      </p:sp>
      <p:pic>
        <p:nvPicPr>
          <p:cNvPr id="35" name="Picture 34" descr="File:Python-logo-notext.svg - Wikimedia Commons">
            <a:extLst>
              <a:ext uri="{FF2B5EF4-FFF2-40B4-BE49-F238E27FC236}">
                <a16:creationId xmlns:a16="http://schemas.microsoft.com/office/drawing/2014/main" id="{95334DBD-AC1A-6EDF-F63D-092005B938F6}"/>
              </a:ext>
            </a:extLst>
          </p:cNvPr>
          <p:cNvPicPr>
            <a:picLocks noChangeAspect="1"/>
          </p:cNvPicPr>
          <p:nvPr/>
        </p:nvPicPr>
        <p:blipFill>
          <a:blip r:embed="rId5"/>
          <a:stretch>
            <a:fillRect/>
          </a:stretch>
        </p:blipFill>
        <p:spPr>
          <a:xfrm>
            <a:off x="8629650" y="4843463"/>
            <a:ext cx="2286000" cy="227171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BE644-F8B0-6719-DBBB-27A7B44A05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F963333-D08F-E13E-A1D3-9012F2F9CABF}"/>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B74C6181-3E1E-A207-1DBB-9930B98CD27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21B3DB77-2AA4-1D81-B3D1-915B7A403CE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36C9449B-9F4C-DA7B-F079-492D56A456B6}"/>
              </a:ext>
            </a:extLst>
          </p:cNvPr>
          <p:cNvGrpSpPr/>
          <p:nvPr/>
        </p:nvGrpSpPr>
        <p:grpSpPr>
          <a:xfrm>
            <a:off x="2757938" y="7824968"/>
            <a:ext cx="8028675" cy="8028675"/>
            <a:chOff x="0" y="0"/>
            <a:chExt cx="812800" cy="812800"/>
          </a:xfrm>
        </p:grpSpPr>
        <p:sp>
          <p:nvSpPr>
            <p:cNvPr id="6" name="Freeform 6">
              <a:extLst>
                <a:ext uri="{FF2B5EF4-FFF2-40B4-BE49-F238E27FC236}">
                  <a16:creationId xmlns:a16="http://schemas.microsoft.com/office/drawing/2014/main" id="{42C00C1D-1ADF-FC00-C0BD-5025CD5C40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9F013600-D68A-4352-830C-39402FFD833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3A1D0F9-B08C-BE5D-171B-45F8F3BD758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768E5BA0-7297-D2E2-E989-A8007E56E7B6}"/>
              </a:ext>
            </a:extLst>
          </p:cNvPr>
          <p:cNvGrpSpPr/>
          <p:nvPr/>
        </p:nvGrpSpPr>
        <p:grpSpPr>
          <a:xfrm>
            <a:off x="13276243" y="-767852"/>
            <a:ext cx="1586288" cy="1586288"/>
            <a:chOff x="0" y="0"/>
            <a:chExt cx="812800" cy="812800"/>
          </a:xfrm>
        </p:grpSpPr>
        <p:sp>
          <p:nvSpPr>
            <p:cNvPr id="10" name="Freeform 10">
              <a:extLst>
                <a:ext uri="{FF2B5EF4-FFF2-40B4-BE49-F238E27FC236}">
                  <a16:creationId xmlns:a16="http://schemas.microsoft.com/office/drawing/2014/main" id="{0CCDCF21-4439-78C8-F066-F9228F70AF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1CCAAF5-72DF-3919-C7B0-45DBCC8FF6A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8886FBDF-87DF-40A2-F8C6-E1A71F0B52BA}"/>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F193AC84-B953-ACCA-C0D6-335EE8BAF120}"/>
              </a:ext>
            </a:extLst>
          </p:cNvPr>
          <p:cNvSpPr txBox="1"/>
          <p:nvPr/>
        </p:nvSpPr>
        <p:spPr>
          <a:xfrm>
            <a:off x="500063" y="1457324"/>
            <a:ext cx="1580197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Easy Difficulty : Randomized Finite State Machine</a:t>
            </a:r>
          </a:p>
        </p:txBody>
      </p:sp>
      <p:pic>
        <p:nvPicPr>
          <p:cNvPr id="15" name="Picture 14" descr="State · Design Patterns Revisited · Game Programming Patterns">
            <a:extLst>
              <a:ext uri="{FF2B5EF4-FFF2-40B4-BE49-F238E27FC236}">
                <a16:creationId xmlns:a16="http://schemas.microsoft.com/office/drawing/2014/main" id="{D1653563-54D8-5102-1A09-4508C5EB2CB4}"/>
              </a:ext>
            </a:extLst>
          </p:cNvPr>
          <p:cNvPicPr>
            <a:picLocks noChangeAspect="1"/>
          </p:cNvPicPr>
          <p:nvPr/>
        </p:nvPicPr>
        <p:blipFill>
          <a:blip r:embed="rId2"/>
          <a:stretch>
            <a:fillRect/>
          </a:stretch>
        </p:blipFill>
        <p:spPr>
          <a:xfrm>
            <a:off x="9886950" y="2749355"/>
            <a:ext cx="7843836" cy="5059752"/>
          </a:xfrm>
          <a:prstGeom prst="rect">
            <a:avLst/>
          </a:prstGeom>
        </p:spPr>
      </p:pic>
      <p:sp>
        <p:nvSpPr>
          <p:cNvPr id="17" name="TextBox 16">
            <a:extLst>
              <a:ext uri="{FF2B5EF4-FFF2-40B4-BE49-F238E27FC236}">
                <a16:creationId xmlns:a16="http://schemas.microsoft.com/office/drawing/2014/main" id="{8747ACE0-74CA-2CA6-9AF8-D36657E9B570}"/>
              </a:ext>
            </a:extLst>
          </p:cNvPr>
          <p:cNvSpPr txBox="1"/>
          <p:nvPr/>
        </p:nvSpPr>
        <p:spPr>
          <a:xfrm>
            <a:off x="728662" y="2814636"/>
            <a:ext cx="8801100" cy="50167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is presented with multiple pre-defined states (Idle, Attack, Advance, Block, Duck).</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Instead of using strategy, it picks which state to move to next randomly. </a:t>
            </a:r>
            <a:endParaRPr lang="en-US">
              <a:solidFill>
                <a:schemeClr val="tx1">
                  <a:lumMod val="65000"/>
                  <a:lumOff val="35000"/>
                </a:schemeClr>
              </a:solidFill>
            </a:endParaRP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Attacks and movements still make sense but are suboptimal.</a:t>
            </a:r>
            <a:endParaRPr lang="en-US">
              <a:solidFill>
                <a:schemeClr val="tx1">
                  <a:lumMod val="65000"/>
                  <a:lumOff val="35000"/>
                </a:schemeClr>
              </a:solidFill>
            </a:endParaRPr>
          </a:p>
          <a:p>
            <a:pPr marL="914400" lvl="1" indent="-457200">
              <a:buFont typeface="Courier New"/>
              <a:buChar char="o"/>
            </a:pPr>
            <a:endParaRPr lang="en-US" sz="3200">
              <a:solidFill>
                <a:schemeClr val="tx1">
                  <a:lumMod val="65000"/>
                  <a:lumOff val="35000"/>
                </a:schemeClr>
              </a:solidFill>
              <a:latin typeface="Nunito"/>
            </a:endParaRPr>
          </a:p>
        </p:txBody>
      </p:sp>
    </p:spTree>
    <p:extLst>
      <p:ext uri="{BB962C8B-B14F-4D97-AF65-F5344CB8AC3E}">
        <p14:creationId xmlns:p14="http://schemas.microsoft.com/office/powerpoint/2010/main" val="3472714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1AD63-44E5-118E-83DF-69D3619ED70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8AA6ED-0893-88C3-BA55-6D71FD5C877F}"/>
              </a:ext>
            </a:extLst>
          </p:cNvPr>
          <p:cNvGrpSpPr/>
          <p:nvPr/>
        </p:nvGrpSpPr>
        <p:grpSpPr>
          <a:xfrm>
            <a:off x="10887508" y="-1831402"/>
            <a:ext cx="3517329" cy="3517329"/>
            <a:chOff x="0" y="0"/>
            <a:chExt cx="812800" cy="812800"/>
          </a:xfrm>
        </p:grpSpPr>
        <p:sp>
          <p:nvSpPr>
            <p:cNvPr id="3" name="Freeform 3">
              <a:extLst>
                <a:ext uri="{FF2B5EF4-FFF2-40B4-BE49-F238E27FC236}">
                  <a16:creationId xmlns:a16="http://schemas.microsoft.com/office/drawing/2014/main" id="{6D9EE04E-9662-546F-31EF-1B1B7BD349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6A4D21C3-CDB6-EB3B-389E-59EE6303560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1440EFE-40BF-4009-FB15-334FCC708435}"/>
              </a:ext>
            </a:extLst>
          </p:cNvPr>
          <p:cNvGrpSpPr/>
          <p:nvPr/>
        </p:nvGrpSpPr>
        <p:grpSpPr>
          <a:xfrm>
            <a:off x="12216263" y="6653393"/>
            <a:ext cx="8028675" cy="8028675"/>
            <a:chOff x="0" y="0"/>
            <a:chExt cx="812800" cy="812800"/>
          </a:xfrm>
        </p:grpSpPr>
        <p:sp>
          <p:nvSpPr>
            <p:cNvPr id="6" name="Freeform 6">
              <a:extLst>
                <a:ext uri="{FF2B5EF4-FFF2-40B4-BE49-F238E27FC236}">
                  <a16:creationId xmlns:a16="http://schemas.microsoft.com/office/drawing/2014/main" id="{801D87D4-8CEF-C613-E6D4-33CA9E95268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60DDC349-F60F-CC17-19AF-EFD798FC9D2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AAB80515-3731-828D-56E1-B8C6EF77CD26}"/>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C7CFBEB-3AB2-0961-E10F-D9102BD42A32}"/>
              </a:ext>
            </a:extLst>
          </p:cNvPr>
          <p:cNvGrpSpPr/>
          <p:nvPr/>
        </p:nvGrpSpPr>
        <p:grpSpPr>
          <a:xfrm>
            <a:off x="16976706" y="-767852"/>
            <a:ext cx="1586288" cy="1586288"/>
            <a:chOff x="0" y="0"/>
            <a:chExt cx="812800" cy="812800"/>
          </a:xfrm>
        </p:grpSpPr>
        <p:sp>
          <p:nvSpPr>
            <p:cNvPr id="10" name="Freeform 10">
              <a:extLst>
                <a:ext uri="{FF2B5EF4-FFF2-40B4-BE49-F238E27FC236}">
                  <a16:creationId xmlns:a16="http://schemas.microsoft.com/office/drawing/2014/main" id="{76161058-C627-948D-9FEE-D3808D17608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E6E60163-B554-590E-CC95-6E64166C8D4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5B41A12B-D768-674B-4442-B217447C05FB}"/>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55BB6856-43B8-BC81-C577-F7E4BEC4CB71}"/>
              </a:ext>
            </a:extLst>
          </p:cNvPr>
          <p:cNvSpPr txBox="1"/>
          <p:nvPr/>
        </p:nvSpPr>
        <p:spPr>
          <a:xfrm>
            <a:off x="528638" y="1457324"/>
            <a:ext cx="126301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Medium Difficulty : Decision Trees</a:t>
            </a:r>
          </a:p>
        </p:txBody>
      </p:sp>
      <p:sp>
        <p:nvSpPr>
          <p:cNvPr id="15" name="TextBox 14">
            <a:extLst>
              <a:ext uri="{FF2B5EF4-FFF2-40B4-BE49-F238E27FC236}">
                <a16:creationId xmlns:a16="http://schemas.microsoft.com/office/drawing/2014/main" id="{6E3B7744-EB72-E521-8E33-87025DE5945B}"/>
              </a:ext>
            </a:extLst>
          </p:cNvPr>
          <p:cNvSpPr txBox="1"/>
          <p:nvPr/>
        </p:nvSpPr>
        <p:spPr>
          <a:xfrm>
            <a:off x="642937" y="2686049"/>
            <a:ext cx="8801100" cy="64940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in this difficulty will start to react differently depending on certain criteria.</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Before making an action, it will check a specific condition and act accordingly.</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Can still make random decisions but in a more educated way.</a:t>
            </a:r>
          </a:p>
          <a:p>
            <a:pPr marL="457200" indent="-457200">
              <a:buFont typeface="Arial"/>
              <a:buChar char="•"/>
            </a:pPr>
            <a:endParaRPr lang="en-US" sz="3200">
              <a:solidFill>
                <a:schemeClr val="tx1">
                  <a:lumMod val="65000"/>
                  <a:lumOff val="35000"/>
                </a:schemeClr>
              </a:solidFill>
              <a:latin typeface="Nunito"/>
            </a:endParaRPr>
          </a:p>
          <a:p>
            <a:pPr marL="914400" lvl="1" indent="-457200">
              <a:buFont typeface="Courier New"/>
              <a:buChar char="o"/>
            </a:pPr>
            <a:r>
              <a:rPr lang="en-US" sz="3200">
                <a:solidFill>
                  <a:schemeClr val="tx1">
                    <a:lumMod val="65000"/>
                    <a:lumOff val="35000"/>
                  </a:schemeClr>
                </a:solidFill>
                <a:latin typeface="Nunito"/>
              </a:rPr>
              <a:t>Ex. Check to see if the player is attacking. If yes, randomly choose between block or counter. </a:t>
            </a:r>
          </a:p>
        </p:txBody>
      </p:sp>
      <p:pic>
        <p:nvPicPr>
          <p:cNvPr id="16" name="Picture 15" descr="A diagram of a game&#10;&#10;AI-generated content may be incorrect.">
            <a:extLst>
              <a:ext uri="{FF2B5EF4-FFF2-40B4-BE49-F238E27FC236}">
                <a16:creationId xmlns:a16="http://schemas.microsoft.com/office/drawing/2014/main" id="{F96CDCAE-8D0C-BA14-3DDE-167B573E9F6D}"/>
              </a:ext>
            </a:extLst>
          </p:cNvPr>
          <p:cNvPicPr>
            <a:picLocks noChangeAspect="1"/>
          </p:cNvPicPr>
          <p:nvPr/>
        </p:nvPicPr>
        <p:blipFill>
          <a:blip r:embed="rId2"/>
          <a:stretch>
            <a:fillRect/>
          </a:stretch>
        </p:blipFill>
        <p:spPr>
          <a:xfrm>
            <a:off x="9567863" y="2757488"/>
            <a:ext cx="7424738" cy="4757738"/>
          </a:xfrm>
          <a:prstGeom prst="rect">
            <a:avLst/>
          </a:prstGeom>
        </p:spPr>
      </p:pic>
    </p:spTree>
    <p:extLst>
      <p:ext uri="{BB962C8B-B14F-4D97-AF65-F5344CB8AC3E}">
        <p14:creationId xmlns:p14="http://schemas.microsoft.com/office/powerpoint/2010/main" val="1101506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E0EB9-7478-D322-9B09-B8586075397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1CC7C14-BD6B-85AC-34A6-F97CB35AB620}"/>
              </a:ext>
            </a:extLst>
          </p:cNvPr>
          <p:cNvGrpSpPr/>
          <p:nvPr/>
        </p:nvGrpSpPr>
        <p:grpSpPr>
          <a:xfrm>
            <a:off x="15288058" y="-2060002"/>
            <a:ext cx="3517329" cy="3517329"/>
            <a:chOff x="0" y="0"/>
            <a:chExt cx="812800" cy="812800"/>
          </a:xfrm>
        </p:grpSpPr>
        <p:sp>
          <p:nvSpPr>
            <p:cNvPr id="3" name="Freeform 3">
              <a:extLst>
                <a:ext uri="{FF2B5EF4-FFF2-40B4-BE49-F238E27FC236}">
                  <a16:creationId xmlns:a16="http://schemas.microsoft.com/office/drawing/2014/main" id="{9841F416-0D5C-7FF2-9A6C-4F139AF520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137E0514-ADA7-E478-1751-69B3F09B859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D676896-DBDC-086B-509D-CA24F8C269D3}"/>
              </a:ext>
            </a:extLst>
          </p:cNvPr>
          <p:cNvGrpSpPr/>
          <p:nvPr/>
        </p:nvGrpSpPr>
        <p:grpSpPr>
          <a:xfrm>
            <a:off x="-3299962" y="8210730"/>
            <a:ext cx="8028675" cy="8028675"/>
            <a:chOff x="0" y="0"/>
            <a:chExt cx="812800" cy="812800"/>
          </a:xfrm>
        </p:grpSpPr>
        <p:sp>
          <p:nvSpPr>
            <p:cNvPr id="6" name="Freeform 6">
              <a:extLst>
                <a:ext uri="{FF2B5EF4-FFF2-40B4-BE49-F238E27FC236}">
                  <a16:creationId xmlns:a16="http://schemas.microsoft.com/office/drawing/2014/main" id="{E958A3DF-9C55-EEC8-DDE9-06FCA38183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3A097AF1-5433-C9E4-ED5D-E98837E75F1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6D86F8E-228C-2AA9-B5EE-5DE0BDFB605C}"/>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DBBD3B79-1A93-9BB2-BB42-E73D89ED5110}"/>
              </a:ext>
            </a:extLst>
          </p:cNvPr>
          <p:cNvGrpSpPr/>
          <p:nvPr/>
        </p:nvGrpSpPr>
        <p:grpSpPr>
          <a:xfrm>
            <a:off x="17219593" y="9333411"/>
            <a:ext cx="1586288" cy="1586288"/>
            <a:chOff x="0" y="0"/>
            <a:chExt cx="812800" cy="812800"/>
          </a:xfrm>
        </p:grpSpPr>
        <p:sp>
          <p:nvSpPr>
            <p:cNvPr id="10" name="Freeform 10">
              <a:extLst>
                <a:ext uri="{FF2B5EF4-FFF2-40B4-BE49-F238E27FC236}">
                  <a16:creationId xmlns:a16="http://schemas.microsoft.com/office/drawing/2014/main" id="{6EC094BF-FD2F-CE3D-E4FE-0AEEDFCE13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4D92537-4FD1-76D1-B750-14E4C1B9AE8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a:extLst>
              <a:ext uri="{FF2B5EF4-FFF2-40B4-BE49-F238E27FC236}">
                <a16:creationId xmlns:a16="http://schemas.microsoft.com/office/drawing/2014/main" id="{946A1288-030D-D776-D48D-7DF46671327C}"/>
              </a:ext>
            </a:extLst>
          </p:cNvPr>
          <p:cNvSpPr txBox="1"/>
          <p:nvPr/>
        </p:nvSpPr>
        <p:spPr>
          <a:xfrm>
            <a:off x="266430" y="184436"/>
            <a:ext cx="13014516" cy="1276247"/>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Algorithms</a:t>
            </a:r>
            <a:endParaRPr lang="en-US"/>
          </a:p>
        </p:txBody>
      </p:sp>
      <p:sp>
        <p:nvSpPr>
          <p:cNvPr id="13" name="TextBox 12">
            <a:extLst>
              <a:ext uri="{FF2B5EF4-FFF2-40B4-BE49-F238E27FC236}">
                <a16:creationId xmlns:a16="http://schemas.microsoft.com/office/drawing/2014/main" id="{722DD6A5-83C7-4007-4E6E-1DA61CB2D598}"/>
              </a:ext>
            </a:extLst>
          </p:cNvPr>
          <p:cNvSpPr txBox="1"/>
          <p:nvPr/>
        </p:nvSpPr>
        <p:spPr>
          <a:xfrm>
            <a:off x="500063" y="1457324"/>
            <a:ext cx="1778793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solidFill>
                  <a:schemeClr val="tx1">
                    <a:lumMod val="65000"/>
                    <a:lumOff val="35000"/>
                  </a:schemeClr>
                </a:solidFill>
                <a:latin typeface="Nirand Bold"/>
                <a:cs typeface="Nirand Bold"/>
              </a:rPr>
              <a:t>Hard Difficulty : Reinforcement Learning</a:t>
            </a:r>
          </a:p>
        </p:txBody>
      </p:sp>
      <p:sp>
        <p:nvSpPr>
          <p:cNvPr id="14" name="TextBox 13">
            <a:extLst>
              <a:ext uri="{FF2B5EF4-FFF2-40B4-BE49-F238E27FC236}">
                <a16:creationId xmlns:a16="http://schemas.microsoft.com/office/drawing/2014/main" id="{D6FD1AF4-39D8-EF8F-A71D-1060F56510D0}"/>
              </a:ext>
            </a:extLst>
          </p:cNvPr>
          <p:cNvSpPr txBox="1"/>
          <p:nvPr/>
        </p:nvSpPr>
        <p:spPr>
          <a:xfrm>
            <a:off x="600075" y="2700336"/>
            <a:ext cx="8801100" cy="55092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200">
                <a:solidFill>
                  <a:schemeClr val="tx1">
                    <a:lumMod val="65000"/>
                    <a:lumOff val="35000"/>
                  </a:schemeClr>
                </a:solidFill>
                <a:latin typeface="Nunito"/>
              </a:rPr>
              <a:t>The enemy AI will fight through many simulations either against itself, or one of the before mentioned difficulties.</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It will receive a reward (+1) for landing a hit on the player, and a punishment (-1) for being struck by the player.</a:t>
            </a:r>
          </a:p>
          <a:p>
            <a:pPr marL="457200" indent="-457200">
              <a:buFont typeface="Arial"/>
              <a:buChar char="•"/>
            </a:pPr>
            <a:endParaRPr lang="en-US" sz="3200">
              <a:solidFill>
                <a:schemeClr val="tx1">
                  <a:lumMod val="65000"/>
                  <a:lumOff val="35000"/>
                </a:schemeClr>
              </a:solidFill>
              <a:latin typeface="Nunito"/>
            </a:endParaRPr>
          </a:p>
          <a:p>
            <a:pPr marL="457200" indent="-457200">
              <a:buFont typeface="Arial"/>
              <a:buChar char="•"/>
            </a:pPr>
            <a:r>
              <a:rPr lang="en-US" sz="3200">
                <a:solidFill>
                  <a:schemeClr val="tx1">
                    <a:lumMod val="65000"/>
                    <a:lumOff val="35000"/>
                  </a:schemeClr>
                </a:solidFill>
                <a:latin typeface="Nunito"/>
              </a:rPr>
              <a:t>The AI will learn which actions lead to rewards and which actions lead to punishments. </a:t>
            </a:r>
          </a:p>
        </p:txBody>
      </p:sp>
      <p:pic>
        <p:nvPicPr>
          <p:cNvPr id="15" name="Picture 14" descr="A diagram of a diagram&#10;&#10;AI-generated content may be incorrect.">
            <a:extLst>
              <a:ext uri="{FF2B5EF4-FFF2-40B4-BE49-F238E27FC236}">
                <a16:creationId xmlns:a16="http://schemas.microsoft.com/office/drawing/2014/main" id="{A974DE9E-7463-F93B-C716-7DE706BF84AD}"/>
              </a:ext>
            </a:extLst>
          </p:cNvPr>
          <p:cNvPicPr>
            <a:picLocks noChangeAspect="1"/>
          </p:cNvPicPr>
          <p:nvPr/>
        </p:nvPicPr>
        <p:blipFill>
          <a:blip r:embed="rId2"/>
          <a:stretch>
            <a:fillRect/>
          </a:stretch>
        </p:blipFill>
        <p:spPr>
          <a:xfrm>
            <a:off x="9853613" y="2928938"/>
            <a:ext cx="7867650" cy="5043488"/>
          </a:xfrm>
          <a:prstGeom prst="rect">
            <a:avLst/>
          </a:prstGeom>
        </p:spPr>
      </p:pic>
    </p:spTree>
    <p:extLst>
      <p:ext uri="{BB962C8B-B14F-4D97-AF65-F5344CB8AC3E}">
        <p14:creationId xmlns:p14="http://schemas.microsoft.com/office/powerpoint/2010/main" val="150367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8"/>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sp>
        <p:nvSpPr>
          <p:cNvPr id="12" name="TextBox 12"/>
          <p:cNvSpPr txBox="1"/>
          <p:nvPr/>
        </p:nvSpPr>
        <p:spPr>
          <a:xfrm>
            <a:off x="543715" y="2170511"/>
            <a:ext cx="8218694"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A simple flat ground with invisible walls on each side to prevent falling off.</a:t>
            </a:r>
          </a:p>
          <a:p>
            <a:pPr marL="560705" lvl="1" indent="-280035">
              <a:lnSpc>
                <a:spcPts val="3640"/>
              </a:lnSpc>
              <a:buFont typeface="Arial"/>
              <a:buChar char="•"/>
            </a:pPr>
            <a:r>
              <a:rPr lang="en-US" sz="2600">
                <a:solidFill>
                  <a:srgbClr val="2E3A44"/>
                </a:solidFill>
                <a:latin typeface="Nunito"/>
              </a:rPr>
              <a:t>Simple environment design keeps focus on combat mechanics and player interaction</a:t>
            </a:r>
          </a:p>
          <a:p>
            <a:pPr marL="560705" lvl="1" indent="-280035">
              <a:lnSpc>
                <a:spcPts val="3640"/>
              </a:lnSpc>
              <a:buFont typeface="Arial"/>
              <a:buChar char="•"/>
            </a:pPr>
            <a:r>
              <a:rPr lang="en-US" sz="2600">
                <a:solidFill>
                  <a:srgbClr val="2E3A44"/>
                </a:solidFill>
                <a:latin typeface="Nunito"/>
              </a:rPr>
              <a:t>A basic camera with a script that keeps both players in-frame while zooming in as close as possible.</a:t>
            </a:r>
          </a:p>
        </p:txBody>
      </p:sp>
      <p:sp>
        <p:nvSpPr>
          <p:cNvPr id="14" name="TextBox 14"/>
          <p:cNvSpPr txBox="1"/>
          <p:nvPr/>
        </p:nvSpPr>
        <p:spPr>
          <a:xfrm>
            <a:off x="539336" y="5973866"/>
            <a:ext cx="6583773"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rPr>
              <a:t>For the rules-based difficulties, the State Machine and Decision Tree logic must work, even if they are not complex.</a:t>
            </a:r>
          </a:p>
          <a:p>
            <a:pPr marL="560705" lvl="1" indent="-280035">
              <a:lnSpc>
                <a:spcPts val="3640"/>
              </a:lnSpc>
              <a:buFont typeface="Arial"/>
              <a:buChar char="•"/>
            </a:pPr>
            <a:endParaRPr lang="en-US" sz="2600">
              <a:solidFill>
                <a:srgbClr val="2E3A44"/>
              </a:solidFill>
              <a:latin typeface="Nunito"/>
            </a:endParaRPr>
          </a:p>
          <a:p>
            <a:pPr marL="560705" lvl="1" indent="-280035">
              <a:lnSpc>
                <a:spcPts val="3640"/>
              </a:lnSpc>
              <a:buFont typeface="Arial"/>
              <a:buChar char="•"/>
            </a:pPr>
            <a:r>
              <a:rPr lang="en-US" sz="2600">
                <a:solidFill>
                  <a:srgbClr val="2E3A44"/>
                </a:solidFill>
                <a:latin typeface="Nunito"/>
              </a:rPr>
              <a:t>For the hard difficulty, the Unity Agent must be able to read observations and output actions from the Neural Net. </a:t>
            </a:r>
          </a:p>
        </p:txBody>
      </p:sp>
      <p:sp>
        <p:nvSpPr>
          <p:cNvPr id="15" name="TextBox 15"/>
          <p:cNvSpPr txBox="1"/>
          <p:nvPr/>
        </p:nvSpPr>
        <p:spPr>
          <a:xfrm>
            <a:off x="9525590" y="2166513"/>
            <a:ext cx="7697836" cy="2754600"/>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The bare minimum controls will be Locomotion, an Attack action, and a Block action.</a:t>
            </a:r>
          </a:p>
          <a:p>
            <a:pPr marL="560705" lvl="1" indent="-280035">
              <a:lnSpc>
                <a:spcPts val="3640"/>
              </a:lnSpc>
              <a:buFont typeface="Arial"/>
              <a:buChar char="•"/>
            </a:pPr>
            <a:r>
              <a:rPr lang="en-US" sz="2600">
                <a:solidFill>
                  <a:srgbClr val="2E3A44"/>
                </a:solidFill>
                <a:latin typeface="Nunito"/>
              </a:rPr>
              <a:t>Hit detection uses colliders to determine when attacks connect</a:t>
            </a:r>
          </a:p>
          <a:p>
            <a:pPr marL="560705" lvl="1" indent="-280035">
              <a:lnSpc>
                <a:spcPts val="3640"/>
              </a:lnSpc>
              <a:buFont typeface="Arial"/>
              <a:buChar char="•"/>
            </a:pPr>
            <a:r>
              <a:rPr lang="en-US" sz="2600">
                <a:solidFill>
                  <a:srgbClr val="2E3A44"/>
                </a:solidFill>
                <a:latin typeface="Nunito"/>
              </a:rPr>
              <a:t>Possibility to include combos, ducking, countering, and throwing later.</a:t>
            </a:r>
          </a:p>
        </p:txBody>
      </p:sp>
      <p:sp>
        <p:nvSpPr>
          <p:cNvPr id="16" name="TextBox 16"/>
          <p:cNvSpPr txBox="1"/>
          <p:nvPr/>
        </p:nvSpPr>
        <p:spPr>
          <a:xfrm>
            <a:off x="9525401" y="5843651"/>
            <a:ext cx="7350595" cy="3216265"/>
          </a:xfrm>
          <a:prstGeom prst="rect">
            <a:avLst/>
          </a:prstGeom>
        </p:spPr>
        <p:txBody>
          <a:bodyPr wrap="square" lIns="0" tIns="0" rIns="0" bIns="0" rtlCol="0" anchor="t">
            <a:spAutoFit/>
          </a:bodyPr>
          <a:lstStyle/>
          <a:p>
            <a:pPr marL="560705" lvl="1" indent="-280035">
              <a:lnSpc>
                <a:spcPts val="3640"/>
              </a:lnSpc>
              <a:buFont typeface="Arial"/>
              <a:buChar char="•"/>
            </a:pPr>
            <a:r>
              <a:rPr lang="en-US" sz="2600">
                <a:solidFill>
                  <a:srgbClr val="2E3A44"/>
                </a:solidFill>
                <a:latin typeface="Nunito"/>
                <a:sym typeface="Nunito"/>
              </a:rPr>
              <a:t>The player must be able to enter the game from a main menu and select an AI difficulty.</a:t>
            </a:r>
          </a:p>
          <a:p>
            <a:pPr marL="560705" lvl="1" indent="-280035">
              <a:lnSpc>
                <a:spcPts val="3640"/>
              </a:lnSpc>
              <a:buFont typeface="Arial"/>
              <a:buChar char="•"/>
            </a:pPr>
            <a:r>
              <a:rPr lang="en-US" sz="2600">
                <a:solidFill>
                  <a:srgbClr val="2E3A44"/>
                </a:solidFill>
                <a:latin typeface="Nunito"/>
              </a:rPr>
              <a:t>Loads varying end-game scenes depending on match outcome</a:t>
            </a:r>
          </a:p>
          <a:p>
            <a:pPr marL="560705" lvl="1" indent="-280035">
              <a:lnSpc>
                <a:spcPts val="3640"/>
              </a:lnSpc>
              <a:buFont typeface="Arial"/>
              <a:buChar char="•"/>
            </a:pPr>
            <a:r>
              <a:rPr lang="en-US" sz="2600">
                <a:solidFill>
                  <a:srgbClr val="2E3A44"/>
                </a:solidFill>
                <a:latin typeface="Nunito"/>
              </a:rPr>
              <a:t>In-game must show health bars depleting, and a return to the main menu when one character reaches zero.</a:t>
            </a:r>
          </a:p>
        </p:txBody>
      </p:sp>
      <p:sp>
        <p:nvSpPr>
          <p:cNvPr id="18" name="TextBox 18">
            <a:extLst>
              <a:ext uri="{FF2B5EF4-FFF2-40B4-BE49-F238E27FC236}">
                <a16:creationId xmlns:a16="http://schemas.microsoft.com/office/drawing/2014/main" id="{3D0D3E8D-8234-F14B-522B-7E26FC4EE498}"/>
              </a:ext>
            </a:extLst>
          </p:cNvPr>
          <p:cNvSpPr txBox="1"/>
          <p:nvPr/>
        </p:nvSpPr>
        <p:spPr>
          <a:xfrm>
            <a:off x="237855" y="184436"/>
            <a:ext cx="15872016" cy="1273426"/>
          </a:xfrm>
          <a:prstGeom prst="rect">
            <a:avLst/>
          </a:prstGeom>
        </p:spPr>
        <p:txBody>
          <a:bodyPr wrap="square" lIns="0" tIns="0" rIns="0" bIns="0" rtlCol="0" anchor="t">
            <a:spAutoFit/>
          </a:bodyPr>
          <a:lstStyle/>
          <a:p>
            <a:pPr>
              <a:lnSpc>
                <a:spcPts val="10500"/>
              </a:lnSpc>
            </a:pPr>
            <a:r>
              <a:rPr lang="en-US" sz="7500" b="1">
                <a:solidFill>
                  <a:srgbClr val="2E3A44"/>
                </a:solidFill>
                <a:latin typeface="Nirand Bold"/>
                <a:cs typeface="Nirand Bold"/>
                <a:sym typeface="Nirand Bold"/>
              </a:rPr>
              <a:t>Minimum Viable Product  (MVP)</a:t>
            </a:r>
            <a:endParaRPr lang="en-US"/>
          </a:p>
        </p:txBody>
      </p:sp>
      <p:sp>
        <p:nvSpPr>
          <p:cNvPr id="19" name="TextBox 18">
            <a:extLst>
              <a:ext uri="{FF2B5EF4-FFF2-40B4-BE49-F238E27FC236}">
                <a16:creationId xmlns:a16="http://schemas.microsoft.com/office/drawing/2014/main" id="{CC01F5E5-358E-9033-4AA8-F7347B946E1F}"/>
              </a:ext>
            </a:extLst>
          </p:cNvPr>
          <p:cNvSpPr txBox="1"/>
          <p:nvPr/>
        </p:nvSpPr>
        <p:spPr>
          <a:xfrm>
            <a:off x="542924" y="158591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Environment:</a:t>
            </a:r>
          </a:p>
        </p:txBody>
      </p:sp>
      <p:sp>
        <p:nvSpPr>
          <p:cNvPr id="20" name="TextBox 19">
            <a:extLst>
              <a:ext uri="{FF2B5EF4-FFF2-40B4-BE49-F238E27FC236}">
                <a16:creationId xmlns:a16="http://schemas.microsoft.com/office/drawing/2014/main" id="{DCC3A2EB-C731-381C-B0C3-E72EF831CC78}"/>
              </a:ext>
            </a:extLst>
          </p:cNvPr>
          <p:cNvSpPr txBox="1"/>
          <p:nvPr/>
        </p:nvSpPr>
        <p:spPr>
          <a:xfrm>
            <a:off x="9520175" y="524333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Game Flow:</a:t>
            </a:r>
          </a:p>
        </p:txBody>
      </p:sp>
      <p:sp>
        <p:nvSpPr>
          <p:cNvPr id="21" name="TextBox 20">
            <a:extLst>
              <a:ext uri="{FF2B5EF4-FFF2-40B4-BE49-F238E27FC236}">
                <a16:creationId xmlns:a16="http://schemas.microsoft.com/office/drawing/2014/main" id="{EC7B0A3D-7936-DC98-EF17-BABF250FF9F2}"/>
              </a:ext>
            </a:extLst>
          </p:cNvPr>
          <p:cNvSpPr txBox="1"/>
          <p:nvPr/>
        </p:nvSpPr>
        <p:spPr>
          <a:xfrm>
            <a:off x="9520175" y="1585912"/>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Combat System:</a:t>
            </a:r>
          </a:p>
        </p:txBody>
      </p:sp>
      <p:sp>
        <p:nvSpPr>
          <p:cNvPr id="22" name="TextBox 21">
            <a:extLst>
              <a:ext uri="{FF2B5EF4-FFF2-40B4-BE49-F238E27FC236}">
                <a16:creationId xmlns:a16="http://schemas.microsoft.com/office/drawing/2014/main" id="{CE5A4478-3BDE-11A7-6D56-FF51A259DC02}"/>
              </a:ext>
            </a:extLst>
          </p:cNvPr>
          <p:cNvSpPr txBox="1"/>
          <p:nvPr/>
        </p:nvSpPr>
        <p:spPr>
          <a:xfrm>
            <a:off x="542923" y="5388015"/>
            <a:ext cx="477202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119627"/>
                </a:solidFill>
                <a:latin typeface="Nirand Bold"/>
                <a:cs typeface="Nirand Bold"/>
              </a:rPr>
              <a:t>The AI Difficulties:</a:t>
            </a:r>
          </a:p>
        </p:txBody>
      </p:sp>
      <p:grpSp>
        <p:nvGrpSpPr>
          <p:cNvPr id="26" name="Group 5">
            <a:extLst>
              <a:ext uri="{FF2B5EF4-FFF2-40B4-BE49-F238E27FC236}">
                <a16:creationId xmlns:a16="http://schemas.microsoft.com/office/drawing/2014/main" id="{2508EC52-C639-B8BA-8E38-B21D9C1DD556}"/>
              </a:ext>
            </a:extLst>
          </p:cNvPr>
          <p:cNvGrpSpPr/>
          <p:nvPr/>
        </p:nvGrpSpPr>
        <p:grpSpPr>
          <a:xfrm>
            <a:off x="16521239" y="3432186"/>
            <a:ext cx="8028675" cy="8028675"/>
            <a:chOff x="0" y="0"/>
            <a:chExt cx="812800" cy="812800"/>
          </a:xfrm>
        </p:grpSpPr>
        <p:sp>
          <p:nvSpPr>
            <p:cNvPr id="24" name="Freeform 6">
              <a:extLst>
                <a:ext uri="{FF2B5EF4-FFF2-40B4-BE49-F238E27FC236}">
                  <a16:creationId xmlns:a16="http://schemas.microsoft.com/office/drawing/2014/main" id="{A7B65BF0-980C-2FEE-7320-C68728F30C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25" name="TextBox 7">
              <a:extLst>
                <a:ext uri="{FF2B5EF4-FFF2-40B4-BE49-F238E27FC236}">
                  <a16:creationId xmlns:a16="http://schemas.microsoft.com/office/drawing/2014/main" id="{4258DCCC-7326-1FAF-4E2C-23CB1E87493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9">
            <a:extLst>
              <a:ext uri="{FF2B5EF4-FFF2-40B4-BE49-F238E27FC236}">
                <a16:creationId xmlns:a16="http://schemas.microsoft.com/office/drawing/2014/main" id="{D210EE38-1496-B6FB-AD03-6EB265108B21}"/>
              </a:ext>
            </a:extLst>
          </p:cNvPr>
          <p:cNvGrpSpPr/>
          <p:nvPr/>
        </p:nvGrpSpPr>
        <p:grpSpPr>
          <a:xfrm>
            <a:off x="-554057" y="9190536"/>
            <a:ext cx="1586288" cy="1586288"/>
            <a:chOff x="0" y="0"/>
            <a:chExt cx="812800" cy="812800"/>
          </a:xfrm>
        </p:grpSpPr>
        <p:sp>
          <p:nvSpPr>
            <p:cNvPr id="28" name="Freeform 10">
              <a:extLst>
                <a:ext uri="{FF2B5EF4-FFF2-40B4-BE49-F238E27FC236}">
                  <a16:creationId xmlns:a16="http://schemas.microsoft.com/office/drawing/2014/main" id="{6DC1D053-9340-AADF-3370-906C87E7BC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29" name="TextBox 11">
              <a:extLst>
                <a:ext uri="{FF2B5EF4-FFF2-40B4-BE49-F238E27FC236}">
                  <a16:creationId xmlns:a16="http://schemas.microsoft.com/office/drawing/2014/main" id="{E3FAFAB8-9974-2E28-C9A9-7925CBDD1C7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6F4FF-337F-5D21-BDDE-08F809FE4303}"/>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5DF18C2D-1FA4-7E89-2B2A-5FF4BD48D89E}"/>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pic>
        <p:nvPicPr>
          <p:cNvPr id="12" name="Picture 11">
            <a:extLst>
              <a:ext uri="{FF2B5EF4-FFF2-40B4-BE49-F238E27FC236}">
                <a16:creationId xmlns:a16="http://schemas.microsoft.com/office/drawing/2014/main" id="{F90E75CC-F0E7-EEF6-DC33-343D06935C8C}"/>
              </a:ext>
            </a:extLst>
          </p:cNvPr>
          <p:cNvPicPr>
            <a:picLocks noChangeAspect="1"/>
          </p:cNvPicPr>
          <p:nvPr/>
        </p:nvPicPr>
        <p:blipFill>
          <a:blip r:embed="rId2"/>
          <a:stretch>
            <a:fillRect/>
          </a:stretch>
        </p:blipFill>
        <p:spPr>
          <a:xfrm>
            <a:off x="5170244" y="1174750"/>
            <a:ext cx="12827244" cy="8147539"/>
          </a:xfrm>
          <a:prstGeom prst="rect">
            <a:avLst/>
          </a:prstGeom>
        </p:spPr>
      </p:pic>
      <p:sp>
        <p:nvSpPr>
          <p:cNvPr id="14" name="Title 13">
            <a:extLst>
              <a:ext uri="{FF2B5EF4-FFF2-40B4-BE49-F238E27FC236}">
                <a16:creationId xmlns:a16="http://schemas.microsoft.com/office/drawing/2014/main" id="{CFAA9822-4B22-7532-AE3B-1505EB3CA314}"/>
              </a:ext>
            </a:extLst>
          </p:cNvPr>
          <p:cNvSpPr>
            <a:spLocks noGrp="1"/>
          </p:cNvSpPr>
          <p:nvPr>
            <p:ph type="title"/>
          </p:nvPr>
        </p:nvSpPr>
        <p:spPr>
          <a:xfrm>
            <a:off x="653923" y="2286000"/>
            <a:ext cx="4251960" cy="3566160"/>
          </a:xfrm>
        </p:spPr>
        <p:txBody>
          <a:bodyPr/>
          <a:lstStyle/>
          <a:p>
            <a:r>
              <a:rPr lang="en-US" sz="5650"/>
              <a:t>Sequence Diagram</a:t>
            </a:r>
            <a:endParaRPr lang="en-US"/>
          </a:p>
        </p:txBody>
      </p:sp>
    </p:spTree>
    <p:extLst>
      <p:ext uri="{BB962C8B-B14F-4D97-AF65-F5344CB8AC3E}">
        <p14:creationId xmlns:p14="http://schemas.microsoft.com/office/powerpoint/2010/main" val="1643095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9BCE4-CB81-207F-7501-9EC47329FDFA}"/>
            </a:ext>
          </a:extLst>
        </p:cNvPr>
        <p:cNvGrpSpPr/>
        <p:nvPr/>
      </p:nvGrpSpPr>
      <p:grpSpPr>
        <a:xfrm>
          <a:off x="0" y="0"/>
          <a:ext cx="0" cy="0"/>
          <a:chOff x="0" y="0"/>
          <a:chExt cx="0" cy="0"/>
        </a:xfrm>
      </p:grpSpPr>
      <p:pic>
        <p:nvPicPr>
          <p:cNvPr id="15" name="Picture 14" descr="A diagram of a software company&#10;&#10;AI-generated content may be incorrect.">
            <a:extLst>
              <a:ext uri="{FF2B5EF4-FFF2-40B4-BE49-F238E27FC236}">
                <a16:creationId xmlns:a16="http://schemas.microsoft.com/office/drawing/2014/main" id="{3797ECE0-D49C-7863-77D5-D3489D7F97A5}"/>
              </a:ext>
            </a:extLst>
          </p:cNvPr>
          <p:cNvPicPr>
            <a:picLocks noChangeAspect="1"/>
          </p:cNvPicPr>
          <p:nvPr/>
        </p:nvPicPr>
        <p:blipFill>
          <a:blip r:embed="rId2"/>
          <a:stretch>
            <a:fillRect/>
          </a:stretch>
        </p:blipFill>
        <p:spPr>
          <a:xfrm>
            <a:off x="8073170" y="1384423"/>
            <a:ext cx="7534275" cy="7781925"/>
          </a:xfrm>
          <a:prstGeom prst="rect">
            <a:avLst/>
          </a:prstGeom>
        </p:spPr>
      </p:pic>
      <p:grpSp>
        <p:nvGrpSpPr>
          <p:cNvPr id="2" name="Group 2">
            <a:extLst>
              <a:ext uri="{FF2B5EF4-FFF2-40B4-BE49-F238E27FC236}">
                <a16:creationId xmlns:a16="http://schemas.microsoft.com/office/drawing/2014/main" id="{334CCAE3-3D89-0FD1-E0D3-BCBE5983B233}"/>
              </a:ext>
            </a:extLst>
          </p:cNvPr>
          <p:cNvGrpSpPr/>
          <p:nvPr/>
        </p:nvGrpSpPr>
        <p:grpSpPr>
          <a:xfrm>
            <a:off x="-2654888" y="5523615"/>
            <a:ext cx="6880459" cy="6880459"/>
            <a:chOff x="0" y="0"/>
            <a:chExt cx="812800" cy="812800"/>
          </a:xfrm>
        </p:grpSpPr>
        <p:sp>
          <p:nvSpPr>
            <p:cNvPr id="3" name="Freeform 3">
              <a:extLst>
                <a:ext uri="{FF2B5EF4-FFF2-40B4-BE49-F238E27FC236}">
                  <a16:creationId xmlns:a16="http://schemas.microsoft.com/office/drawing/2014/main" id="{6DF99A8E-7AE6-EF83-AB98-4006B94403E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F351F902-768A-A579-06EC-E2AAC2A679F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ADE1B853-23D9-7148-56B5-5D0A3D6BEB61}"/>
              </a:ext>
            </a:extLst>
          </p:cNvPr>
          <p:cNvGrpSpPr/>
          <p:nvPr/>
        </p:nvGrpSpPr>
        <p:grpSpPr>
          <a:xfrm>
            <a:off x="15284854" y="1631945"/>
            <a:ext cx="3517329" cy="3517329"/>
            <a:chOff x="0" y="0"/>
            <a:chExt cx="812800" cy="812800"/>
          </a:xfrm>
        </p:grpSpPr>
        <p:sp>
          <p:nvSpPr>
            <p:cNvPr id="6" name="Freeform 6">
              <a:extLst>
                <a:ext uri="{FF2B5EF4-FFF2-40B4-BE49-F238E27FC236}">
                  <a16:creationId xmlns:a16="http://schemas.microsoft.com/office/drawing/2014/main" id="{0418F8C2-F034-7846-FECA-E961C490C77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F48613BC-4BC3-5C3E-8082-8A329B7C8A5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875BD20C-CD75-44B6-26A5-91EC5F83EC4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6245082-4074-3F25-ED92-730DECC91A78}"/>
              </a:ext>
            </a:extLst>
          </p:cNvPr>
          <p:cNvGrpSpPr/>
          <p:nvPr/>
        </p:nvGrpSpPr>
        <p:grpSpPr>
          <a:xfrm>
            <a:off x="13700605" y="402573"/>
            <a:ext cx="1586288" cy="1586288"/>
            <a:chOff x="0" y="0"/>
            <a:chExt cx="812800" cy="812800"/>
          </a:xfrm>
        </p:grpSpPr>
        <p:sp>
          <p:nvSpPr>
            <p:cNvPr id="11" name="TextBox 11">
              <a:extLst>
                <a:ext uri="{FF2B5EF4-FFF2-40B4-BE49-F238E27FC236}">
                  <a16:creationId xmlns:a16="http://schemas.microsoft.com/office/drawing/2014/main" id="{691958F6-7C32-946C-91B0-CCA22675483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sp>
          <p:nvSpPr>
            <p:cNvPr id="10" name="Freeform 10">
              <a:extLst>
                <a:ext uri="{FF2B5EF4-FFF2-40B4-BE49-F238E27FC236}">
                  <a16:creationId xmlns:a16="http://schemas.microsoft.com/office/drawing/2014/main" id="{D4387545-F304-D5F4-D383-C17005A6907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grpSp>
      <p:sp>
        <p:nvSpPr>
          <p:cNvPr id="12" name="TextBox 13">
            <a:extLst>
              <a:ext uri="{FF2B5EF4-FFF2-40B4-BE49-F238E27FC236}">
                <a16:creationId xmlns:a16="http://schemas.microsoft.com/office/drawing/2014/main" id="{A356CBF7-EC1B-7F49-69E4-79DE41722FC5}"/>
              </a:ext>
            </a:extLst>
          </p:cNvPr>
          <p:cNvSpPr txBox="1"/>
          <p:nvPr/>
        </p:nvSpPr>
        <p:spPr>
          <a:xfrm>
            <a:off x="1027043" y="405847"/>
            <a:ext cx="11121774" cy="23083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7200">
                <a:latin typeface="Nirand Bold"/>
                <a:ea typeface="Nirand Bold"/>
                <a:cs typeface="Nirand Bold"/>
              </a:rPr>
              <a:t>Conceptual Architecture Diagram</a:t>
            </a:r>
            <a:r>
              <a:rPr sz="7200">
                <a:latin typeface="Nirand Bold"/>
                <a:ea typeface="Nirand Bold"/>
                <a:cs typeface="Nirand Bold"/>
              </a:rPr>
              <a:t>​</a:t>
            </a:r>
            <a:endParaRPr lang="en-US">
              <a:latin typeface="Nirand Bold"/>
              <a:cs typeface="Nirand Bold"/>
            </a:endParaRPr>
          </a:p>
        </p:txBody>
      </p:sp>
      <p:sp>
        <p:nvSpPr>
          <p:cNvPr id="14" name="TextBox 22">
            <a:extLst>
              <a:ext uri="{FF2B5EF4-FFF2-40B4-BE49-F238E27FC236}">
                <a16:creationId xmlns:a16="http://schemas.microsoft.com/office/drawing/2014/main" id="{A62A46CF-269F-72B6-3829-40151BD5F529}"/>
              </a:ext>
            </a:extLst>
          </p:cNvPr>
          <p:cNvSpPr txBox="1"/>
          <p:nvPr/>
        </p:nvSpPr>
        <p:spPr>
          <a:xfrm>
            <a:off x="1022684" y="3083092"/>
            <a:ext cx="7294143" cy="586314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1100">
              <a:solidFill>
                <a:srgbClr val="202124"/>
              </a:solidFill>
              <a:latin typeface="Nunito"/>
              <a:ea typeface="Roboto"/>
              <a:cs typeface="Roboto"/>
            </a:endParaRPr>
          </a:p>
          <a:p>
            <a:r>
              <a:rPr lang="en" sz="2800">
                <a:solidFill>
                  <a:srgbClr val="3C4043"/>
                </a:solidFill>
                <a:latin typeface="Nunito"/>
                <a:ea typeface="Roboto"/>
                <a:cs typeface="Roboto"/>
              </a:rPr>
              <a:t>Frontend: Accepts player input and displays health status (HUD), Win/Lose Screen. </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Backend: The "brain" of the game, managing combat logic, character states, and difficulty.</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Entities: Game characters and a "smart" camera, operating according to the </a:t>
            </a:r>
            <a:r>
              <a:rPr lang="en" sz="2800" err="1">
                <a:solidFill>
                  <a:srgbClr val="3C4043"/>
                </a:solidFill>
                <a:latin typeface="Nunito"/>
                <a:ea typeface="Roboto"/>
                <a:cs typeface="Roboto"/>
              </a:rPr>
              <a:t>backend's</a:t>
            </a:r>
            <a:r>
              <a:rPr lang="en" sz="2800">
                <a:solidFill>
                  <a:srgbClr val="3C4043"/>
                </a:solidFill>
                <a:latin typeface="Nunito"/>
                <a:ea typeface="Roboto"/>
                <a:cs typeface="Roboto"/>
              </a:rPr>
              <a:t> rules.</a:t>
            </a:r>
            <a:endParaRPr lang="en-US" sz="2800">
              <a:solidFill>
                <a:srgbClr val="000000"/>
              </a:solidFill>
              <a:latin typeface="Nunito"/>
              <a:ea typeface="Roboto"/>
              <a:cs typeface="Roboto"/>
            </a:endParaRPr>
          </a:p>
          <a:p>
            <a:endParaRPr lang="en" sz="2800">
              <a:solidFill>
                <a:srgbClr val="3C4043"/>
              </a:solidFill>
              <a:latin typeface="Nunito"/>
              <a:ea typeface="Roboto"/>
              <a:cs typeface="Roboto"/>
            </a:endParaRPr>
          </a:p>
          <a:p>
            <a:r>
              <a:rPr lang="en" sz="2800">
                <a:solidFill>
                  <a:srgbClr val="3C4043"/>
                </a:solidFill>
                <a:latin typeface="Nunito"/>
                <a:ea typeface="Roboto"/>
                <a:cs typeface="Roboto"/>
              </a:rPr>
              <a:t>Data Storage: A stable foundation built on Unity 6.3 and Git LFS storage.</a:t>
            </a:r>
            <a:endParaRPr lang="en-US" sz="2800">
              <a:latin typeface="Nunito"/>
            </a:endParaRPr>
          </a:p>
          <a:p>
            <a:pPr algn="l"/>
            <a:endParaRPr lang="en-US" sz="2800"/>
          </a:p>
        </p:txBody>
      </p:sp>
    </p:spTree>
    <p:extLst>
      <p:ext uri="{BB962C8B-B14F-4D97-AF65-F5344CB8AC3E}">
        <p14:creationId xmlns:p14="http://schemas.microsoft.com/office/powerpoint/2010/main" val="3829767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42998"/>
            <a:ext cx="13712428" cy="8001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05394" y="1142998"/>
            <a:ext cx="4387977" cy="800100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8" name="Rectangle 27">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142998"/>
            <a:ext cx="6963342" cy="8001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Box 13">
            <a:extLst>
              <a:ext uri="{FF2B5EF4-FFF2-40B4-BE49-F238E27FC236}">
                <a16:creationId xmlns:a16="http://schemas.microsoft.com/office/drawing/2014/main" id="{3359D563-6D36-11C3-7E49-B81920AE541A}"/>
              </a:ext>
            </a:extLst>
          </p:cNvPr>
          <p:cNvSpPr txBox="1"/>
          <p:nvPr/>
        </p:nvSpPr>
        <p:spPr>
          <a:xfrm>
            <a:off x="1033273" y="3344672"/>
            <a:ext cx="4888032" cy="2469896"/>
          </a:xfrm>
          <a:prstGeom prst="rect">
            <a:avLst/>
          </a:prstGeom>
        </p:spPr>
        <p:txBody>
          <a:bodyPr rot="0" spcFirstLastPara="0" vert="horz" lIns="91440" tIns="45720" rIns="91440" bIns="45720" numCol="1" spcCol="0" rtlCol="0" fromWordArt="0" anchor="b" anchorCtr="0" forceAA="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5900" spc="-100">
                <a:solidFill>
                  <a:srgbClr val="FFFFFF"/>
                </a:solidFill>
                <a:latin typeface="+mj-lt"/>
                <a:ea typeface="+mj-ea"/>
                <a:cs typeface="+mj-cs"/>
              </a:rPr>
              <a:t>Class Diagram (UML Diagram)</a:t>
            </a:r>
          </a:p>
        </p:txBody>
      </p:sp>
      <p:pic>
        <p:nvPicPr>
          <p:cNvPr id="19" name="Picture 18">
            <a:extLst>
              <a:ext uri="{FF2B5EF4-FFF2-40B4-BE49-F238E27FC236}">
                <a16:creationId xmlns:a16="http://schemas.microsoft.com/office/drawing/2014/main" id="{ED108B3B-9922-B5EC-CD1F-6EBEF1496238}"/>
              </a:ext>
            </a:extLst>
          </p:cNvPr>
          <p:cNvPicPr>
            <a:picLocks noChangeAspect="1"/>
          </p:cNvPicPr>
          <p:nvPr/>
        </p:nvPicPr>
        <p:blipFill>
          <a:blip r:embed="rId2"/>
          <a:stretch>
            <a:fillRect/>
          </a:stretch>
        </p:blipFill>
        <p:spPr>
          <a:xfrm>
            <a:off x="8334776" y="1139398"/>
            <a:ext cx="8243273" cy="7995975"/>
          </a:xfrm>
          <a:prstGeom prst="rect">
            <a:avLst/>
          </a:prstGeom>
        </p:spPr>
      </p:pic>
      <p:sp>
        <p:nvSpPr>
          <p:cNvPr id="32" name="Rectangle 31">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723796" y="1138428"/>
            <a:ext cx="576072" cy="7996428"/>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642917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815F42-F98E-60D4-66F2-A9F5D61DD164}"/>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5CD4C046-A04C-46CC-AFA3-6B0621F62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905394" y="1142998"/>
            <a:ext cx="4387977" cy="800100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6" name="Picture 15" descr="A screen shot of a computer game&#10;&#10;AI-generated content may be incorrect.">
            <a:extLst>
              <a:ext uri="{FF2B5EF4-FFF2-40B4-BE49-F238E27FC236}">
                <a16:creationId xmlns:a16="http://schemas.microsoft.com/office/drawing/2014/main" id="{8736F741-45C7-407C-DBFB-08E3C2680CE2}"/>
              </a:ext>
            </a:extLst>
          </p:cNvPr>
          <p:cNvPicPr>
            <a:picLocks noChangeAspect="1"/>
          </p:cNvPicPr>
          <p:nvPr/>
        </p:nvPicPr>
        <p:blipFill>
          <a:blip r:embed="rId2"/>
          <a:srcRect t="1169" r="1" b="14541"/>
          <a:stretch>
            <a:fillRect/>
          </a:stretch>
        </p:blipFill>
        <p:spPr>
          <a:xfrm>
            <a:off x="20" y="-1"/>
            <a:ext cx="18283408" cy="10286999"/>
          </a:xfrm>
          <a:prstGeom prst="rect">
            <a:avLst/>
          </a:prstGeom>
        </p:spPr>
      </p:pic>
      <p:sp>
        <p:nvSpPr>
          <p:cNvPr id="12" name="TextBox 13">
            <a:extLst>
              <a:ext uri="{FF2B5EF4-FFF2-40B4-BE49-F238E27FC236}">
                <a16:creationId xmlns:a16="http://schemas.microsoft.com/office/drawing/2014/main" id="{D5B8C1F6-09F1-CD1F-EB4F-70DB7E5E1576}"/>
              </a:ext>
            </a:extLst>
          </p:cNvPr>
          <p:cNvSpPr txBox="1"/>
          <p:nvPr/>
        </p:nvSpPr>
        <p:spPr>
          <a:xfrm>
            <a:off x="2930710" y="1845554"/>
            <a:ext cx="5042930" cy="2007107"/>
          </a:xfrm>
          <a:prstGeom prst="rect">
            <a:avLst/>
          </a:prstGeom>
        </p:spPr>
        <p:txBody>
          <a:bodyPr rot="0" spcFirstLastPara="0" vert="horz" lIns="91440" tIns="45720" rIns="91440" bIns="45720" numCol="1" spcCol="0" rtlCol="0" fromWordArt="0" anchor="b" anchorCtr="0" forceAA="0" compatLnSpc="1">
            <a:prstTxWarp prst="textNoShape">
              <a:avLst/>
            </a:prstTxWarp>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90000"/>
              </a:lnSpc>
              <a:spcBef>
                <a:spcPct val="0"/>
              </a:spcBef>
              <a:spcAft>
                <a:spcPts val="600"/>
              </a:spcAft>
            </a:pPr>
            <a:r>
              <a:rPr lang="en-US" sz="6600" spc="-100">
                <a:latin typeface="+mj-lt"/>
                <a:ea typeface="+mj-ea"/>
                <a:cs typeface="+mj-cs"/>
              </a:rPr>
              <a:t>Use Case Diagram​</a:t>
            </a:r>
          </a:p>
        </p:txBody>
      </p:sp>
    </p:spTree>
    <p:extLst>
      <p:ext uri="{BB962C8B-B14F-4D97-AF65-F5344CB8AC3E}">
        <p14:creationId xmlns:p14="http://schemas.microsoft.com/office/powerpoint/2010/main" val="3791117151"/>
      </p:ext>
    </p:extLst>
  </p:cSld>
  <p:clrMapOvr>
    <a:overrideClrMapping bg1="dk1" tx1="lt1" bg2="dk2" tx2="lt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3F877-4715-0E71-BBBC-3ADE2674F33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B8648D-85AB-8B4B-C46D-EE357D9AD6E9}"/>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4EE2C75B-5664-0ADB-458E-9F39507D0F0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1FF13004-B698-4592-F73D-F7A339B9F1B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5A2D1F6-A3DB-D017-971C-0178FA669340}"/>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0AB405C-A479-1F64-5D77-81E0B65613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08FA4C2B-4BA7-4970-01E9-057D77EDD91E}"/>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E009E2A0-42AC-945E-62DC-BB7A48D11AFD}"/>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920E3A99-1580-C1B8-9ED9-80377C2656A7}"/>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E37FFDA2-2D62-22DF-B233-DC1F55F71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9D3FAA4-658D-6D1B-35E3-E0453D6A26C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92B3588C-CB04-3E8A-3468-33042258D4E1}"/>
              </a:ext>
            </a:extLst>
          </p:cNvPr>
          <p:cNvSpPr txBox="1"/>
          <p:nvPr/>
        </p:nvSpPr>
        <p:spPr>
          <a:xfrm>
            <a:off x="3687640" y="-220692"/>
            <a:ext cx="916427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Product Backlog</a:t>
            </a:r>
            <a:endParaRPr lang="en-US" sz="6000"/>
          </a:p>
        </p:txBody>
      </p:sp>
      <p:pic>
        <p:nvPicPr>
          <p:cNvPr id="12" name="Picture 11" descr="A screenshot of a computer&#10;&#10;AI-generated content may be incorrect.">
            <a:extLst>
              <a:ext uri="{FF2B5EF4-FFF2-40B4-BE49-F238E27FC236}">
                <a16:creationId xmlns:a16="http://schemas.microsoft.com/office/drawing/2014/main" id="{D7EBBF38-DCDA-FF43-A62F-445B2B9DB0C1}"/>
              </a:ext>
            </a:extLst>
          </p:cNvPr>
          <p:cNvPicPr>
            <a:picLocks noChangeAspect="1"/>
          </p:cNvPicPr>
          <p:nvPr/>
        </p:nvPicPr>
        <p:blipFill>
          <a:blip r:embed="rId2"/>
          <a:stretch>
            <a:fillRect/>
          </a:stretch>
        </p:blipFill>
        <p:spPr>
          <a:xfrm>
            <a:off x="-2198" y="1116257"/>
            <a:ext cx="18292396" cy="7746755"/>
          </a:xfrm>
          <a:prstGeom prst="rect">
            <a:avLst/>
          </a:prstGeom>
        </p:spPr>
      </p:pic>
    </p:spTree>
    <p:extLst>
      <p:ext uri="{BB962C8B-B14F-4D97-AF65-F5344CB8AC3E}">
        <p14:creationId xmlns:p14="http://schemas.microsoft.com/office/powerpoint/2010/main" val="4038318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0D395-C24A-3D3A-3718-EB430794FD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FDF22F-33DB-3387-9D77-78E7BE41C622}"/>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E41DB1DD-F2D4-1049-3F56-CAD4338FC93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1B6AE9E-37B9-C56E-88A7-062741DE1AD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97DD55EC-C253-1312-CFB2-DCA67F47CFA4}"/>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06BCEEC4-1D4B-B3CB-9A21-72D5ED49D0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D0EA9C7D-0C93-E0CF-627A-0407DB400A9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222CC9F2-8E44-AFD4-6EBB-67D9581CADF7}"/>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00C6F5B-C80B-2DBD-90DC-A4383D1E5321}"/>
              </a:ext>
            </a:extLst>
          </p:cNvPr>
          <p:cNvGrpSpPr/>
          <p:nvPr/>
        </p:nvGrpSpPr>
        <p:grpSpPr>
          <a:xfrm>
            <a:off x="-557588" y="7989602"/>
            <a:ext cx="1586288" cy="1586288"/>
            <a:chOff x="0" y="0"/>
            <a:chExt cx="812800" cy="812800"/>
          </a:xfrm>
        </p:grpSpPr>
        <p:sp>
          <p:nvSpPr>
            <p:cNvPr id="10" name="Freeform 10">
              <a:extLst>
                <a:ext uri="{FF2B5EF4-FFF2-40B4-BE49-F238E27FC236}">
                  <a16:creationId xmlns:a16="http://schemas.microsoft.com/office/drawing/2014/main" id="{78ED3E4C-9886-2E4F-8843-8F62644B143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E8D2753-C0AE-6009-9788-15627BD1E0F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884C8EC-51C6-394F-A107-A8053D8513EC}"/>
              </a:ext>
            </a:extLst>
          </p:cNvPr>
          <p:cNvSpPr txBox="1"/>
          <p:nvPr/>
        </p:nvSpPr>
        <p:spPr>
          <a:xfrm>
            <a:off x="2417640" y="1558"/>
            <a:ext cx="1192652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Product Backlog Continued</a:t>
            </a:r>
            <a:endParaRPr lang="en-US" sz="6000"/>
          </a:p>
        </p:txBody>
      </p:sp>
      <p:pic>
        <p:nvPicPr>
          <p:cNvPr id="12" name="Picture 11" descr="A screenshot of a video game&#10;&#10;AI-generated content may be incorrect.">
            <a:extLst>
              <a:ext uri="{FF2B5EF4-FFF2-40B4-BE49-F238E27FC236}">
                <a16:creationId xmlns:a16="http://schemas.microsoft.com/office/drawing/2014/main" id="{4D6921D5-6981-80F9-2488-00961534B8CF}"/>
              </a:ext>
            </a:extLst>
          </p:cNvPr>
          <p:cNvPicPr>
            <a:picLocks noChangeAspect="1"/>
          </p:cNvPicPr>
          <p:nvPr/>
        </p:nvPicPr>
        <p:blipFill>
          <a:blip r:embed="rId2"/>
          <a:stretch>
            <a:fillRect/>
          </a:stretch>
        </p:blipFill>
        <p:spPr>
          <a:xfrm>
            <a:off x="-4763" y="1465263"/>
            <a:ext cx="18297525" cy="6515100"/>
          </a:xfrm>
          <a:prstGeom prst="rect">
            <a:avLst/>
          </a:prstGeom>
        </p:spPr>
      </p:pic>
    </p:spTree>
    <p:extLst>
      <p:ext uri="{BB962C8B-B14F-4D97-AF65-F5344CB8AC3E}">
        <p14:creationId xmlns:p14="http://schemas.microsoft.com/office/powerpoint/2010/main" val="4127186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07A73-CEA7-9CE9-39C0-2E9C6EA8EF7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61BADAD-6230-7084-475D-CFDD475E6D1F}"/>
              </a:ext>
            </a:extLst>
          </p:cNvPr>
          <p:cNvGrpSpPr/>
          <p:nvPr/>
        </p:nvGrpSpPr>
        <p:grpSpPr>
          <a:xfrm>
            <a:off x="16712612" y="-2106"/>
            <a:ext cx="1578209" cy="1355959"/>
            <a:chOff x="0" y="0"/>
            <a:chExt cx="812800" cy="812800"/>
          </a:xfrm>
        </p:grpSpPr>
        <p:sp>
          <p:nvSpPr>
            <p:cNvPr id="3" name="Freeform 3">
              <a:extLst>
                <a:ext uri="{FF2B5EF4-FFF2-40B4-BE49-F238E27FC236}">
                  <a16:creationId xmlns:a16="http://schemas.microsoft.com/office/drawing/2014/main" id="{F76FB774-9E5F-053D-E189-AC92D191B35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5993EC7C-DC86-912A-8EB3-8AF239801D1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5BA0E03-7A76-BAD6-9D1B-5FA63C1AEAB7}"/>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F84FE63B-707E-C352-798D-C4ACC93CF7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5FCB2658-6D69-2B33-8EA8-25F590446E2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689E4611-EACA-1BE4-21D1-1628BCDE6D74}"/>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3506740-B09E-460C-D8DE-C352690D70D6}"/>
              </a:ext>
            </a:extLst>
          </p:cNvPr>
          <p:cNvGrpSpPr/>
          <p:nvPr/>
        </p:nvGrpSpPr>
        <p:grpSpPr>
          <a:xfrm>
            <a:off x="-557588" y="9497727"/>
            <a:ext cx="1586288" cy="1586288"/>
            <a:chOff x="0" y="0"/>
            <a:chExt cx="812800" cy="812800"/>
          </a:xfrm>
        </p:grpSpPr>
        <p:sp>
          <p:nvSpPr>
            <p:cNvPr id="10" name="Freeform 10">
              <a:extLst>
                <a:ext uri="{FF2B5EF4-FFF2-40B4-BE49-F238E27FC236}">
                  <a16:creationId xmlns:a16="http://schemas.microsoft.com/office/drawing/2014/main" id="{2E0CCF00-0E47-D54E-765F-6D31E19BFC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2232C1B-5805-5ABF-0DED-C3EEE3E9A3E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EADBBE0A-15A7-5DAA-28EB-EE5660FB0568}"/>
              </a:ext>
            </a:extLst>
          </p:cNvPr>
          <p:cNvSpPr txBox="1"/>
          <p:nvPr/>
        </p:nvSpPr>
        <p:spPr>
          <a:xfrm>
            <a:off x="2417640" y="1558"/>
            <a:ext cx="1192652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Product Backlog Continued</a:t>
            </a:r>
            <a:endParaRPr lang="en-US" sz="6000"/>
          </a:p>
        </p:txBody>
      </p:sp>
      <p:pic>
        <p:nvPicPr>
          <p:cNvPr id="16" name="Picture 15" descr="A screenshot of a game&#10;&#10;AI-generated content may be incorrect.">
            <a:extLst>
              <a:ext uri="{FF2B5EF4-FFF2-40B4-BE49-F238E27FC236}">
                <a16:creationId xmlns:a16="http://schemas.microsoft.com/office/drawing/2014/main" id="{510C9D11-CC37-F4B1-945F-4D898941B0B8}"/>
              </a:ext>
            </a:extLst>
          </p:cNvPr>
          <p:cNvPicPr>
            <a:picLocks noChangeAspect="1"/>
          </p:cNvPicPr>
          <p:nvPr/>
        </p:nvPicPr>
        <p:blipFill>
          <a:blip r:embed="rId2"/>
          <a:stretch>
            <a:fillRect/>
          </a:stretch>
        </p:blipFill>
        <p:spPr>
          <a:xfrm>
            <a:off x="0" y="1831975"/>
            <a:ext cx="18288000" cy="6019800"/>
          </a:xfrm>
          <a:prstGeom prst="rect">
            <a:avLst/>
          </a:prstGeom>
        </p:spPr>
      </p:pic>
    </p:spTree>
    <p:extLst>
      <p:ext uri="{BB962C8B-B14F-4D97-AF65-F5344CB8AC3E}">
        <p14:creationId xmlns:p14="http://schemas.microsoft.com/office/powerpoint/2010/main" val="1805619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4505-A415-3E29-EEA3-04C40800475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5F5EA6-2A11-23E6-671C-3293E8F579A5}"/>
              </a:ext>
            </a:extLst>
          </p:cNvPr>
          <p:cNvGrpSpPr/>
          <p:nvPr/>
        </p:nvGrpSpPr>
        <p:grpSpPr>
          <a:xfrm>
            <a:off x="17633362" y="3839644"/>
            <a:ext cx="6880459" cy="6880459"/>
            <a:chOff x="0" y="0"/>
            <a:chExt cx="812800" cy="812800"/>
          </a:xfrm>
        </p:grpSpPr>
        <p:sp>
          <p:nvSpPr>
            <p:cNvPr id="3" name="Freeform 3">
              <a:extLst>
                <a:ext uri="{FF2B5EF4-FFF2-40B4-BE49-F238E27FC236}">
                  <a16:creationId xmlns:a16="http://schemas.microsoft.com/office/drawing/2014/main" id="{036504FB-268D-C50A-A76A-7F3D489BF7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FECA5ED-DAB0-78F7-3984-731B6B26A63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299929B-9C9A-4486-8064-6A8B8FD69EEB}"/>
              </a:ext>
            </a:extLst>
          </p:cNvPr>
          <p:cNvGrpSpPr/>
          <p:nvPr/>
        </p:nvGrpSpPr>
        <p:grpSpPr>
          <a:xfrm>
            <a:off x="-1904108" y="-539267"/>
            <a:ext cx="3517329" cy="3517329"/>
            <a:chOff x="0" y="0"/>
            <a:chExt cx="812800" cy="812800"/>
          </a:xfrm>
        </p:grpSpPr>
        <p:sp>
          <p:nvSpPr>
            <p:cNvPr id="6" name="Freeform 6">
              <a:extLst>
                <a:ext uri="{FF2B5EF4-FFF2-40B4-BE49-F238E27FC236}">
                  <a16:creationId xmlns:a16="http://schemas.microsoft.com/office/drawing/2014/main" id="{366372BF-CC92-AA11-4041-2536CE6542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2EF815A0-DBAF-E6AC-2932-79351867662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8F609A87-0520-1471-D9B0-A31B8444A73E}"/>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6F9AC6F-4477-A0E0-C012-5023800AA362}"/>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5A757AF7-D6EE-55C6-3833-C90D788A0E1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B9F44357-A878-F447-E73A-B8558691DBD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9CB41B79-480E-DD4E-F36E-67ACE38D3F25}"/>
              </a:ext>
            </a:extLst>
          </p:cNvPr>
          <p:cNvSpPr txBox="1"/>
          <p:nvPr/>
        </p:nvSpPr>
        <p:spPr>
          <a:xfrm>
            <a:off x="4640" y="1558"/>
            <a:ext cx="1827652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Product Backlog – Removed User Story</a:t>
            </a:r>
            <a:endParaRPr lang="en-US" sz="6000"/>
          </a:p>
        </p:txBody>
      </p:sp>
      <p:pic>
        <p:nvPicPr>
          <p:cNvPr id="16" name="Picture 15" descr="A red rectangular box with black text&#10;&#10;AI-generated content may be incorrect.">
            <a:extLst>
              <a:ext uri="{FF2B5EF4-FFF2-40B4-BE49-F238E27FC236}">
                <a16:creationId xmlns:a16="http://schemas.microsoft.com/office/drawing/2014/main" id="{8CF7F339-8145-0265-8D00-5E15AC59CFBE}"/>
              </a:ext>
            </a:extLst>
          </p:cNvPr>
          <p:cNvPicPr>
            <a:picLocks noChangeAspect="1"/>
          </p:cNvPicPr>
          <p:nvPr/>
        </p:nvPicPr>
        <p:blipFill>
          <a:blip r:embed="rId2"/>
          <a:stretch>
            <a:fillRect/>
          </a:stretch>
        </p:blipFill>
        <p:spPr>
          <a:xfrm>
            <a:off x="612775" y="2935288"/>
            <a:ext cx="17014825" cy="3527425"/>
          </a:xfrm>
          <a:prstGeom prst="rect">
            <a:avLst/>
          </a:prstGeom>
        </p:spPr>
      </p:pic>
    </p:spTree>
    <p:extLst>
      <p:ext uri="{BB962C8B-B14F-4D97-AF65-F5344CB8AC3E}">
        <p14:creationId xmlns:p14="http://schemas.microsoft.com/office/powerpoint/2010/main" val="23473275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C0CA3-7A2C-2383-F314-DA36AA1A17D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D98A2F8-AD70-C0B0-4787-5F49FA4DFD3F}"/>
              </a:ext>
            </a:extLst>
          </p:cNvPr>
          <p:cNvGrpSpPr/>
          <p:nvPr/>
        </p:nvGrpSpPr>
        <p:grpSpPr>
          <a:xfrm>
            <a:off x="16712612" y="-2106"/>
            <a:ext cx="1578209" cy="1355959"/>
            <a:chOff x="0" y="0"/>
            <a:chExt cx="812800" cy="812800"/>
          </a:xfrm>
        </p:grpSpPr>
        <p:sp>
          <p:nvSpPr>
            <p:cNvPr id="3" name="Freeform 3">
              <a:extLst>
                <a:ext uri="{FF2B5EF4-FFF2-40B4-BE49-F238E27FC236}">
                  <a16:creationId xmlns:a16="http://schemas.microsoft.com/office/drawing/2014/main" id="{0A4D8618-A14B-1BB3-9993-E3EE911C72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34493A94-3047-8EF3-0F7C-DB5EE92C08E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F474DB46-DDDB-E275-741A-23B0D8E2C317}"/>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8A51F84B-B391-F397-7DB4-D716AA53CEF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513D334C-F388-8D25-8540-07C3789A810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0252780-D576-CF05-55EE-D158C5A1CDA1}"/>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65BD0A1B-7DEA-0778-F260-FCEDD1495C92}"/>
              </a:ext>
            </a:extLst>
          </p:cNvPr>
          <p:cNvGrpSpPr/>
          <p:nvPr/>
        </p:nvGrpSpPr>
        <p:grpSpPr>
          <a:xfrm>
            <a:off x="-557588" y="9497727"/>
            <a:ext cx="1586288" cy="1586288"/>
            <a:chOff x="0" y="0"/>
            <a:chExt cx="812800" cy="812800"/>
          </a:xfrm>
        </p:grpSpPr>
        <p:sp>
          <p:nvSpPr>
            <p:cNvPr id="10" name="Freeform 10">
              <a:extLst>
                <a:ext uri="{FF2B5EF4-FFF2-40B4-BE49-F238E27FC236}">
                  <a16:creationId xmlns:a16="http://schemas.microsoft.com/office/drawing/2014/main" id="{150BF39A-A634-686C-D424-773DC99A1B4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BF81551A-EFB7-960D-697C-9755C3E941F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C256A4C-66E9-B927-FA01-AD167BF81340}"/>
              </a:ext>
            </a:extLst>
          </p:cNvPr>
          <p:cNvSpPr txBox="1"/>
          <p:nvPr/>
        </p:nvSpPr>
        <p:spPr>
          <a:xfrm>
            <a:off x="2417640" y="1558"/>
            <a:ext cx="1192652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Sprint 1 User Stories</a:t>
            </a:r>
            <a:endParaRPr lang="en-US" sz="6000"/>
          </a:p>
        </p:txBody>
      </p:sp>
      <p:pic>
        <p:nvPicPr>
          <p:cNvPr id="12" name="Picture 11" descr="A screenshot of a video game&#10;&#10;AI-generated content may be incorrect.">
            <a:extLst>
              <a:ext uri="{FF2B5EF4-FFF2-40B4-BE49-F238E27FC236}">
                <a16:creationId xmlns:a16="http://schemas.microsoft.com/office/drawing/2014/main" id="{462E298B-AF90-1C9E-D6DC-6F174AF22CC5}"/>
              </a:ext>
            </a:extLst>
          </p:cNvPr>
          <p:cNvPicPr>
            <a:picLocks noChangeAspect="1"/>
          </p:cNvPicPr>
          <p:nvPr/>
        </p:nvPicPr>
        <p:blipFill>
          <a:blip r:embed="rId2"/>
          <a:stretch>
            <a:fillRect/>
          </a:stretch>
        </p:blipFill>
        <p:spPr>
          <a:xfrm>
            <a:off x="2642821" y="1223229"/>
            <a:ext cx="12548088" cy="7679348"/>
          </a:xfrm>
          <a:prstGeom prst="rect">
            <a:avLst/>
          </a:prstGeom>
        </p:spPr>
      </p:pic>
    </p:spTree>
    <p:extLst>
      <p:ext uri="{BB962C8B-B14F-4D97-AF65-F5344CB8AC3E}">
        <p14:creationId xmlns:p14="http://schemas.microsoft.com/office/powerpoint/2010/main" val="2466585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A3546-8E4A-6178-3B3C-0AD806868A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E31041C-BA30-9E52-6C9E-10FD19D940FF}"/>
              </a:ext>
            </a:extLst>
          </p:cNvPr>
          <p:cNvGrpSpPr/>
          <p:nvPr/>
        </p:nvGrpSpPr>
        <p:grpSpPr>
          <a:xfrm>
            <a:off x="16712612" y="-2106"/>
            <a:ext cx="1578209" cy="1355959"/>
            <a:chOff x="0" y="0"/>
            <a:chExt cx="812800" cy="812800"/>
          </a:xfrm>
        </p:grpSpPr>
        <p:sp>
          <p:nvSpPr>
            <p:cNvPr id="3" name="Freeform 3">
              <a:extLst>
                <a:ext uri="{FF2B5EF4-FFF2-40B4-BE49-F238E27FC236}">
                  <a16:creationId xmlns:a16="http://schemas.microsoft.com/office/drawing/2014/main" id="{C9D7AF62-0C0F-CCAF-F282-2452F75C27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10520219-6CA3-9D4C-9E79-536D323F0E12}"/>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88AB8C1-887C-BE89-6248-0F32ACE838EF}"/>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67DB3A5-EA22-1C90-B6E2-37762B4AB6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F376B4D4-8A4D-8541-7877-7A9F2EB1294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5D9BA650-AA1C-3E32-C32A-7038FBF48CB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A60C7364-9423-75AF-82D4-0645D54924D5}"/>
              </a:ext>
            </a:extLst>
          </p:cNvPr>
          <p:cNvGrpSpPr/>
          <p:nvPr/>
        </p:nvGrpSpPr>
        <p:grpSpPr>
          <a:xfrm>
            <a:off x="-557588" y="9497727"/>
            <a:ext cx="1586288" cy="1586288"/>
            <a:chOff x="0" y="0"/>
            <a:chExt cx="812800" cy="812800"/>
          </a:xfrm>
        </p:grpSpPr>
        <p:sp>
          <p:nvSpPr>
            <p:cNvPr id="10" name="Freeform 10">
              <a:extLst>
                <a:ext uri="{FF2B5EF4-FFF2-40B4-BE49-F238E27FC236}">
                  <a16:creationId xmlns:a16="http://schemas.microsoft.com/office/drawing/2014/main" id="{880B1788-BC1D-F02F-F16F-F8E89934078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020FF41-4EDD-82E7-9326-18FD34FA06B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2D31454E-03D4-DE24-CF52-AF681E81F24E}"/>
              </a:ext>
            </a:extLst>
          </p:cNvPr>
          <p:cNvSpPr txBox="1"/>
          <p:nvPr/>
        </p:nvSpPr>
        <p:spPr>
          <a:xfrm>
            <a:off x="2417640" y="1558"/>
            <a:ext cx="1192652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Sprint 1 User Stories Continued</a:t>
            </a:r>
            <a:endParaRPr lang="en-US" sz="6000"/>
          </a:p>
        </p:txBody>
      </p:sp>
      <p:pic>
        <p:nvPicPr>
          <p:cNvPr id="12" name="Picture 11" descr="A screenshot of a video game&#10;&#10;AI-generated content may be incorrect.">
            <a:extLst>
              <a:ext uri="{FF2B5EF4-FFF2-40B4-BE49-F238E27FC236}">
                <a16:creationId xmlns:a16="http://schemas.microsoft.com/office/drawing/2014/main" id="{548E8CD9-4CD1-FF62-C1C9-2EA9939EC64F}"/>
              </a:ext>
            </a:extLst>
          </p:cNvPr>
          <p:cNvPicPr>
            <a:picLocks noChangeAspect="1"/>
          </p:cNvPicPr>
          <p:nvPr/>
        </p:nvPicPr>
        <p:blipFill>
          <a:blip r:embed="rId2"/>
          <a:stretch>
            <a:fillRect/>
          </a:stretch>
        </p:blipFill>
        <p:spPr>
          <a:xfrm>
            <a:off x="3276599" y="1350351"/>
            <a:ext cx="10621107" cy="7234604"/>
          </a:xfrm>
          <a:prstGeom prst="rect">
            <a:avLst/>
          </a:prstGeom>
        </p:spPr>
      </p:pic>
    </p:spTree>
    <p:extLst>
      <p:ext uri="{BB962C8B-B14F-4D97-AF65-F5344CB8AC3E}">
        <p14:creationId xmlns:p14="http://schemas.microsoft.com/office/powerpoint/2010/main" val="650776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0FBA-D0E7-03FD-A425-2316CE98C60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9BA8EC9-DFDE-AF98-9BE0-8C30C5ACC67A}"/>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50C930B2-9959-6426-4970-81D2851ECC3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00204DFB-7A19-2644-4C91-B074061A9BC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FC9C115-B0DC-85AC-F88A-0262A6CED02D}"/>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E63A43E0-D877-565A-3204-6583DB53B7C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F125B0C4-AEB3-2EF1-5C2D-2D11DE0E67C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B5CBDAD5-6952-E7E7-23FA-A2D60925BFF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1E7ACE68-0A8C-9B11-2FC3-D8F3F13B4A0A}"/>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B26C6BDB-BDFB-6418-8C5E-1422C3E1CE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DB1D0CEF-5086-3ED3-F85A-0F19A5F160B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D290A638-3AA3-A337-6028-EE88B6771AC7}"/>
              </a:ext>
            </a:extLst>
          </p:cNvPr>
          <p:cNvSpPr txBox="1"/>
          <p:nvPr/>
        </p:nvSpPr>
        <p:spPr>
          <a:xfrm>
            <a:off x="787400" y="394770"/>
            <a:ext cx="16683044"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Sprint 1 Burndown Chart</a:t>
            </a:r>
            <a:endParaRPr lang="en-US" sz="7500" b="1">
              <a:solidFill>
                <a:srgbClr val="2E3A44"/>
              </a:solidFill>
              <a:latin typeface="Nirand Bold"/>
              <a:cs typeface="Nirand Bold"/>
            </a:endParaRPr>
          </a:p>
        </p:txBody>
      </p:sp>
      <p:pic>
        <p:nvPicPr>
          <p:cNvPr id="15" name="Picture 14" descr="A graph showing a line&#10;&#10;AI-generated content may be incorrect.">
            <a:extLst>
              <a:ext uri="{FF2B5EF4-FFF2-40B4-BE49-F238E27FC236}">
                <a16:creationId xmlns:a16="http://schemas.microsoft.com/office/drawing/2014/main" id="{D29BD33D-F468-6C16-AEDB-258A7923DD1C}"/>
              </a:ext>
            </a:extLst>
          </p:cNvPr>
          <p:cNvPicPr>
            <a:picLocks noChangeAspect="1"/>
          </p:cNvPicPr>
          <p:nvPr/>
        </p:nvPicPr>
        <p:blipFill>
          <a:blip r:embed="rId2"/>
          <a:stretch>
            <a:fillRect/>
          </a:stretch>
        </p:blipFill>
        <p:spPr>
          <a:xfrm>
            <a:off x="4763" y="1662113"/>
            <a:ext cx="18278475" cy="8105775"/>
          </a:xfrm>
          <a:prstGeom prst="rect">
            <a:avLst/>
          </a:prstGeom>
        </p:spPr>
      </p:pic>
    </p:spTree>
    <p:extLst>
      <p:ext uri="{BB962C8B-B14F-4D97-AF65-F5344CB8AC3E}">
        <p14:creationId xmlns:p14="http://schemas.microsoft.com/office/powerpoint/2010/main" val="1703574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43CCF-F675-F257-61CC-EFDFC515AD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DE362A9-1475-E04E-48E6-700AA30EA892}"/>
              </a:ext>
            </a:extLst>
          </p:cNvPr>
          <p:cNvGrpSpPr/>
          <p:nvPr/>
        </p:nvGrpSpPr>
        <p:grpSpPr>
          <a:xfrm>
            <a:off x="16712612" y="-2106"/>
            <a:ext cx="1578209" cy="1355959"/>
            <a:chOff x="0" y="0"/>
            <a:chExt cx="812800" cy="812800"/>
          </a:xfrm>
        </p:grpSpPr>
        <p:sp>
          <p:nvSpPr>
            <p:cNvPr id="3" name="Freeform 3">
              <a:extLst>
                <a:ext uri="{FF2B5EF4-FFF2-40B4-BE49-F238E27FC236}">
                  <a16:creationId xmlns:a16="http://schemas.microsoft.com/office/drawing/2014/main" id="{23D068A5-2FA3-A286-D3F0-F6AA409B66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2F22B850-AB8C-5876-346C-D4D4658C929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FDDE305C-EFE6-9A64-BF19-08BE196497A9}"/>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32C743E9-C727-7223-7C98-0995CA76BE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A7D617F0-9C51-9841-E20E-D33B8EB6A74D}"/>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AF4B8E75-16FF-3E5D-9459-6ECE061EEDD6}"/>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649A314-64FD-734C-6D6E-160512E3810D}"/>
              </a:ext>
            </a:extLst>
          </p:cNvPr>
          <p:cNvGrpSpPr/>
          <p:nvPr/>
        </p:nvGrpSpPr>
        <p:grpSpPr>
          <a:xfrm>
            <a:off x="-557588" y="9497727"/>
            <a:ext cx="1586288" cy="1586288"/>
            <a:chOff x="0" y="0"/>
            <a:chExt cx="812800" cy="812800"/>
          </a:xfrm>
        </p:grpSpPr>
        <p:sp>
          <p:nvSpPr>
            <p:cNvPr id="10" name="Freeform 10">
              <a:extLst>
                <a:ext uri="{FF2B5EF4-FFF2-40B4-BE49-F238E27FC236}">
                  <a16:creationId xmlns:a16="http://schemas.microsoft.com/office/drawing/2014/main" id="{7A7E2DDC-43BC-BD58-BFD0-A205C2970AC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3B12F8E6-01F7-F3DB-0452-0E7FDDDCF05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7A40C21E-0079-E830-34CE-948FF717C094}"/>
              </a:ext>
            </a:extLst>
          </p:cNvPr>
          <p:cNvSpPr txBox="1"/>
          <p:nvPr/>
        </p:nvSpPr>
        <p:spPr>
          <a:xfrm>
            <a:off x="2417640" y="1558"/>
            <a:ext cx="11926521" cy="1220719"/>
          </a:xfrm>
          <a:prstGeom prst="rect">
            <a:avLst/>
          </a:prstGeom>
        </p:spPr>
        <p:txBody>
          <a:bodyPr wrap="square" lIns="0" tIns="0" rIns="0" bIns="0" rtlCol="0" anchor="t">
            <a:spAutoFit/>
          </a:bodyPr>
          <a:lstStyle/>
          <a:p>
            <a:pPr algn="ctr">
              <a:lnSpc>
                <a:spcPts val="10500"/>
              </a:lnSpc>
            </a:pPr>
            <a:r>
              <a:rPr lang="en-US" sz="6000" b="1">
                <a:solidFill>
                  <a:srgbClr val="2E3A44"/>
                </a:solidFill>
                <a:latin typeface="Nirand Bold"/>
                <a:cs typeface="Nirand Bold"/>
                <a:sym typeface="Nirand Bold"/>
              </a:rPr>
              <a:t>Sprint 2 User Stories</a:t>
            </a:r>
            <a:endParaRPr lang="en-US" sz="6000"/>
          </a:p>
        </p:txBody>
      </p:sp>
      <p:pic>
        <p:nvPicPr>
          <p:cNvPr id="12" name="Picture 11" descr="A screenshot of a computer program&#10;&#10;AI-generated content may be incorrect.">
            <a:extLst>
              <a:ext uri="{FF2B5EF4-FFF2-40B4-BE49-F238E27FC236}">
                <a16:creationId xmlns:a16="http://schemas.microsoft.com/office/drawing/2014/main" id="{A934948D-D866-D59A-C9D8-97B5809FECF7}"/>
              </a:ext>
            </a:extLst>
          </p:cNvPr>
          <p:cNvPicPr>
            <a:picLocks noChangeAspect="1"/>
          </p:cNvPicPr>
          <p:nvPr/>
        </p:nvPicPr>
        <p:blipFill>
          <a:blip r:embed="rId2"/>
          <a:stretch>
            <a:fillRect/>
          </a:stretch>
        </p:blipFill>
        <p:spPr>
          <a:xfrm>
            <a:off x="2413488" y="1222131"/>
            <a:ext cx="13270523" cy="7491046"/>
          </a:xfrm>
          <a:prstGeom prst="rect">
            <a:avLst/>
          </a:prstGeom>
        </p:spPr>
      </p:pic>
    </p:spTree>
    <p:extLst>
      <p:ext uri="{BB962C8B-B14F-4D97-AF65-F5344CB8AC3E}">
        <p14:creationId xmlns:p14="http://schemas.microsoft.com/office/powerpoint/2010/main" val="563453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DE696-1819-DEED-B086-6F7A43B3F62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29140D7-4F0A-914D-BE79-C65D734AE058}"/>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75D0ED1-6706-31CC-10E7-CB6B0D7E59B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5961613F-E1FF-23A0-5B51-057391EE0DE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886EACA2-2707-1ED6-4A18-9AF67C3B3DEA}"/>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D50B1B6-C63D-7176-0D34-14C9D4A14AC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572985EF-A4F2-70DD-69F8-D75EE2411F26}"/>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001BC862-9422-8F72-D3F1-FBE4E45B31DD}"/>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C86832B9-85F5-769A-8C4D-D4784D149A99}"/>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607A16CE-53E4-4056-15A0-08F83CA9A41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930C8C4-62FF-D565-8DF6-042B71B88F5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DF6C101A-D2C3-D8F0-DB02-FCA99EB85A51}"/>
              </a:ext>
            </a:extLst>
          </p:cNvPr>
          <p:cNvSpPr txBox="1"/>
          <p:nvPr/>
        </p:nvSpPr>
        <p:spPr>
          <a:xfrm>
            <a:off x="-6350" y="394770"/>
            <a:ext cx="18286419"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Sprint 2 Burndown Chart</a:t>
            </a:r>
            <a:endParaRPr lang="en-US" sz="7500" b="1">
              <a:solidFill>
                <a:srgbClr val="2E3A44"/>
              </a:solidFill>
              <a:latin typeface="Nirand Bold"/>
              <a:cs typeface="Nirand Bold"/>
            </a:endParaRPr>
          </a:p>
        </p:txBody>
      </p:sp>
      <p:pic>
        <p:nvPicPr>
          <p:cNvPr id="14" name="Picture 13" descr="A graph with a red line&#10;&#10;AI-generated content may be incorrect.">
            <a:extLst>
              <a:ext uri="{FF2B5EF4-FFF2-40B4-BE49-F238E27FC236}">
                <a16:creationId xmlns:a16="http://schemas.microsoft.com/office/drawing/2014/main" id="{5F5A29FF-B8E1-0124-FBB7-0111532E4078}"/>
              </a:ext>
            </a:extLst>
          </p:cNvPr>
          <p:cNvPicPr>
            <a:picLocks noChangeAspect="1"/>
          </p:cNvPicPr>
          <p:nvPr/>
        </p:nvPicPr>
        <p:blipFill>
          <a:blip r:embed="rId2"/>
          <a:stretch>
            <a:fillRect/>
          </a:stretch>
        </p:blipFill>
        <p:spPr>
          <a:xfrm>
            <a:off x="836" y="1548314"/>
            <a:ext cx="18282151" cy="8360109"/>
          </a:xfrm>
          <a:prstGeom prst="rect">
            <a:avLst/>
          </a:prstGeom>
        </p:spPr>
      </p:pic>
    </p:spTree>
    <p:extLst>
      <p:ext uri="{BB962C8B-B14F-4D97-AF65-F5344CB8AC3E}">
        <p14:creationId xmlns:p14="http://schemas.microsoft.com/office/powerpoint/2010/main" val="36919329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44C07-2257-6C47-B70B-2DB6E8334CE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30A162D-9EF6-37EC-1E35-36CEBC65CC5E}"/>
              </a:ext>
            </a:extLst>
          </p:cNvPr>
          <p:cNvGrpSpPr/>
          <p:nvPr/>
        </p:nvGrpSpPr>
        <p:grpSpPr>
          <a:xfrm>
            <a:off x="15315612" y="-1272106"/>
            <a:ext cx="3530834" cy="3102209"/>
            <a:chOff x="0" y="0"/>
            <a:chExt cx="812800" cy="812800"/>
          </a:xfrm>
        </p:grpSpPr>
        <p:sp>
          <p:nvSpPr>
            <p:cNvPr id="3" name="Freeform 3">
              <a:extLst>
                <a:ext uri="{FF2B5EF4-FFF2-40B4-BE49-F238E27FC236}">
                  <a16:creationId xmlns:a16="http://schemas.microsoft.com/office/drawing/2014/main" id="{98FB3F27-3735-8D0C-776B-002AB10006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D194F0C5-2825-B96C-5A75-62BB0225A4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B750D9C3-B279-FCD7-CDC8-43A04D18D19A}"/>
              </a:ext>
            </a:extLst>
          </p:cNvPr>
          <p:cNvGrpSpPr/>
          <p:nvPr/>
        </p:nvGrpSpPr>
        <p:grpSpPr>
          <a:xfrm>
            <a:off x="-2316858" y="-1968017"/>
            <a:ext cx="3517329" cy="3517329"/>
            <a:chOff x="0" y="0"/>
            <a:chExt cx="812800" cy="812800"/>
          </a:xfrm>
        </p:grpSpPr>
        <p:sp>
          <p:nvSpPr>
            <p:cNvPr id="6" name="Freeform 6">
              <a:extLst>
                <a:ext uri="{FF2B5EF4-FFF2-40B4-BE49-F238E27FC236}">
                  <a16:creationId xmlns:a16="http://schemas.microsoft.com/office/drawing/2014/main" id="{30CB64CC-31BE-BB5E-C9DE-EC40802816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9E105AEB-6DC0-D151-F871-2326AB84F7B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5C12928-2DCB-A21C-7CA6-FB025092A49F}"/>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90C16ECD-3D18-0700-3908-94A7A5C3078F}"/>
              </a:ext>
            </a:extLst>
          </p:cNvPr>
          <p:cNvGrpSpPr/>
          <p:nvPr/>
        </p:nvGrpSpPr>
        <p:grpSpPr>
          <a:xfrm>
            <a:off x="-795713" y="8068977"/>
            <a:ext cx="1586288" cy="1586288"/>
            <a:chOff x="0" y="0"/>
            <a:chExt cx="812800" cy="812800"/>
          </a:xfrm>
        </p:grpSpPr>
        <p:sp>
          <p:nvSpPr>
            <p:cNvPr id="10" name="Freeform 10">
              <a:extLst>
                <a:ext uri="{FF2B5EF4-FFF2-40B4-BE49-F238E27FC236}">
                  <a16:creationId xmlns:a16="http://schemas.microsoft.com/office/drawing/2014/main" id="{5AF366F9-F86C-72D5-BEC8-70A0F21A188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80C5E977-24BD-0558-E56C-876529D5799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FA785E97-0C07-BBED-18BC-7934614BE21F}"/>
              </a:ext>
            </a:extLst>
          </p:cNvPr>
          <p:cNvSpPr txBox="1"/>
          <p:nvPr/>
        </p:nvSpPr>
        <p:spPr>
          <a:xfrm>
            <a:off x="2546183" y="274454"/>
            <a:ext cx="12514603"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rPr>
              <a:t>Sprint 3 Stories Backlog</a:t>
            </a:r>
            <a:endParaRPr lang="en-US"/>
          </a:p>
        </p:txBody>
      </p:sp>
      <p:pic>
        <p:nvPicPr>
          <p:cNvPr id="12" name="Picture 11" descr="A screenshot of a computer&#10;&#10;AI-generated content may be incorrect.">
            <a:extLst>
              <a:ext uri="{FF2B5EF4-FFF2-40B4-BE49-F238E27FC236}">
                <a16:creationId xmlns:a16="http://schemas.microsoft.com/office/drawing/2014/main" id="{8BCC8BC1-723B-F9FA-1D84-69D7E0E472D2}"/>
              </a:ext>
            </a:extLst>
          </p:cNvPr>
          <p:cNvPicPr>
            <a:picLocks noChangeAspect="1"/>
          </p:cNvPicPr>
          <p:nvPr/>
        </p:nvPicPr>
        <p:blipFill>
          <a:blip r:embed="rId2"/>
          <a:stretch>
            <a:fillRect/>
          </a:stretch>
        </p:blipFill>
        <p:spPr>
          <a:xfrm>
            <a:off x="-8426" y="2150085"/>
            <a:ext cx="18290198" cy="4433521"/>
          </a:xfrm>
          <a:prstGeom prst="rect">
            <a:avLst/>
          </a:prstGeom>
        </p:spPr>
      </p:pic>
    </p:spTree>
    <p:extLst>
      <p:ext uri="{BB962C8B-B14F-4D97-AF65-F5344CB8AC3E}">
        <p14:creationId xmlns:p14="http://schemas.microsoft.com/office/powerpoint/2010/main" val="730575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B7CE7-4F28-CF41-77CE-A5A2D9E1D39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B74C14C-2D24-2CC1-3734-00B8053C6916}"/>
              </a:ext>
            </a:extLst>
          </p:cNvPr>
          <p:cNvGrpSpPr/>
          <p:nvPr/>
        </p:nvGrpSpPr>
        <p:grpSpPr>
          <a:xfrm>
            <a:off x="17103381" y="-949721"/>
            <a:ext cx="3530834" cy="3102209"/>
            <a:chOff x="0" y="0"/>
            <a:chExt cx="812800" cy="812800"/>
          </a:xfrm>
        </p:grpSpPr>
        <p:sp>
          <p:nvSpPr>
            <p:cNvPr id="3" name="Freeform 3">
              <a:extLst>
                <a:ext uri="{FF2B5EF4-FFF2-40B4-BE49-F238E27FC236}">
                  <a16:creationId xmlns:a16="http://schemas.microsoft.com/office/drawing/2014/main" id="{A97BAADE-9C98-866F-A39B-16ABCEE1D91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75E4966A-1C74-1D93-9F8C-A784C225797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37A857E2-0A2F-3543-C13B-7E1C5B2444CE}"/>
              </a:ext>
            </a:extLst>
          </p:cNvPr>
          <p:cNvGrpSpPr/>
          <p:nvPr/>
        </p:nvGrpSpPr>
        <p:grpSpPr>
          <a:xfrm>
            <a:off x="-3196089" y="-1484440"/>
            <a:ext cx="3517329" cy="3517329"/>
            <a:chOff x="0" y="0"/>
            <a:chExt cx="812800" cy="812800"/>
          </a:xfrm>
        </p:grpSpPr>
        <p:sp>
          <p:nvSpPr>
            <p:cNvPr id="6" name="Freeform 6">
              <a:extLst>
                <a:ext uri="{FF2B5EF4-FFF2-40B4-BE49-F238E27FC236}">
                  <a16:creationId xmlns:a16="http://schemas.microsoft.com/office/drawing/2014/main" id="{263E7822-51EB-5DD2-9977-AF56E5BFAD0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9B2F0849-CB45-FB57-AF49-47497EC8AAE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5D08F5E4-BBB4-6D0F-0DBF-BC6CA7D66912}"/>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6803BCA1-D9B0-97ED-34FC-F6C353B732E4}"/>
              </a:ext>
            </a:extLst>
          </p:cNvPr>
          <p:cNvGrpSpPr/>
          <p:nvPr/>
        </p:nvGrpSpPr>
        <p:grpSpPr>
          <a:xfrm>
            <a:off x="-795713" y="8068977"/>
            <a:ext cx="1586288" cy="1586288"/>
            <a:chOff x="0" y="0"/>
            <a:chExt cx="812800" cy="812800"/>
          </a:xfrm>
        </p:grpSpPr>
        <p:sp>
          <p:nvSpPr>
            <p:cNvPr id="10" name="Freeform 10">
              <a:extLst>
                <a:ext uri="{FF2B5EF4-FFF2-40B4-BE49-F238E27FC236}">
                  <a16:creationId xmlns:a16="http://schemas.microsoft.com/office/drawing/2014/main" id="{D3055DAE-FEBE-5394-E37B-0E1168950F9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9ADC4A4E-DCCB-F834-F8DA-D6768C3BD49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BE5CC12E-232B-40ED-754F-B2CE1A35A125}"/>
              </a:ext>
            </a:extLst>
          </p:cNvPr>
          <p:cNvSpPr txBox="1"/>
          <p:nvPr/>
        </p:nvSpPr>
        <p:spPr>
          <a:xfrm>
            <a:off x="-457854" y="274454"/>
            <a:ext cx="18156332" cy="1273426"/>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rPr>
              <a:t>Sprint 3 Stories Backlog Continued</a:t>
            </a:r>
            <a:endParaRPr lang="en-US"/>
          </a:p>
        </p:txBody>
      </p:sp>
      <p:pic>
        <p:nvPicPr>
          <p:cNvPr id="15" name="Picture 14" descr="A screenshot of a computer program&#10;&#10;AI-generated content may be incorrect.">
            <a:extLst>
              <a:ext uri="{FF2B5EF4-FFF2-40B4-BE49-F238E27FC236}">
                <a16:creationId xmlns:a16="http://schemas.microsoft.com/office/drawing/2014/main" id="{EE3A49AA-6D58-CB42-B6C8-5A5AC4348A3B}"/>
              </a:ext>
            </a:extLst>
          </p:cNvPr>
          <p:cNvPicPr>
            <a:picLocks noChangeAspect="1"/>
          </p:cNvPicPr>
          <p:nvPr/>
        </p:nvPicPr>
        <p:blipFill>
          <a:blip r:embed="rId2"/>
          <a:stretch>
            <a:fillRect/>
          </a:stretch>
        </p:blipFill>
        <p:spPr>
          <a:xfrm>
            <a:off x="-1587" y="2709863"/>
            <a:ext cx="18291175" cy="4645025"/>
          </a:xfrm>
          <a:prstGeom prst="rect">
            <a:avLst/>
          </a:prstGeom>
        </p:spPr>
      </p:pic>
    </p:spTree>
    <p:extLst>
      <p:ext uri="{BB962C8B-B14F-4D97-AF65-F5344CB8AC3E}">
        <p14:creationId xmlns:p14="http://schemas.microsoft.com/office/powerpoint/2010/main" val="3659081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ABE3A-9084-4469-3D63-B048A551BE4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75B634-44D0-761F-7D18-58AC3BF97C00}"/>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0ED99FC2-91C0-4DB1-8C92-AF1C2C136E2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CEB33474-7B8A-E617-2A59-6FD96B15D6F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C47760BD-F670-C007-1FC1-5532E07B0604}"/>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FC4A449-40CE-57E5-2CF8-CAF1AFEBF4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69C4FEE8-154C-8973-1032-7F70DCAADC2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2D9FF6E6-C746-7783-8DA6-4444AA090A48}"/>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21DFF2A4-C282-187D-9392-7336B8BC9AE8}"/>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8C25594F-40CB-369E-39D6-9060FEA9AE9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C37EC183-7DBD-D65A-FA86-06C925228E0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A0585871-187B-8C6A-5248-1F1EEDE9133B}"/>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3 Test Cases</a:t>
            </a:r>
          </a:p>
        </p:txBody>
      </p:sp>
      <p:pic>
        <p:nvPicPr>
          <p:cNvPr id="12" name="Picture 11" descr="A screenshot of a computer&#10;&#10;AI-generated content may be incorrect.">
            <a:extLst>
              <a:ext uri="{FF2B5EF4-FFF2-40B4-BE49-F238E27FC236}">
                <a16:creationId xmlns:a16="http://schemas.microsoft.com/office/drawing/2014/main" id="{7B2E46D7-9D66-8BB9-722D-4737F9E47D54}"/>
              </a:ext>
            </a:extLst>
          </p:cNvPr>
          <p:cNvPicPr>
            <a:picLocks noChangeAspect="1"/>
          </p:cNvPicPr>
          <p:nvPr/>
        </p:nvPicPr>
        <p:blipFill>
          <a:blip r:embed="rId2"/>
          <a:stretch>
            <a:fillRect/>
          </a:stretch>
        </p:blipFill>
        <p:spPr>
          <a:xfrm>
            <a:off x="491271" y="684213"/>
            <a:ext cx="17266382" cy="9087094"/>
          </a:xfrm>
          <a:prstGeom prst="rect">
            <a:avLst/>
          </a:prstGeom>
        </p:spPr>
      </p:pic>
    </p:spTree>
    <p:extLst>
      <p:ext uri="{BB962C8B-B14F-4D97-AF65-F5344CB8AC3E}">
        <p14:creationId xmlns:p14="http://schemas.microsoft.com/office/powerpoint/2010/main" val="21359443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2A321-E03E-CE94-58B7-74CF6CD0756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6884B4-C815-91DE-A39E-5BE84C010F76}"/>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3B02A82E-67A5-891C-38A6-D7FDEFB5EF2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0058FC15-79BF-36D3-1FCB-16F5F1C6ED7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EBF7269F-B44C-D715-C422-813606911F5C}"/>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064FE147-D467-740E-6EB1-352C6AED1F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91586F77-D40C-787A-A7EA-4FCC9EC5E28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a:extLst>
              <a:ext uri="{FF2B5EF4-FFF2-40B4-BE49-F238E27FC236}">
                <a16:creationId xmlns:a16="http://schemas.microsoft.com/office/drawing/2014/main" id="{E5DB812E-B9D0-82ED-247A-43B69032068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7C2D1124-9D4F-239E-4A7B-2A3D9F4AB3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56CB2E58-5653-6369-29EC-DA0E7D59CDE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EFF5F52B-F83D-2DCA-AED4-0DB9AA44BCCE}"/>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3 Test Cases Continued</a:t>
            </a:r>
          </a:p>
        </p:txBody>
      </p:sp>
      <p:pic>
        <p:nvPicPr>
          <p:cNvPr id="14" name="Picture 13" descr="A screenshot of a computer screen&#10;&#10;AI-generated content may be incorrect.">
            <a:extLst>
              <a:ext uri="{FF2B5EF4-FFF2-40B4-BE49-F238E27FC236}">
                <a16:creationId xmlns:a16="http://schemas.microsoft.com/office/drawing/2014/main" id="{BBBB77FD-49B4-81EF-CCCF-7E6313676A84}"/>
              </a:ext>
            </a:extLst>
          </p:cNvPr>
          <p:cNvPicPr>
            <a:picLocks noChangeAspect="1"/>
          </p:cNvPicPr>
          <p:nvPr/>
        </p:nvPicPr>
        <p:blipFill>
          <a:blip r:embed="rId2"/>
          <a:stretch>
            <a:fillRect/>
          </a:stretch>
        </p:blipFill>
        <p:spPr>
          <a:xfrm>
            <a:off x="977900" y="682625"/>
            <a:ext cx="16316325" cy="9461500"/>
          </a:xfrm>
          <a:prstGeom prst="rect">
            <a:avLst/>
          </a:prstGeom>
        </p:spPr>
      </p:pic>
    </p:spTree>
    <p:extLst>
      <p:ext uri="{BB962C8B-B14F-4D97-AF65-F5344CB8AC3E}">
        <p14:creationId xmlns:p14="http://schemas.microsoft.com/office/powerpoint/2010/main" val="3392150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BD34D-64F3-CBEC-0379-AD100DD9B2D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8138A0D-8410-A833-9C96-8D0B8B69C8B2}"/>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F2B8401C-53AA-6543-F273-2B37797FE2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3987D842-97A6-2ACE-7BF1-6FA2476CA9A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319309E-873D-FBC0-5B7E-146AD4A5BB5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7E822CC9-1E82-A6E9-5805-011BAB5463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E194E69A-57CD-579F-670A-E55B76BF121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a:extLst>
              <a:ext uri="{FF2B5EF4-FFF2-40B4-BE49-F238E27FC236}">
                <a16:creationId xmlns:a16="http://schemas.microsoft.com/office/drawing/2014/main" id="{FF58058D-4C46-5344-2453-FB328D11803E}"/>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B6DA88E1-41C7-6FE1-06D7-4269155811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9EFA0886-8A7F-3774-507F-D47DF2998BD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7F705FAA-4130-FB5A-0A6C-784451FAA9BB}"/>
              </a:ext>
            </a:extLst>
          </p:cNvPr>
          <p:cNvSpPr txBox="1"/>
          <p:nvPr/>
        </p:nvSpPr>
        <p:spPr>
          <a:xfrm>
            <a:off x="4591551" y="-462480"/>
            <a:ext cx="9061694" cy="1137747"/>
          </a:xfrm>
          <a:prstGeom prst="rect">
            <a:avLst/>
          </a:prstGeom>
        </p:spPr>
        <p:txBody>
          <a:bodyPr wrap="square" lIns="0" tIns="0" rIns="0" bIns="0" rtlCol="0" anchor="t">
            <a:spAutoFit/>
          </a:bodyPr>
          <a:lstStyle/>
          <a:p>
            <a:pPr algn="ctr">
              <a:lnSpc>
                <a:spcPts val="10500"/>
              </a:lnSpc>
            </a:pPr>
            <a:r>
              <a:rPr lang="en-US" sz="3600" b="1">
                <a:solidFill>
                  <a:srgbClr val="2E3A44"/>
                </a:solidFill>
                <a:latin typeface="Nirand Bold"/>
                <a:cs typeface="Nirand Bold"/>
              </a:rPr>
              <a:t>Sprint 3 Test Cases Continued</a:t>
            </a:r>
          </a:p>
        </p:txBody>
      </p:sp>
      <p:pic>
        <p:nvPicPr>
          <p:cNvPr id="8" name="Picture 7" descr="A screenshot of a computer&#10;&#10;AI-generated content may be incorrect.">
            <a:extLst>
              <a:ext uri="{FF2B5EF4-FFF2-40B4-BE49-F238E27FC236}">
                <a16:creationId xmlns:a16="http://schemas.microsoft.com/office/drawing/2014/main" id="{27C4B335-3B37-CE18-0120-124EE31EE25F}"/>
              </a:ext>
            </a:extLst>
          </p:cNvPr>
          <p:cNvPicPr>
            <a:picLocks noChangeAspect="1"/>
          </p:cNvPicPr>
          <p:nvPr/>
        </p:nvPicPr>
        <p:blipFill>
          <a:blip r:embed="rId2"/>
          <a:stretch>
            <a:fillRect/>
          </a:stretch>
        </p:blipFill>
        <p:spPr>
          <a:xfrm>
            <a:off x="1293813" y="684213"/>
            <a:ext cx="15970250" cy="9601200"/>
          </a:xfrm>
          <a:prstGeom prst="rect">
            <a:avLst/>
          </a:prstGeom>
        </p:spPr>
      </p:pic>
    </p:spTree>
    <p:extLst>
      <p:ext uri="{BB962C8B-B14F-4D97-AF65-F5344CB8AC3E}">
        <p14:creationId xmlns:p14="http://schemas.microsoft.com/office/powerpoint/2010/main" val="35819871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0D5E3-B7D9-AE35-E4BD-B1DCA79F49F1}"/>
            </a:ext>
          </a:extLst>
        </p:cNvPr>
        <p:cNvGrpSpPr/>
        <p:nvPr/>
      </p:nvGrpSpPr>
      <p:grpSpPr>
        <a:xfrm>
          <a:off x="0" y="0"/>
          <a:ext cx="0" cy="0"/>
          <a:chOff x="0" y="0"/>
          <a:chExt cx="0" cy="0"/>
        </a:xfrm>
      </p:grpSpPr>
      <p:sp>
        <p:nvSpPr>
          <p:cNvPr id="8" name="AutoShape 8">
            <a:extLst>
              <a:ext uri="{FF2B5EF4-FFF2-40B4-BE49-F238E27FC236}">
                <a16:creationId xmlns:a16="http://schemas.microsoft.com/office/drawing/2014/main" id="{800B308B-BD57-B43D-1AEC-ED03CE727004}"/>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093C0F7-4DEE-2ABD-74DC-3BC50E852492}"/>
              </a:ext>
            </a:extLst>
          </p:cNvPr>
          <p:cNvGrpSpPr/>
          <p:nvPr/>
        </p:nvGrpSpPr>
        <p:grpSpPr>
          <a:xfrm>
            <a:off x="-557588" y="9259602"/>
            <a:ext cx="1586288" cy="1586288"/>
            <a:chOff x="0" y="0"/>
            <a:chExt cx="812800" cy="812800"/>
          </a:xfrm>
        </p:grpSpPr>
        <p:sp>
          <p:nvSpPr>
            <p:cNvPr id="10" name="Freeform 10">
              <a:extLst>
                <a:ext uri="{FF2B5EF4-FFF2-40B4-BE49-F238E27FC236}">
                  <a16:creationId xmlns:a16="http://schemas.microsoft.com/office/drawing/2014/main" id="{A44422BF-3F2C-4AFB-474D-54F460644C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90BFA7F-92EB-88DC-A6E1-05D59DB06FE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3">
            <a:extLst>
              <a:ext uri="{FF2B5EF4-FFF2-40B4-BE49-F238E27FC236}">
                <a16:creationId xmlns:a16="http://schemas.microsoft.com/office/drawing/2014/main" id="{71318ECD-9D0A-76AD-C52B-981075CC00D8}"/>
              </a:ext>
            </a:extLst>
          </p:cNvPr>
          <p:cNvSpPr txBox="1"/>
          <p:nvPr/>
        </p:nvSpPr>
        <p:spPr>
          <a:xfrm>
            <a:off x="2006111" y="-395124"/>
            <a:ext cx="13677655" cy="1166153"/>
          </a:xfrm>
          <a:prstGeom prst="rect">
            <a:avLst/>
          </a:prstGeom>
        </p:spPr>
        <p:txBody>
          <a:bodyPr wrap="square" lIns="0" tIns="0" rIns="0" bIns="0" rtlCol="0" anchor="t">
            <a:spAutoFit/>
          </a:bodyPr>
          <a:lstStyle/>
          <a:p>
            <a:pPr algn="ctr">
              <a:lnSpc>
                <a:spcPts val="10500"/>
              </a:lnSpc>
            </a:pPr>
            <a:r>
              <a:rPr lang="en-US" sz="4400" b="1">
                <a:solidFill>
                  <a:srgbClr val="2E3A44"/>
                </a:solidFill>
                <a:latin typeface="Nirand Bold"/>
                <a:cs typeface="Nirand Bold"/>
              </a:rPr>
              <a:t>Sprint 3 Stories Completed</a:t>
            </a:r>
          </a:p>
        </p:txBody>
      </p:sp>
      <p:pic>
        <p:nvPicPr>
          <p:cNvPr id="12" name="Picture 11" descr="A screenshot of a computer&#10;&#10;AI-generated content may be incorrect.">
            <a:extLst>
              <a:ext uri="{FF2B5EF4-FFF2-40B4-BE49-F238E27FC236}">
                <a16:creationId xmlns:a16="http://schemas.microsoft.com/office/drawing/2014/main" id="{A49CFD6B-A8CA-744A-9DB5-ABDD77F0AE94}"/>
              </a:ext>
            </a:extLst>
          </p:cNvPr>
          <p:cNvPicPr>
            <a:picLocks noChangeAspect="1"/>
          </p:cNvPicPr>
          <p:nvPr/>
        </p:nvPicPr>
        <p:blipFill>
          <a:blip r:embed="rId2"/>
          <a:stretch>
            <a:fillRect/>
          </a:stretch>
        </p:blipFill>
        <p:spPr>
          <a:xfrm>
            <a:off x="-7937" y="1119188"/>
            <a:ext cx="18288000" cy="6619875"/>
          </a:xfrm>
          <a:prstGeom prst="rect">
            <a:avLst/>
          </a:prstGeom>
        </p:spPr>
      </p:pic>
    </p:spTree>
    <p:extLst>
      <p:ext uri="{BB962C8B-B14F-4D97-AF65-F5344CB8AC3E}">
        <p14:creationId xmlns:p14="http://schemas.microsoft.com/office/powerpoint/2010/main" val="5187304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A29E-2D51-40EA-50EA-21BC82D9D35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06B5E0-73B3-5E0A-CC50-E3E24D08916E}"/>
              </a:ext>
            </a:extLst>
          </p:cNvPr>
          <p:cNvGrpSpPr/>
          <p:nvPr/>
        </p:nvGrpSpPr>
        <p:grpSpPr>
          <a:xfrm>
            <a:off x="14648862" y="5427144"/>
            <a:ext cx="6880459" cy="6880459"/>
            <a:chOff x="0" y="0"/>
            <a:chExt cx="812800" cy="812800"/>
          </a:xfrm>
        </p:grpSpPr>
        <p:sp>
          <p:nvSpPr>
            <p:cNvPr id="3" name="Freeform 3">
              <a:extLst>
                <a:ext uri="{FF2B5EF4-FFF2-40B4-BE49-F238E27FC236}">
                  <a16:creationId xmlns:a16="http://schemas.microsoft.com/office/drawing/2014/main" id="{8471CFAE-F674-69FA-B98D-FACDEA2624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F2362B7A-A5E8-0437-AC54-0D72401C425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E9ADA8DB-5B7B-1992-E307-094873A07F9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1C00A060-653E-8559-B0B8-142A07E8AB4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40670E2F-9066-C126-0E51-3EFFA604F57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05885B49-14FD-C74F-9B24-C34C6CD7BC15}"/>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3">
            <a:extLst>
              <a:ext uri="{FF2B5EF4-FFF2-40B4-BE49-F238E27FC236}">
                <a16:creationId xmlns:a16="http://schemas.microsoft.com/office/drawing/2014/main" id="{07A61C56-158B-DB21-5DFA-AB9871B0E422}"/>
              </a:ext>
            </a:extLst>
          </p:cNvPr>
          <p:cNvSpPr txBox="1"/>
          <p:nvPr/>
        </p:nvSpPr>
        <p:spPr>
          <a:xfrm>
            <a:off x="2006111" y="-395124"/>
            <a:ext cx="13677655" cy="1166153"/>
          </a:xfrm>
          <a:prstGeom prst="rect">
            <a:avLst/>
          </a:prstGeom>
        </p:spPr>
        <p:txBody>
          <a:bodyPr wrap="square" lIns="0" tIns="0" rIns="0" bIns="0" rtlCol="0" anchor="t">
            <a:spAutoFit/>
          </a:bodyPr>
          <a:lstStyle/>
          <a:p>
            <a:pPr algn="ctr">
              <a:lnSpc>
                <a:spcPts val="10500"/>
              </a:lnSpc>
            </a:pPr>
            <a:r>
              <a:rPr lang="en-US" sz="4400" b="1">
                <a:solidFill>
                  <a:srgbClr val="2E3A44"/>
                </a:solidFill>
                <a:latin typeface="Nirand Bold"/>
                <a:cs typeface="Nirand Bold"/>
              </a:rPr>
              <a:t>Sprint 3 Stories Not Completed</a:t>
            </a:r>
          </a:p>
        </p:txBody>
      </p:sp>
      <p:pic>
        <p:nvPicPr>
          <p:cNvPr id="13" name="Picture 12" descr="A screenshot of a computer&#10;&#10;AI-generated content may be incorrect.">
            <a:extLst>
              <a:ext uri="{FF2B5EF4-FFF2-40B4-BE49-F238E27FC236}">
                <a16:creationId xmlns:a16="http://schemas.microsoft.com/office/drawing/2014/main" id="{A8FAB208-F196-1F1F-BAB0-36C6518267D4}"/>
              </a:ext>
            </a:extLst>
          </p:cNvPr>
          <p:cNvPicPr>
            <a:picLocks noChangeAspect="1"/>
          </p:cNvPicPr>
          <p:nvPr/>
        </p:nvPicPr>
        <p:blipFill>
          <a:blip r:embed="rId2"/>
          <a:stretch>
            <a:fillRect/>
          </a:stretch>
        </p:blipFill>
        <p:spPr>
          <a:xfrm>
            <a:off x="233363" y="2576513"/>
            <a:ext cx="18297525" cy="2514600"/>
          </a:xfrm>
          <a:prstGeom prst="rect">
            <a:avLst/>
          </a:prstGeom>
        </p:spPr>
      </p:pic>
    </p:spTree>
    <p:extLst>
      <p:ext uri="{BB962C8B-B14F-4D97-AF65-F5344CB8AC3E}">
        <p14:creationId xmlns:p14="http://schemas.microsoft.com/office/powerpoint/2010/main" val="1590751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568BA-D105-9F92-F2E0-5E8AF6D54195}"/>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431DC0F8-213E-7250-FA6B-AC6E8FC8DCEA}"/>
              </a:ext>
            </a:extLst>
          </p:cNvPr>
          <p:cNvGrpSpPr/>
          <p:nvPr/>
        </p:nvGrpSpPr>
        <p:grpSpPr>
          <a:xfrm>
            <a:off x="-4121" y="-1188"/>
            <a:ext cx="3517329" cy="3517329"/>
            <a:chOff x="0" y="0"/>
            <a:chExt cx="812800" cy="812800"/>
          </a:xfrm>
        </p:grpSpPr>
        <p:sp>
          <p:nvSpPr>
            <p:cNvPr id="6" name="Freeform 6">
              <a:extLst>
                <a:ext uri="{FF2B5EF4-FFF2-40B4-BE49-F238E27FC236}">
                  <a16:creationId xmlns:a16="http://schemas.microsoft.com/office/drawing/2014/main" id="{E7A03F2F-2C72-3E7E-0F5B-ADD3B077325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8DB5BB91-F4EF-387B-71D5-C8D08D6826E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FBA142E3-C4FA-CA67-D1C8-51CF848FC02A}"/>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AE927A9A-F811-E00D-555A-2A5996F76D60}"/>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0155683C-5066-88DD-6417-C4650F4B64C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F76D729B-02C9-FA05-4AAC-330EA0767F89}"/>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E4C3A0A0-1033-D1AB-F4BA-ED1972A6D6ED}"/>
              </a:ext>
            </a:extLst>
          </p:cNvPr>
          <p:cNvSpPr txBox="1"/>
          <p:nvPr/>
        </p:nvSpPr>
        <p:spPr>
          <a:xfrm>
            <a:off x="3505055" y="230061"/>
            <a:ext cx="13280781" cy="2277675"/>
          </a:xfrm>
          <a:prstGeom prst="rect">
            <a:avLst/>
          </a:prstGeom>
        </p:spPr>
        <p:txBody>
          <a:bodyPr wrap="square" lIns="0" tIns="0" rIns="0" bIns="0" rtlCol="0" anchor="t">
            <a:spAutoFit/>
          </a:bodyPr>
          <a:lstStyle/>
          <a:p>
            <a:pPr algn="ctr"/>
            <a:r>
              <a:rPr lang="en-US" sz="7500" b="1">
                <a:solidFill>
                  <a:srgbClr val="2E3A44"/>
                </a:solidFill>
                <a:latin typeface="Nirand Bold"/>
                <a:cs typeface="Nirand Bold"/>
                <a:sym typeface="Nirand Bold"/>
              </a:rPr>
              <a:t>Team Velocity – Sprint 3</a:t>
            </a:r>
            <a:endParaRPr lang="en-US" sz="7500">
              <a:solidFill>
                <a:srgbClr val="000000"/>
              </a:solidFill>
              <a:latin typeface="Nirand Bold"/>
              <a:cs typeface="Nirand Bold"/>
              <a:sym typeface="Nirand Bold"/>
            </a:endParaRPr>
          </a:p>
          <a:p>
            <a:pPr algn="ctr">
              <a:lnSpc>
                <a:spcPts val="10500"/>
              </a:lnSpc>
            </a:pPr>
            <a:endParaRPr lang="en-US" sz="3200" b="1">
              <a:solidFill>
                <a:srgbClr val="2E3A44"/>
              </a:solidFill>
              <a:latin typeface="Nirand Bold"/>
              <a:cs typeface="Nirand Bold"/>
            </a:endParaRPr>
          </a:p>
        </p:txBody>
      </p:sp>
      <p:sp>
        <p:nvSpPr>
          <p:cNvPr id="17" name="TextBox 12">
            <a:extLst>
              <a:ext uri="{FF2B5EF4-FFF2-40B4-BE49-F238E27FC236}">
                <a16:creationId xmlns:a16="http://schemas.microsoft.com/office/drawing/2014/main" id="{EC26D055-B53F-C3CC-B80F-24BB33564721}"/>
              </a:ext>
            </a:extLst>
          </p:cNvPr>
          <p:cNvSpPr txBox="1"/>
          <p:nvPr/>
        </p:nvSpPr>
        <p:spPr>
          <a:xfrm>
            <a:off x="333877" y="4419359"/>
            <a:ext cx="8062919" cy="1453603"/>
          </a:xfrm>
          <a:prstGeom prst="rect">
            <a:avLst/>
          </a:prstGeom>
        </p:spPr>
        <p:txBody>
          <a:bodyPr wrap="square" lIns="0" tIns="0" rIns="0" bIns="0" rtlCol="0" anchor="t">
            <a:spAutoFit/>
          </a:bodyPr>
          <a:lstStyle/>
          <a:p>
            <a:pPr marL="280035" lvl="1">
              <a:lnSpc>
                <a:spcPts val="3640"/>
              </a:lnSpc>
            </a:pPr>
            <a:r>
              <a:rPr lang="en-US" sz="4800">
                <a:solidFill>
                  <a:srgbClr val="2E3A44"/>
                </a:solidFill>
                <a:latin typeface="Nunito"/>
                <a:ea typeface="Calibri"/>
                <a:cs typeface="Nirand Bold"/>
              </a:rPr>
              <a:t>Story Points Committed: 60</a:t>
            </a:r>
            <a:endParaRPr lang="en-US" sz="4800">
              <a:solidFill>
                <a:srgbClr val="000000"/>
              </a:solidFill>
              <a:latin typeface="Corbel" panose="020B0503020204020204"/>
              <a:ea typeface="Calibri"/>
              <a:cs typeface="Nirand Bold"/>
            </a:endParaRPr>
          </a:p>
          <a:p>
            <a:pPr marL="280035" lvl="1">
              <a:lnSpc>
                <a:spcPts val="3640"/>
              </a:lnSpc>
            </a:pPr>
            <a:endParaRPr lang="en-US" sz="4800">
              <a:solidFill>
                <a:srgbClr val="2E3A44"/>
              </a:solidFill>
              <a:latin typeface="Nunito"/>
              <a:ea typeface="Calibri"/>
              <a:cs typeface="Nirand Bold"/>
            </a:endParaRPr>
          </a:p>
          <a:p>
            <a:pPr marL="280035" lvl="1">
              <a:lnSpc>
                <a:spcPts val="3640"/>
              </a:lnSpc>
            </a:pPr>
            <a:r>
              <a:rPr lang="en-US" sz="4800">
                <a:solidFill>
                  <a:srgbClr val="2E3A44"/>
                </a:solidFill>
                <a:latin typeface="Nunito"/>
                <a:ea typeface="Calibri"/>
                <a:cs typeface="Nirand Bold"/>
              </a:rPr>
              <a:t>Story Points Completed: 51</a:t>
            </a:r>
            <a:endParaRPr lang="en-US" sz="4800"/>
          </a:p>
        </p:txBody>
      </p:sp>
      <p:pic>
        <p:nvPicPr>
          <p:cNvPr id="14" name="Picture 13" descr="A blue and orange squares&#10;&#10;AI-generated content may be incorrect.">
            <a:extLst>
              <a:ext uri="{FF2B5EF4-FFF2-40B4-BE49-F238E27FC236}">
                <a16:creationId xmlns:a16="http://schemas.microsoft.com/office/drawing/2014/main" id="{D05DACC0-B3A1-CD7E-2520-29CC8BD8D7CF}"/>
              </a:ext>
            </a:extLst>
          </p:cNvPr>
          <p:cNvPicPr>
            <a:picLocks noChangeAspect="1"/>
          </p:cNvPicPr>
          <p:nvPr/>
        </p:nvPicPr>
        <p:blipFill>
          <a:blip r:embed="rId2"/>
          <a:stretch>
            <a:fillRect/>
          </a:stretch>
        </p:blipFill>
        <p:spPr>
          <a:xfrm>
            <a:off x="8404225" y="1368425"/>
            <a:ext cx="9877425" cy="7359650"/>
          </a:xfrm>
          <a:prstGeom prst="rect">
            <a:avLst/>
          </a:prstGeom>
        </p:spPr>
      </p:pic>
    </p:spTree>
    <p:extLst>
      <p:ext uri="{BB962C8B-B14F-4D97-AF65-F5344CB8AC3E}">
        <p14:creationId xmlns:p14="http://schemas.microsoft.com/office/powerpoint/2010/main" val="2627576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1FAF8-CC6C-577A-1635-73BC2E029A57}"/>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B8D6E49D-30AD-654D-E412-2A1A7FAE78F5}"/>
              </a:ext>
            </a:extLst>
          </p:cNvPr>
          <p:cNvSpPr txBox="1"/>
          <p:nvPr/>
        </p:nvSpPr>
        <p:spPr>
          <a:xfrm>
            <a:off x="3457430" y="230061"/>
            <a:ext cx="7581656" cy="2277675"/>
          </a:xfrm>
          <a:prstGeom prst="rect">
            <a:avLst/>
          </a:prstGeom>
        </p:spPr>
        <p:txBody>
          <a:bodyPr wrap="square" lIns="0" tIns="0" rIns="0" bIns="0" rtlCol="0" anchor="t">
            <a:spAutoFit/>
          </a:bodyPr>
          <a:lstStyle/>
          <a:p>
            <a:pPr algn="ctr"/>
            <a:r>
              <a:rPr lang="en-US" sz="7500" b="1">
                <a:solidFill>
                  <a:srgbClr val="2E3A44"/>
                </a:solidFill>
                <a:latin typeface="Nirand Bold"/>
                <a:cs typeface="Nirand Bold"/>
                <a:sym typeface="Nirand Bold"/>
              </a:rPr>
              <a:t>Team Velocity</a:t>
            </a:r>
            <a:endParaRPr lang="en-US" sz="7500">
              <a:solidFill>
                <a:srgbClr val="000000"/>
              </a:solidFill>
              <a:latin typeface="Nirand Bold"/>
              <a:cs typeface="Nirand Bold"/>
              <a:sym typeface="Nirand Bold"/>
            </a:endParaRPr>
          </a:p>
          <a:p>
            <a:pPr algn="ctr">
              <a:lnSpc>
                <a:spcPts val="10500"/>
              </a:lnSpc>
            </a:pPr>
            <a:endParaRPr lang="en-US" sz="3200" b="1">
              <a:solidFill>
                <a:srgbClr val="2E3A44"/>
              </a:solidFill>
              <a:latin typeface="Nirand Bold"/>
              <a:cs typeface="Nirand Bold"/>
            </a:endParaRPr>
          </a:p>
        </p:txBody>
      </p:sp>
      <p:pic>
        <p:nvPicPr>
          <p:cNvPr id="15" name="Picture 14" descr="A blue and orange squares&#10;&#10;AI-generated content may be incorrect.">
            <a:extLst>
              <a:ext uri="{FF2B5EF4-FFF2-40B4-BE49-F238E27FC236}">
                <a16:creationId xmlns:a16="http://schemas.microsoft.com/office/drawing/2014/main" id="{E0956E2E-8ED4-2A2D-3EF9-16EC7560D23D}"/>
              </a:ext>
            </a:extLst>
          </p:cNvPr>
          <p:cNvPicPr>
            <a:picLocks noChangeAspect="1"/>
          </p:cNvPicPr>
          <p:nvPr/>
        </p:nvPicPr>
        <p:blipFill>
          <a:blip r:embed="rId2"/>
          <a:stretch>
            <a:fillRect/>
          </a:stretch>
        </p:blipFill>
        <p:spPr>
          <a:xfrm>
            <a:off x="-189498" y="5146158"/>
            <a:ext cx="6859178" cy="4982173"/>
          </a:xfrm>
          <a:prstGeom prst="rect">
            <a:avLst/>
          </a:prstGeom>
        </p:spPr>
      </p:pic>
      <p:sp>
        <p:nvSpPr>
          <p:cNvPr id="17" name="TextBox 12">
            <a:extLst>
              <a:ext uri="{FF2B5EF4-FFF2-40B4-BE49-F238E27FC236}">
                <a16:creationId xmlns:a16="http://schemas.microsoft.com/office/drawing/2014/main" id="{0E0D98E8-034A-ABE1-4A46-F789C6C9A056}"/>
              </a:ext>
            </a:extLst>
          </p:cNvPr>
          <p:cNvSpPr txBox="1"/>
          <p:nvPr/>
        </p:nvSpPr>
        <p:spPr>
          <a:xfrm>
            <a:off x="-4511" y="1697213"/>
            <a:ext cx="6273224" cy="2954655"/>
          </a:xfrm>
          <a:prstGeom prst="rect">
            <a:avLst/>
          </a:prstGeom>
        </p:spPr>
        <p:txBody>
          <a:bodyPr wrap="square" lIns="0" tIns="0" rIns="0" bIns="0" rtlCol="0" anchor="t">
            <a:spAutoFit/>
          </a:bodyPr>
          <a:lstStyle/>
          <a:p>
            <a:pPr marL="280035" lvl="1"/>
            <a:r>
              <a:rPr lang="en-US" sz="4800">
                <a:solidFill>
                  <a:srgbClr val="2E3A44"/>
                </a:solidFill>
                <a:latin typeface="Nunito"/>
                <a:ea typeface="Calibri"/>
                <a:cs typeface="Nirand Bold"/>
              </a:rPr>
              <a:t>Historical ratios:</a:t>
            </a:r>
          </a:p>
          <a:p>
            <a:pPr marL="1194435" lvl="1" indent="-914400">
              <a:buFont typeface="Arial"/>
              <a:buChar char="•"/>
            </a:pPr>
            <a:r>
              <a:rPr lang="en-US" sz="4800">
                <a:solidFill>
                  <a:srgbClr val="2E3A44"/>
                </a:solidFill>
                <a:latin typeface="Nunito"/>
                <a:ea typeface="Calibri"/>
                <a:cs typeface="Nirand Bold"/>
              </a:rPr>
              <a:t>Sprint 1: 70.73%</a:t>
            </a:r>
          </a:p>
          <a:p>
            <a:pPr marL="1194435" lvl="1" indent="-914400">
              <a:buFont typeface="Arial"/>
              <a:buChar char="•"/>
            </a:pPr>
            <a:r>
              <a:rPr lang="en-US" sz="4800">
                <a:solidFill>
                  <a:srgbClr val="2E3A44"/>
                </a:solidFill>
                <a:latin typeface="Nunito"/>
                <a:ea typeface="Calibri"/>
                <a:cs typeface="Nirand Bold"/>
              </a:rPr>
              <a:t>Sprint 2: 77.78%</a:t>
            </a:r>
          </a:p>
          <a:p>
            <a:pPr marL="1194435" lvl="1" indent="-914400">
              <a:buFont typeface="Arial"/>
              <a:buChar char="•"/>
            </a:pPr>
            <a:r>
              <a:rPr lang="en-US" sz="4800">
                <a:solidFill>
                  <a:srgbClr val="2E3A44"/>
                </a:solidFill>
                <a:latin typeface="Nunito"/>
                <a:ea typeface="Calibri"/>
                <a:cs typeface="Nirand Bold"/>
              </a:rPr>
              <a:t>Sprint 3: 85%</a:t>
            </a:r>
          </a:p>
        </p:txBody>
      </p:sp>
      <p:pic>
        <p:nvPicPr>
          <p:cNvPr id="14" name="Picture 13" descr="A blue and orange squares&#10;&#10;AI-generated content may be incorrect.">
            <a:extLst>
              <a:ext uri="{FF2B5EF4-FFF2-40B4-BE49-F238E27FC236}">
                <a16:creationId xmlns:a16="http://schemas.microsoft.com/office/drawing/2014/main" id="{9E2DDE74-31CB-7EFC-2703-A4A6D79F4AC2}"/>
              </a:ext>
            </a:extLst>
          </p:cNvPr>
          <p:cNvPicPr>
            <a:picLocks noChangeAspect="1"/>
          </p:cNvPicPr>
          <p:nvPr/>
        </p:nvPicPr>
        <p:blipFill>
          <a:blip r:embed="rId3"/>
          <a:stretch>
            <a:fillRect/>
          </a:stretch>
        </p:blipFill>
        <p:spPr>
          <a:xfrm>
            <a:off x="6266031" y="5370761"/>
            <a:ext cx="6320758" cy="4685633"/>
          </a:xfrm>
          <a:prstGeom prst="rect">
            <a:avLst/>
          </a:prstGeom>
        </p:spPr>
      </p:pic>
      <p:sp>
        <p:nvSpPr>
          <p:cNvPr id="23" name="TextBox 12">
            <a:extLst>
              <a:ext uri="{FF2B5EF4-FFF2-40B4-BE49-F238E27FC236}">
                <a16:creationId xmlns:a16="http://schemas.microsoft.com/office/drawing/2014/main" id="{689A73C1-3A12-108E-CD11-EBEAD2B841A6}"/>
              </a:ext>
            </a:extLst>
          </p:cNvPr>
          <p:cNvSpPr txBox="1"/>
          <p:nvPr/>
        </p:nvSpPr>
        <p:spPr>
          <a:xfrm>
            <a:off x="6675522" y="1699720"/>
            <a:ext cx="5521249" cy="2954655"/>
          </a:xfrm>
          <a:prstGeom prst="rect">
            <a:avLst/>
          </a:prstGeom>
        </p:spPr>
        <p:txBody>
          <a:bodyPr wrap="square" lIns="0" tIns="0" rIns="0" bIns="0" rtlCol="0" anchor="t">
            <a:spAutoFit/>
          </a:bodyPr>
          <a:lstStyle/>
          <a:p>
            <a:pPr marL="280035" lvl="1"/>
            <a:r>
              <a:rPr lang="en-US" sz="4800">
                <a:solidFill>
                  <a:srgbClr val="2E3A44"/>
                </a:solidFill>
                <a:latin typeface="Nunito"/>
                <a:ea typeface="Calibri"/>
                <a:cs typeface="Nirand Bold"/>
              </a:rPr>
              <a:t>Improvement: </a:t>
            </a:r>
          </a:p>
          <a:p>
            <a:pPr marL="965835" lvl="1" indent="-685800">
              <a:buFont typeface="Arial"/>
              <a:buChar char="•"/>
            </a:pPr>
            <a:r>
              <a:rPr lang="en-US" sz="4800">
                <a:solidFill>
                  <a:srgbClr val="2E3A44"/>
                </a:solidFill>
                <a:latin typeface="Nunito"/>
                <a:ea typeface="Calibri"/>
                <a:cs typeface="Nirand Bold"/>
              </a:rPr>
              <a:t>+7.05%, 7.22%</a:t>
            </a:r>
          </a:p>
          <a:p>
            <a:pPr marL="280035" lvl="1"/>
            <a:r>
              <a:rPr lang="en-US" sz="4800">
                <a:solidFill>
                  <a:srgbClr val="2E3A44"/>
                </a:solidFill>
                <a:latin typeface="Nunito"/>
                <a:ea typeface="Calibri"/>
                <a:cs typeface="Nirand Bold"/>
              </a:rPr>
              <a:t>Average ratio: </a:t>
            </a:r>
            <a:endParaRPr lang="en-US">
              <a:solidFill>
                <a:srgbClr val="000000"/>
              </a:solidFill>
              <a:latin typeface="Corbel" panose="020B0503020204020204"/>
              <a:ea typeface="Calibri"/>
              <a:cs typeface="Nirand Bold"/>
            </a:endParaRPr>
          </a:p>
          <a:p>
            <a:pPr marL="965835" lvl="1" indent="-685800">
              <a:buFont typeface="Arial"/>
              <a:buChar char="•"/>
            </a:pPr>
            <a:r>
              <a:rPr lang="en-US" sz="4800">
                <a:solidFill>
                  <a:srgbClr val="2E3A44"/>
                </a:solidFill>
                <a:latin typeface="Nunito"/>
                <a:ea typeface="Calibri"/>
                <a:cs typeface="Nirand Bold"/>
              </a:rPr>
              <a:t>77.84%</a:t>
            </a:r>
            <a:endParaRPr lang="en-US"/>
          </a:p>
        </p:txBody>
      </p:sp>
      <p:pic>
        <p:nvPicPr>
          <p:cNvPr id="3" name="Picture 2" descr="A colorful pie chart and a pie chart&#10;&#10;AI-generated content may be incorrect.">
            <a:extLst>
              <a:ext uri="{FF2B5EF4-FFF2-40B4-BE49-F238E27FC236}">
                <a16:creationId xmlns:a16="http://schemas.microsoft.com/office/drawing/2014/main" id="{9F49A26D-4DAE-0538-379C-E4DAB6B2C1E4}"/>
              </a:ext>
            </a:extLst>
          </p:cNvPr>
          <p:cNvPicPr>
            <a:picLocks noChangeAspect="1"/>
          </p:cNvPicPr>
          <p:nvPr/>
        </p:nvPicPr>
        <p:blipFill>
          <a:blip r:embed="rId4"/>
          <a:stretch>
            <a:fillRect/>
          </a:stretch>
        </p:blipFill>
        <p:spPr>
          <a:xfrm>
            <a:off x="12568410" y="674782"/>
            <a:ext cx="5278916" cy="2957341"/>
          </a:xfrm>
          <a:prstGeom prst="rect">
            <a:avLst/>
          </a:prstGeom>
        </p:spPr>
      </p:pic>
      <p:pic>
        <p:nvPicPr>
          <p:cNvPr id="4" name="Picture 3" descr="A blue and orange squares&#10;&#10;AI-generated content may be incorrect.">
            <a:extLst>
              <a:ext uri="{FF2B5EF4-FFF2-40B4-BE49-F238E27FC236}">
                <a16:creationId xmlns:a16="http://schemas.microsoft.com/office/drawing/2014/main" id="{C68BC1E3-2389-C995-00D9-E5C3E51ED4DF}"/>
              </a:ext>
            </a:extLst>
          </p:cNvPr>
          <p:cNvPicPr>
            <a:picLocks noChangeAspect="1"/>
          </p:cNvPicPr>
          <p:nvPr/>
        </p:nvPicPr>
        <p:blipFill>
          <a:blip r:embed="rId5"/>
          <a:stretch>
            <a:fillRect/>
          </a:stretch>
        </p:blipFill>
        <p:spPr>
          <a:xfrm>
            <a:off x="12182475" y="5368925"/>
            <a:ext cx="6099175" cy="4502150"/>
          </a:xfrm>
          <a:prstGeom prst="rect">
            <a:avLst/>
          </a:prstGeom>
        </p:spPr>
      </p:pic>
    </p:spTree>
    <p:extLst>
      <p:ext uri="{BB962C8B-B14F-4D97-AF65-F5344CB8AC3E}">
        <p14:creationId xmlns:p14="http://schemas.microsoft.com/office/powerpoint/2010/main" val="26389171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876F5-E0B8-853C-6ECD-513B83954F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BA288E3-F6A5-867B-597A-D01D11922B18}"/>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59D9CA3E-4B99-53C7-7B91-9BA65514212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6B719453-113B-76B9-4E5B-0DD5B96A4414}"/>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DA152EE-7036-65C8-E23B-1352A8E59392}"/>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C8D6E2FC-FEC0-6CD6-A018-CD18CCD89ED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24DC5056-7DF8-F362-CBBD-83DF9AC88F9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2B5C6AD5-0D95-34F2-998D-B1EDCF9810C3}"/>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462273D-2663-FF94-13D0-1EF5E837B37A}"/>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AA4EAE1B-30ED-9BAA-680F-72F535254E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AF2AA22B-D9EE-642A-D0AC-887572DE56FF}"/>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a:extLst>
              <a:ext uri="{FF2B5EF4-FFF2-40B4-BE49-F238E27FC236}">
                <a16:creationId xmlns:a16="http://schemas.microsoft.com/office/drawing/2014/main" id="{8A161F16-40BC-0BFF-D83A-465A9C45E3AE}"/>
              </a:ext>
            </a:extLst>
          </p:cNvPr>
          <p:cNvSpPr txBox="1"/>
          <p:nvPr/>
        </p:nvSpPr>
        <p:spPr>
          <a:xfrm>
            <a:off x="-6350" y="394770"/>
            <a:ext cx="18286419"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Sprint 3 Burndown Chart</a:t>
            </a:r>
            <a:endParaRPr lang="en-US" sz="7500" b="1">
              <a:solidFill>
                <a:srgbClr val="2E3A44"/>
              </a:solidFill>
              <a:latin typeface="Nirand Bold"/>
              <a:cs typeface="Nirand Bold"/>
            </a:endParaRPr>
          </a:p>
        </p:txBody>
      </p:sp>
      <p:pic>
        <p:nvPicPr>
          <p:cNvPr id="14" name="Picture 13" descr="A graph with a line&#10;&#10;AI-generated content may be incorrect.">
            <a:extLst>
              <a:ext uri="{FF2B5EF4-FFF2-40B4-BE49-F238E27FC236}">
                <a16:creationId xmlns:a16="http://schemas.microsoft.com/office/drawing/2014/main" id="{79AEFB3B-6277-C72C-AE09-36CCD5CD68CE}"/>
              </a:ext>
            </a:extLst>
          </p:cNvPr>
          <p:cNvPicPr>
            <a:picLocks noChangeAspect="1"/>
          </p:cNvPicPr>
          <p:nvPr/>
        </p:nvPicPr>
        <p:blipFill>
          <a:blip r:embed="rId3"/>
          <a:stretch>
            <a:fillRect/>
          </a:stretch>
        </p:blipFill>
        <p:spPr>
          <a:xfrm>
            <a:off x="919799" y="1980278"/>
            <a:ext cx="16448402" cy="687476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017412445"/>
      </p:ext>
    </p:extLst>
  </p:cSld>
  <p:clrMapOvr>
    <a:masterClrMapping/>
  </p:clrMapOvr>
  <p:extLst>
    <p:ext uri="{6950BFC3-D8DA-4A85-94F7-54DA5524770B}">
      <p188:commentRel xmlns:p188="http://schemas.microsoft.com/office/powerpoint/2018/8/main" r:id="rId2"/>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9F12D-D8ED-2C62-DDC3-1D489963E9A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D3289B-902E-1FCE-9E59-AA0C1FD86D04}"/>
              </a:ext>
            </a:extLst>
          </p:cNvPr>
          <p:cNvGrpSpPr/>
          <p:nvPr/>
        </p:nvGrpSpPr>
        <p:grpSpPr>
          <a:xfrm>
            <a:off x="15245196" y="-1345627"/>
            <a:ext cx="3517329" cy="3517329"/>
            <a:chOff x="0" y="0"/>
            <a:chExt cx="812800" cy="812800"/>
          </a:xfrm>
        </p:grpSpPr>
        <p:sp>
          <p:nvSpPr>
            <p:cNvPr id="3" name="Freeform 3">
              <a:extLst>
                <a:ext uri="{FF2B5EF4-FFF2-40B4-BE49-F238E27FC236}">
                  <a16:creationId xmlns:a16="http://schemas.microsoft.com/office/drawing/2014/main" id="{0DC5AF26-381E-0446-55EF-DF770CC247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4" name="TextBox 4">
              <a:extLst>
                <a:ext uri="{FF2B5EF4-FFF2-40B4-BE49-F238E27FC236}">
                  <a16:creationId xmlns:a16="http://schemas.microsoft.com/office/drawing/2014/main" id="{38A0AC12-C665-06EF-CCC7-C07E242CE0E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8B63435E-3CE5-E394-1BFA-439D358E4C77}"/>
              </a:ext>
            </a:extLst>
          </p:cNvPr>
          <p:cNvGrpSpPr/>
          <p:nvPr/>
        </p:nvGrpSpPr>
        <p:grpSpPr>
          <a:xfrm>
            <a:off x="-942914" y="8972589"/>
            <a:ext cx="3942779" cy="3942779"/>
            <a:chOff x="0" y="0"/>
            <a:chExt cx="812800" cy="812800"/>
          </a:xfrm>
        </p:grpSpPr>
        <p:sp>
          <p:nvSpPr>
            <p:cNvPr id="6" name="Freeform 6">
              <a:extLst>
                <a:ext uri="{FF2B5EF4-FFF2-40B4-BE49-F238E27FC236}">
                  <a16:creationId xmlns:a16="http://schemas.microsoft.com/office/drawing/2014/main" id="{566384EA-997E-EF61-8D0E-C3861C3141A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7" name="TextBox 7">
              <a:extLst>
                <a:ext uri="{FF2B5EF4-FFF2-40B4-BE49-F238E27FC236}">
                  <a16:creationId xmlns:a16="http://schemas.microsoft.com/office/drawing/2014/main" id="{8E329D67-35AC-3C01-0B9D-D66050B70AE8}"/>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C44F15CF-E79E-F1A3-C16E-196FFE947177}"/>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74A6B780-100D-F6A8-A752-68EEB92B9460}"/>
              </a:ext>
            </a:extLst>
          </p:cNvPr>
          <p:cNvGrpSpPr/>
          <p:nvPr/>
        </p:nvGrpSpPr>
        <p:grpSpPr>
          <a:xfrm>
            <a:off x="17259300" y="3262131"/>
            <a:ext cx="1586288" cy="1586288"/>
            <a:chOff x="0" y="0"/>
            <a:chExt cx="812800" cy="812800"/>
          </a:xfrm>
        </p:grpSpPr>
        <p:sp>
          <p:nvSpPr>
            <p:cNvPr id="10" name="Freeform 10">
              <a:extLst>
                <a:ext uri="{FF2B5EF4-FFF2-40B4-BE49-F238E27FC236}">
                  <a16:creationId xmlns:a16="http://schemas.microsoft.com/office/drawing/2014/main" id="{18E37B3F-A968-3BF2-B48F-A2B8102DC2F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4F78513D-88BC-8116-1430-84794E00532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5" name="TextBox 13">
            <a:extLst>
              <a:ext uri="{FF2B5EF4-FFF2-40B4-BE49-F238E27FC236}">
                <a16:creationId xmlns:a16="http://schemas.microsoft.com/office/drawing/2014/main" id="{F6233B73-0361-D398-81C2-84038044973B}"/>
              </a:ext>
            </a:extLst>
          </p:cNvPr>
          <p:cNvSpPr txBox="1"/>
          <p:nvPr/>
        </p:nvSpPr>
        <p:spPr>
          <a:xfrm>
            <a:off x="4772025" y="394770"/>
            <a:ext cx="9491669"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cs typeface="Nirand Bold"/>
                <a:sym typeface="Nirand Bold"/>
              </a:rPr>
              <a:t>Retrospective</a:t>
            </a:r>
            <a:endParaRPr lang="en-US"/>
          </a:p>
        </p:txBody>
      </p:sp>
      <p:pic>
        <p:nvPicPr>
          <p:cNvPr id="12" name="Picture 11" descr="A screenshot of a computer screen&#10;&#10;AI-generated content may be incorrect.">
            <a:extLst>
              <a:ext uri="{FF2B5EF4-FFF2-40B4-BE49-F238E27FC236}">
                <a16:creationId xmlns:a16="http://schemas.microsoft.com/office/drawing/2014/main" id="{F49248FC-74D8-5F5B-EF9E-6BA04FEB5941}"/>
              </a:ext>
            </a:extLst>
          </p:cNvPr>
          <p:cNvPicPr>
            <a:picLocks noChangeAspect="1"/>
          </p:cNvPicPr>
          <p:nvPr/>
        </p:nvPicPr>
        <p:blipFill>
          <a:blip r:embed="rId3"/>
          <a:stretch>
            <a:fillRect/>
          </a:stretch>
        </p:blipFill>
        <p:spPr>
          <a:xfrm>
            <a:off x="548946" y="1674963"/>
            <a:ext cx="17168542" cy="7389961"/>
          </a:xfrm>
          <a:prstGeom prst="rect">
            <a:avLst/>
          </a:prstGeom>
        </p:spPr>
      </p:pic>
    </p:spTree>
    <p:extLst>
      <p:ext uri="{BB962C8B-B14F-4D97-AF65-F5344CB8AC3E}">
        <p14:creationId xmlns:p14="http://schemas.microsoft.com/office/powerpoint/2010/main" val="3189747617"/>
      </p:ext>
    </p:extLst>
  </p:cSld>
  <p:clrMapOvr>
    <a:masterClrMapping/>
  </p:clrMapOvr>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57005-4E32-104C-12B3-47E78C15061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6B9BEB3-86F7-04B4-32B1-2F36C0BDEC99}"/>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B1FD6111-97B6-2F18-D001-F7D33E97DB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A220B852-00B0-69CE-0450-91708AAA0683}"/>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1D9D1432-FB1B-1455-5698-1856F34C5E8E}"/>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AE8C11E8-8095-7C08-D322-C4534D3407A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7EB30FF5-B8E3-81DD-83D7-56E9228436C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3F0E0039-B4B5-363E-E7A3-1FB96E88085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83FBA84F-92BA-63A7-969F-0E382F40BC0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0604E60D-F855-6309-AE0D-CBF33A96E3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30F5F87-F4A3-5164-9054-E75FEEF484B0}"/>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CABA0C91-EC00-FD2D-B18C-86A85B33D206}"/>
              </a:ext>
            </a:extLst>
          </p:cNvPr>
          <p:cNvSpPr txBox="1"/>
          <p:nvPr/>
        </p:nvSpPr>
        <p:spPr>
          <a:xfrm>
            <a:off x="4800600" y="3852873"/>
            <a:ext cx="7581656" cy="468141"/>
          </a:xfrm>
          <a:prstGeom prst="rect">
            <a:avLst/>
          </a:prstGeom>
        </p:spPr>
        <p:txBody>
          <a:bodyPr wrap="square" lIns="0" tIns="0" rIns="0" bIns="0" rtlCol="0" anchor="t">
            <a:spAutoFit/>
          </a:bodyPr>
          <a:lstStyle/>
          <a:p>
            <a:pPr marL="280035" lvl="1">
              <a:lnSpc>
                <a:spcPts val="3640"/>
              </a:lnSpc>
            </a:pPr>
            <a:endParaRPr lang="en-US" sz="3600">
              <a:solidFill>
                <a:srgbClr val="2E3A44"/>
              </a:solidFill>
              <a:ea typeface="Calibri"/>
              <a:cs typeface="Calibri"/>
            </a:endParaRPr>
          </a:p>
        </p:txBody>
      </p:sp>
      <p:sp>
        <p:nvSpPr>
          <p:cNvPr id="13" name="TextBox 13">
            <a:extLst>
              <a:ext uri="{FF2B5EF4-FFF2-40B4-BE49-F238E27FC236}">
                <a16:creationId xmlns:a16="http://schemas.microsoft.com/office/drawing/2014/main" id="{2FEAFFF7-E9CF-A3AE-6BBC-1D0781B94D7A}"/>
              </a:ext>
            </a:extLst>
          </p:cNvPr>
          <p:cNvSpPr txBox="1"/>
          <p:nvPr/>
        </p:nvSpPr>
        <p:spPr>
          <a:xfrm>
            <a:off x="4576512" y="3744"/>
            <a:ext cx="7581656" cy="1178528"/>
          </a:xfrm>
          <a:prstGeom prst="rect">
            <a:avLst/>
          </a:prstGeom>
        </p:spPr>
        <p:txBody>
          <a:bodyPr wrap="square" lIns="0" tIns="0" rIns="0" bIns="0" rtlCol="0" anchor="t">
            <a:spAutoFit/>
          </a:bodyPr>
          <a:lstStyle/>
          <a:p>
            <a:pPr algn="ctr">
              <a:lnSpc>
                <a:spcPts val="10500"/>
              </a:lnSpc>
            </a:pPr>
            <a:r>
              <a:rPr lang="en-US" sz="4800" b="1">
                <a:solidFill>
                  <a:srgbClr val="2E3A44"/>
                </a:solidFill>
                <a:latin typeface="Nirand Bold"/>
                <a:cs typeface="Nirand Bold"/>
                <a:sym typeface="Nirand Bold"/>
              </a:rPr>
              <a:t>Project Demo</a:t>
            </a:r>
            <a:endParaRPr lang="en-US" sz="4800"/>
          </a:p>
        </p:txBody>
      </p:sp>
      <p:pic>
        <p:nvPicPr>
          <p:cNvPr id="14" name="Picture 13" descr="A screen shot of a game&#10;&#10;AI-generated content may be incorrect.">
            <a:extLst>
              <a:ext uri="{FF2B5EF4-FFF2-40B4-BE49-F238E27FC236}">
                <a16:creationId xmlns:a16="http://schemas.microsoft.com/office/drawing/2014/main" id="{4D693338-74A2-D0A6-809F-8885374DEFD0}"/>
              </a:ext>
            </a:extLst>
          </p:cNvPr>
          <p:cNvPicPr>
            <a:picLocks noChangeAspect="1"/>
          </p:cNvPicPr>
          <p:nvPr/>
        </p:nvPicPr>
        <p:blipFill>
          <a:blip r:embed="rId2"/>
          <a:stretch>
            <a:fillRect/>
          </a:stretch>
        </p:blipFill>
        <p:spPr>
          <a:xfrm>
            <a:off x="3526172" y="1508293"/>
            <a:ext cx="9223710" cy="5146508"/>
          </a:xfrm>
          <a:prstGeom prst="rect">
            <a:avLst/>
          </a:prstGeom>
        </p:spPr>
      </p:pic>
      <p:sp>
        <p:nvSpPr>
          <p:cNvPr id="17" name="TextBox 16">
            <a:extLst>
              <a:ext uri="{FF2B5EF4-FFF2-40B4-BE49-F238E27FC236}">
                <a16:creationId xmlns:a16="http://schemas.microsoft.com/office/drawing/2014/main" id="{7D8B315D-2087-A37C-F166-9FF1653CA216}"/>
              </a:ext>
            </a:extLst>
          </p:cNvPr>
          <p:cNvSpPr txBox="1"/>
          <p:nvPr/>
        </p:nvSpPr>
        <p:spPr>
          <a:xfrm>
            <a:off x="5143499" y="7233986"/>
            <a:ext cx="942975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a:hlinkClick r:id="rId3"/>
              </a:rPr>
              <a:t>Adaptive Arena Demo</a:t>
            </a:r>
            <a:endParaRPr lang="en-US" sz="4800"/>
          </a:p>
        </p:txBody>
      </p:sp>
    </p:spTree>
    <p:extLst>
      <p:ext uri="{BB962C8B-B14F-4D97-AF65-F5344CB8AC3E}">
        <p14:creationId xmlns:p14="http://schemas.microsoft.com/office/powerpoint/2010/main" val="12631754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AE95A-226E-B770-CC8A-4E8316FC60C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E0635AF-CA9B-255E-266F-D2071DE285AD}"/>
              </a:ext>
            </a:extLst>
          </p:cNvPr>
          <p:cNvGrpSpPr/>
          <p:nvPr/>
        </p:nvGrpSpPr>
        <p:grpSpPr>
          <a:xfrm>
            <a:off x="15442612" y="394769"/>
            <a:ext cx="6880459" cy="6880459"/>
            <a:chOff x="0" y="0"/>
            <a:chExt cx="812800" cy="812800"/>
          </a:xfrm>
        </p:grpSpPr>
        <p:sp>
          <p:nvSpPr>
            <p:cNvPr id="3" name="Freeform 3">
              <a:extLst>
                <a:ext uri="{FF2B5EF4-FFF2-40B4-BE49-F238E27FC236}">
                  <a16:creationId xmlns:a16="http://schemas.microsoft.com/office/drawing/2014/main" id="{755F8879-3970-B2FF-067D-59064BF4286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0D1DF"/>
            </a:solidFill>
          </p:spPr>
          <p:txBody>
            <a:bodyPr/>
            <a:lstStyle/>
            <a:p>
              <a:endParaRPr lang="en-US"/>
            </a:p>
          </p:txBody>
        </p:sp>
        <p:sp>
          <p:nvSpPr>
            <p:cNvPr id="4" name="TextBox 4">
              <a:extLst>
                <a:ext uri="{FF2B5EF4-FFF2-40B4-BE49-F238E27FC236}">
                  <a16:creationId xmlns:a16="http://schemas.microsoft.com/office/drawing/2014/main" id="{83ED1578-BB6C-A171-6CBF-FEDC91B0F62C}"/>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5327B27F-7AE2-40D6-4935-C6B336C6E533}"/>
              </a:ext>
            </a:extLst>
          </p:cNvPr>
          <p:cNvGrpSpPr/>
          <p:nvPr/>
        </p:nvGrpSpPr>
        <p:grpSpPr>
          <a:xfrm>
            <a:off x="-1523108" y="2540483"/>
            <a:ext cx="3517329" cy="3517329"/>
            <a:chOff x="0" y="0"/>
            <a:chExt cx="812800" cy="812800"/>
          </a:xfrm>
        </p:grpSpPr>
        <p:sp>
          <p:nvSpPr>
            <p:cNvPr id="6" name="Freeform 6">
              <a:extLst>
                <a:ext uri="{FF2B5EF4-FFF2-40B4-BE49-F238E27FC236}">
                  <a16:creationId xmlns:a16="http://schemas.microsoft.com/office/drawing/2014/main" id="{DB191AAA-38FC-EB36-448E-18E260B07E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7" name="TextBox 7">
              <a:extLst>
                <a:ext uri="{FF2B5EF4-FFF2-40B4-BE49-F238E27FC236}">
                  <a16:creationId xmlns:a16="http://schemas.microsoft.com/office/drawing/2014/main" id="{ED3AED12-2C99-15F4-F26A-4A22CAE27027}"/>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8" name="AutoShape 8">
            <a:extLst>
              <a:ext uri="{FF2B5EF4-FFF2-40B4-BE49-F238E27FC236}">
                <a16:creationId xmlns:a16="http://schemas.microsoft.com/office/drawing/2014/main" id="{713A23CE-D7B2-8478-D109-F5DB96CBC590}"/>
              </a:ext>
            </a:extLst>
          </p:cNvPr>
          <p:cNvSpPr/>
          <p:nvPr/>
        </p:nvSpPr>
        <p:spPr>
          <a:xfrm>
            <a:off x="1028700" y="9258300"/>
            <a:ext cx="16185445" cy="0"/>
          </a:xfrm>
          <a:prstGeom prst="line">
            <a:avLst/>
          </a:prstGeom>
          <a:ln w="38100" cap="flat">
            <a:solidFill>
              <a:srgbClr val="2E3A44"/>
            </a:solidFill>
            <a:prstDash val="solid"/>
            <a:headEnd type="oval" w="lg" len="lg"/>
            <a:tailEnd type="oval" w="lg" len="lg"/>
          </a:ln>
        </p:spPr>
        <p:txBody>
          <a:bodyPr/>
          <a:lstStyle/>
          <a:p>
            <a:endParaRPr lang="en-US"/>
          </a:p>
        </p:txBody>
      </p:sp>
      <p:grpSp>
        <p:nvGrpSpPr>
          <p:cNvPr id="9" name="Group 9">
            <a:extLst>
              <a:ext uri="{FF2B5EF4-FFF2-40B4-BE49-F238E27FC236}">
                <a16:creationId xmlns:a16="http://schemas.microsoft.com/office/drawing/2014/main" id="{B21EC5A7-18AA-B1BA-DA54-8A85CBA3107F}"/>
              </a:ext>
            </a:extLst>
          </p:cNvPr>
          <p:cNvGrpSpPr/>
          <p:nvPr/>
        </p:nvGrpSpPr>
        <p:grpSpPr>
          <a:xfrm>
            <a:off x="-557588" y="7275227"/>
            <a:ext cx="1586288" cy="1586288"/>
            <a:chOff x="0" y="0"/>
            <a:chExt cx="812800" cy="812800"/>
          </a:xfrm>
        </p:grpSpPr>
        <p:sp>
          <p:nvSpPr>
            <p:cNvPr id="10" name="Freeform 10">
              <a:extLst>
                <a:ext uri="{FF2B5EF4-FFF2-40B4-BE49-F238E27FC236}">
                  <a16:creationId xmlns:a16="http://schemas.microsoft.com/office/drawing/2014/main" id="{92313833-8864-266E-8739-79B00FBB440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1" name="TextBox 11">
              <a:extLst>
                <a:ext uri="{FF2B5EF4-FFF2-40B4-BE49-F238E27FC236}">
                  <a16:creationId xmlns:a16="http://schemas.microsoft.com/office/drawing/2014/main" id="{2BBB6874-E485-1B03-39DA-A27F9F24B0EB}"/>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85D5A169-8B33-3A46-25A6-044126F19592}"/>
              </a:ext>
            </a:extLst>
          </p:cNvPr>
          <p:cNvSpPr txBox="1"/>
          <p:nvPr/>
        </p:nvSpPr>
        <p:spPr>
          <a:xfrm>
            <a:off x="2641600" y="4678373"/>
            <a:ext cx="12931531" cy="468141"/>
          </a:xfrm>
          <a:prstGeom prst="rect">
            <a:avLst/>
          </a:prstGeom>
        </p:spPr>
        <p:txBody>
          <a:bodyPr wrap="square" lIns="0" tIns="0" rIns="0" bIns="0" rtlCol="0" anchor="t">
            <a:spAutoFit/>
          </a:bodyPr>
          <a:lstStyle/>
          <a:p>
            <a:pPr marL="280035" lvl="1">
              <a:lnSpc>
                <a:spcPts val="3640"/>
              </a:lnSpc>
            </a:pPr>
            <a:r>
              <a:rPr lang="en-US" sz="3600">
                <a:solidFill>
                  <a:srgbClr val="2E3A44"/>
                </a:solidFill>
                <a:latin typeface="Corbel"/>
                <a:ea typeface="+mn-lt"/>
                <a:cs typeface="+mn-lt"/>
                <a:sym typeface="Nunito"/>
                <a:hlinkClick r:id="rId2"/>
              </a:rPr>
              <a:t>https://github.com/htmw/20</a:t>
            </a:r>
            <a:r>
              <a:rPr lang="en-US" sz="3600">
                <a:solidFill>
                  <a:srgbClr val="2E3A44"/>
                </a:solidFill>
                <a:ea typeface="+mn-lt"/>
                <a:cs typeface="+mn-lt"/>
                <a:sym typeface="Nunito"/>
                <a:hlinkClick r:id="rId2"/>
              </a:rPr>
              <a:t>26SA-QuestKeeper/wiki</a:t>
            </a:r>
            <a:endParaRPr lang="en-US" sz="3600"/>
          </a:p>
        </p:txBody>
      </p:sp>
      <p:sp>
        <p:nvSpPr>
          <p:cNvPr id="13" name="TextBox 13">
            <a:extLst>
              <a:ext uri="{FF2B5EF4-FFF2-40B4-BE49-F238E27FC236}">
                <a16:creationId xmlns:a16="http://schemas.microsoft.com/office/drawing/2014/main" id="{EEE573D3-0AA8-CBB3-051B-1025C33B85C1}"/>
              </a:ext>
            </a:extLst>
          </p:cNvPr>
          <p:cNvSpPr txBox="1"/>
          <p:nvPr/>
        </p:nvSpPr>
        <p:spPr>
          <a:xfrm>
            <a:off x="4772025" y="394770"/>
            <a:ext cx="7581656" cy="1276247"/>
          </a:xfrm>
          <a:prstGeom prst="rect">
            <a:avLst/>
          </a:prstGeom>
        </p:spPr>
        <p:txBody>
          <a:bodyPr wrap="square" lIns="0" tIns="0" rIns="0" bIns="0" rtlCol="0" anchor="t">
            <a:spAutoFit/>
          </a:bodyPr>
          <a:lstStyle/>
          <a:p>
            <a:pPr algn="ctr">
              <a:lnSpc>
                <a:spcPts val="10500"/>
              </a:lnSpc>
            </a:pPr>
            <a:r>
              <a:rPr lang="en-US" sz="7500" b="1">
                <a:solidFill>
                  <a:srgbClr val="2E3A44"/>
                </a:solidFill>
                <a:latin typeface="Nirand Bold"/>
                <a:ea typeface="Nirand Bold"/>
                <a:cs typeface="Nirand Bold"/>
                <a:sym typeface="Nirand Bold"/>
              </a:rPr>
              <a:t>Wiki Page Link</a:t>
            </a:r>
          </a:p>
        </p:txBody>
      </p:sp>
    </p:spTree>
    <p:extLst>
      <p:ext uri="{BB962C8B-B14F-4D97-AF65-F5344CB8AC3E}">
        <p14:creationId xmlns:p14="http://schemas.microsoft.com/office/powerpoint/2010/main" val="12622654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C0D1DF"/>
        </a:solidFill>
        <a:effectLst/>
      </p:bgPr>
    </p:bg>
    <p:spTree>
      <p:nvGrpSpPr>
        <p:cNvPr id="1" name=""/>
        <p:cNvGrpSpPr/>
        <p:nvPr/>
      </p:nvGrpSpPr>
      <p:grpSpPr>
        <a:xfrm>
          <a:off x="0" y="0"/>
          <a:ext cx="0" cy="0"/>
          <a:chOff x="0" y="0"/>
          <a:chExt cx="0" cy="0"/>
        </a:xfrm>
      </p:grpSpPr>
      <p:grpSp>
        <p:nvGrpSpPr>
          <p:cNvPr id="2" name="Group 2"/>
          <p:cNvGrpSpPr/>
          <p:nvPr/>
        </p:nvGrpSpPr>
        <p:grpSpPr>
          <a:xfrm>
            <a:off x="831966" y="-2876710"/>
            <a:ext cx="16040420" cy="1604042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5211910" y="2963671"/>
            <a:ext cx="7864183" cy="4149534"/>
          </a:xfrm>
          <a:prstGeom prst="rect">
            <a:avLst/>
          </a:prstGeom>
        </p:spPr>
        <p:txBody>
          <a:bodyPr lIns="0" tIns="0" rIns="0" bIns="0" rtlCol="0" anchor="t">
            <a:spAutoFit/>
          </a:bodyPr>
          <a:lstStyle/>
          <a:p>
            <a:pPr algn="ctr">
              <a:lnSpc>
                <a:spcPts val="15810"/>
              </a:lnSpc>
            </a:pPr>
            <a:r>
              <a:rPr lang="en-US" sz="17000" b="1">
                <a:solidFill>
                  <a:srgbClr val="627484"/>
                </a:solidFill>
                <a:latin typeface="Nirand Bold"/>
                <a:ea typeface="Nirand Bold"/>
                <a:cs typeface="Nirand Bold"/>
                <a:sym typeface="Nirand Bold"/>
              </a:rPr>
              <a:t>Thank You</a:t>
            </a:r>
          </a:p>
        </p:txBody>
      </p:sp>
      <p:grpSp>
        <p:nvGrpSpPr>
          <p:cNvPr id="6" name="Group 6"/>
          <p:cNvGrpSpPr/>
          <p:nvPr/>
        </p:nvGrpSpPr>
        <p:grpSpPr>
          <a:xfrm>
            <a:off x="13076093" y="710994"/>
            <a:ext cx="2513081" cy="251308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AutoShape 9"/>
          <p:cNvSpPr/>
          <p:nvPr/>
        </p:nvSpPr>
        <p:spPr>
          <a:xfrm>
            <a:off x="-1700579" y="1028700"/>
            <a:ext cx="7733905" cy="0"/>
          </a:xfrm>
          <a:prstGeom prst="line">
            <a:avLst/>
          </a:prstGeom>
          <a:ln w="38100" cap="flat">
            <a:solidFill>
              <a:srgbClr val="2E3A44"/>
            </a:solidFill>
            <a:prstDash val="solid"/>
            <a:headEnd type="none" w="sm" len="sm"/>
            <a:tailEnd type="oval" w="lg" len="lg"/>
          </a:ln>
        </p:spPr>
        <p:txBody>
          <a:bodyPr/>
          <a:lstStyle/>
          <a:p>
            <a:endParaRPr lang="en-US"/>
          </a:p>
        </p:txBody>
      </p:sp>
      <p:sp>
        <p:nvSpPr>
          <p:cNvPr id="10" name="AutoShape 10"/>
          <p:cNvSpPr/>
          <p:nvPr/>
        </p:nvSpPr>
        <p:spPr>
          <a:xfrm>
            <a:off x="11230885" y="9258300"/>
            <a:ext cx="7770392" cy="0"/>
          </a:xfrm>
          <a:prstGeom prst="line">
            <a:avLst/>
          </a:prstGeom>
          <a:ln w="38100" cap="flat">
            <a:solidFill>
              <a:srgbClr val="2E3A44"/>
            </a:solidFill>
            <a:prstDash val="solid"/>
            <a:headEnd type="oval" w="lg" len="lg"/>
            <a:tailEnd type="none" w="sm" len="sm"/>
          </a:ln>
        </p:spPr>
        <p:txBody>
          <a:bodyPr/>
          <a:lstStyle/>
          <a:p>
            <a:endParaRPr lang="en-US"/>
          </a:p>
        </p:txBody>
      </p:sp>
      <p:grpSp>
        <p:nvGrpSpPr>
          <p:cNvPr id="11" name="Group 11"/>
          <p:cNvGrpSpPr/>
          <p:nvPr/>
        </p:nvGrpSpPr>
        <p:grpSpPr>
          <a:xfrm>
            <a:off x="2740932" y="6266276"/>
            <a:ext cx="1586288" cy="158628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484"/>
            </a:solidFill>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eae1d80-bd8d-40d2-9fb1-b18c90d8b9a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0170117DE246845A4A6B7ACECDF3DB7" ma:contentTypeVersion="11" ma:contentTypeDescription="Create a new document." ma:contentTypeScope="" ma:versionID="9cdd7ebf45ab9bf4ab7e31df69623dd5">
  <xsd:schema xmlns:xsd="http://www.w3.org/2001/XMLSchema" xmlns:xs="http://www.w3.org/2001/XMLSchema" xmlns:p="http://schemas.microsoft.com/office/2006/metadata/properties" xmlns:ns3="2eae1d80-bd8d-40d2-9fb1-b18c90d8b9a9" targetNamespace="http://schemas.microsoft.com/office/2006/metadata/properties" ma:root="true" ma:fieldsID="a7455dc5f920e96d06ac5a8fee8244e0" ns3:_="">
    <xsd:import namespace="2eae1d80-bd8d-40d2-9fb1-b18c90d8b9a9"/>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BillingMetadata"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ae1d80-bd8d-40d2-9fb1-b18c90d8b9a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BillingMetadata" ma:index="14" nillable="true" ma:displayName="MediaServiceBillingMetadata" ma:hidden="true" ma:internalName="MediaServiceBillingMetadata" ma:readOnly="true">
      <xsd:simpleType>
        <xsd:restriction base="dms:Note"/>
      </xsd:simpleType>
    </xsd:element>
    <xsd:element name="MediaServiceSystemTags" ma:index="15" nillable="true" ma:displayName="MediaServiceSystemTags" ma:hidden="true" ma:internalName="MediaServiceSystemTags" ma:readOnly="true">
      <xsd:simpleType>
        <xsd:restriction base="dms:Note"/>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D603732-5149-45ED-99CE-46E0828AFF44}">
  <ds:schemaRefs>
    <ds:schemaRef ds:uri="2eae1d80-bd8d-40d2-9fb1-b18c90d8b9a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FF0F213-162D-400F-B9A7-1DF3355F32D8}">
  <ds:schemaRefs>
    <ds:schemaRef ds:uri="2eae1d80-bd8d-40d2-9fb1-b18c90d8b9a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FE0760-8DB4-4884-BDD2-C642F801A89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Droplet</Template>
  <Application>Microsoft Office PowerPoint</Application>
  <PresentationFormat>Custom</PresentationFormat>
  <Slides>46</Slides>
  <Notes>0</Notes>
  <HiddenSlides>0</HiddenSlide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Frame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Sequence Diagram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Blue Minimalist Geometric Group Project Presentation</dc:title>
  <dc:creator>Shariah Allen</dc:creator>
  <cp:revision>2</cp:revision>
  <dcterms:created xsi:type="dcterms:W3CDTF">2006-08-16T00:00:00Z</dcterms:created>
  <dcterms:modified xsi:type="dcterms:W3CDTF">2026-05-10T05:22:36Z</dcterms:modified>
  <dc:identifier>DAHBW0Xhq6E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0x01010080170117DE246845A4A6B7ACECDF3DB7</vt:lpwstr>
  </property>
</Properties>
</file>